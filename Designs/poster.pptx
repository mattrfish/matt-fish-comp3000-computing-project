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30275213" cy="21383625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F3333"/>
    <a:srgbClr val="06B6D4"/>
    <a:srgbClr val="134E4A"/>
    <a:srgbClr val="F59E0B"/>
    <a:srgbClr val="DC2626"/>
    <a:srgbClr val="1E293B"/>
    <a:srgbClr val="000000"/>
    <a:srgbClr val="0A11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34" d="100"/>
          <a:sy n="34" d="100"/>
        </p:scale>
        <p:origin x="165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3499590"/>
            <a:ext cx="25733931" cy="7444669"/>
          </a:xfrm>
        </p:spPr>
        <p:txBody>
          <a:bodyPr anchor="b"/>
          <a:lstStyle>
            <a:lvl1pPr algn="ctr">
              <a:defRPr sz="1870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11231355"/>
            <a:ext cx="22706410" cy="5162758"/>
          </a:xfrm>
        </p:spPr>
        <p:txBody>
          <a:bodyPr/>
          <a:lstStyle>
            <a:lvl1pPr marL="0" indent="0" algn="ctr">
              <a:buNone/>
              <a:defRPr sz="7483"/>
            </a:lvl1pPr>
            <a:lvl2pPr marL="1425595" indent="0" algn="ctr">
              <a:buNone/>
              <a:defRPr sz="6236"/>
            </a:lvl2pPr>
            <a:lvl3pPr marL="2851191" indent="0" algn="ctr">
              <a:buNone/>
              <a:defRPr sz="5613"/>
            </a:lvl3pPr>
            <a:lvl4pPr marL="4276786" indent="0" algn="ctr">
              <a:buNone/>
              <a:defRPr sz="4989"/>
            </a:lvl4pPr>
            <a:lvl5pPr marL="5702381" indent="0" algn="ctr">
              <a:buNone/>
              <a:defRPr sz="4989"/>
            </a:lvl5pPr>
            <a:lvl6pPr marL="7127977" indent="0" algn="ctr">
              <a:buNone/>
              <a:defRPr sz="4989"/>
            </a:lvl6pPr>
            <a:lvl7pPr marL="8553572" indent="0" algn="ctr">
              <a:buNone/>
              <a:defRPr sz="4989"/>
            </a:lvl7pPr>
            <a:lvl8pPr marL="9979167" indent="0" algn="ctr">
              <a:buNone/>
              <a:defRPr sz="4989"/>
            </a:lvl8pPr>
            <a:lvl9pPr marL="11404763" indent="0" algn="ctr">
              <a:buNone/>
              <a:defRPr sz="498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37988-853F-4A76-B621-D8C2E532EA24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C2163-2C8B-44C6-BA3B-D50A7E76E1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2979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37988-853F-4A76-B621-D8C2E532EA24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C2163-2C8B-44C6-BA3B-D50A7E76E1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1379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5331063"/>
            <a:ext cx="26112371" cy="8894992"/>
          </a:xfrm>
        </p:spPr>
        <p:txBody>
          <a:bodyPr anchor="b"/>
          <a:lstStyle>
            <a:lvl1pPr>
              <a:defRPr sz="1870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14310205"/>
            <a:ext cx="26112371" cy="4677666"/>
          </a:xfrm>
        </p:spPr>
        <p:txBody>
          <a:bodyPr/>
          <a:lstStyle>
            <a:lvl1pPr marL="0" indent="0">
              <a:buNone/>
              <a:defRPr sz="7483">
                <a:solidFill>
                  <a:schemeClr val="tx1">
                    <a:tint val="82000"/>
                  </a:schemeClr>
                </a:solidFill>
              </a:defRPr>
            </a:lvl1pPr>
            <a:lvl2pPr marL="1425595" indent="0">
              <a:buNone/>
              <a:defRPr sz="6236">
                <a:solidFill>
                  <a:schemeClr val="tx1">
                    <a:tint val="82000"/>
                  </a:schemeClr>
                </a:solidFill>
              </a:defRPr>
            </a:lvl2pPr>
            <a:lvl3pPr marL="2851191" indent="0">
              <a:buNone/>
              <a:defRPr sz="5613">
                <a:solidFill>
                  <a:schemeClr val="tx1">
                    <a:tint val="82000"/>
                  </a:schemeClr>
                </a:solidFill>
              </a:defRPr>
            </a:lvl3pPr>
            <a:lvl4pPr marL="4276786" indent="0">
              <a:buNone/>
              <a:defRPr sz="4989">
                <a:solidFill>
                  <a:schemeClr val="tx1">
                    <a:tint val="82000"/>
                  </a:schemeClr>
                </a:solidFill>
              </a:defRPr>
            </a:lvl4pPr>
            <a:lvl5pPr marL="5702381" indent="0">
              <a:buNone/>
              <a:defRPr sz="4989">
                <a:solidFill>
                  <a:schemeClr val="tx1">
                    <a:tint val="82000"/>
                  </a:schemeClr>
                </a:solidFill>
              </a:defRPr>
            </a:lvl5pPr>
            <a:lvl6pPr marL="7127977" indent="0">
              <a:buNone/>
              <a:defRPr sz="4989">
                <a:solidFill>
                  <a:schemeClr val="tx1">
                    <a:tint val="82000"/>
                  </a:schemeClr>
                </a:solidFill>
              </a:defRPr>
            </a:lvl6pPr>
            <a:lvl7pPr marL="8553572" indent="0">
              <a:buNone/>
              <a:defRPr sz="4989">
                <a:solidFill>
                  <a:schemeClr val="tx1">
                    <a:tint val="82000"/>
                  </a:schemeClr>
                </a:solidFill>
              </a:defRPr>
            </a:lvl7pPr>
            <a:lvl8pPr marL="9979167" indent="0">
              <a:buNone/>
              <a:defRPr sz="4989">
                <a:solidFill>
                  <a:schemeClr val="tx1">
                    <a:tint val="82000"/>
                  </a:schemeClr>
                </a:solidFill>
              </a:defRPr>
            </a:lvl8pPr>
            <a:lvl9pPr marL="11404763" indent="0">
              <a:buNone/>
              <a:defRPr sz="4989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37988-853F-4A76-B621-D8C2E532EA24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C2163-2C8B-44C6-BA3B-D50A7E76E1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9709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5692400"/>
            <a:ext cx="12866966" cy="13567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5692400"/>
            <a:ext cx="12866966" cy="13567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37988-853F-4A76-B621-D8C2E532EA24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C2163-2C8B-44C6-BA3B-D50A7E76E1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7743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1138485"/>
            <a:ext cx="26112371" cy="41331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5241960"/>
            <a:ext cx="12807832" cy="2569003"/>
          </a:xfrm>
        </p:spPr>
        <p:txBody>
          <a:bodyPr anchor="b"/>
          <a:lstStyle>
            <a:lvl1pPr marL="0" indent="0">
              <a:buNone/>
              <a:defRPr sz="7483" b="1"/>
            </a:lvl1pPr>
            <a:lvl2pPr marL="1425595" indent="0">
              <a:buNone/>
              <a:defRPr sz="6236" b="1"/>
            </a:lvl2pPr>
            <a:lvl3pPr marL="2851191" indent="0">
              <a:buNone/>
              <a:defRPr sz="5613" b="1"/>
            </a:lvl3pPr>
            <a:lvl4pPr marL="4276786" indent="0">
              <a:buNone/>
              <a:defRPr sz="4989" b="1"/>
            </a:lvl4pPr>
            <a:lvl5pPr marL="5702381" indent="0">
              <a:buNone/>
              <a:defRPr sz="4989" b="1"/>
            </a:lvl5pPr>
            <a:lvl6pPr marL="7127977" indent="0">
              <a:buNone/>
              <a:defRPr sz="4989" b="1"/>
            </a:lvl6pPr>
            <a:lvl7pPr marL="8553572" indent="0">
              <a:buNone/>
              <a:defRPr sz="4989" b="1"/>
            </a:lvl7pPr>
            <a:lvl8pPr marL="9979167" indent="0">
              <a:buNone/>
              <a:defRPr sz="4989" b="1"/>
            </a:lvl8pPr>
            <a:lvl9pPr marL="11404763" indent="0">
              <a:buNone/>
              <a:defRPr sz="498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7810963"/>
            <a:ext cx="12807832" cy="11488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5241960"/>
            <a:ext cx="12870909" cy="2569003"/>
          </a:xfrm>
        </p:spPr>
        <p:txBody>
          <a:bodyPr anchor="b"/>
          <a:lstStyle>
            <a:lvl1pPr marL="0" indent="0">
              <a:buNone/>
              <a:defRPr sz="7483" b="1"/>
            </a:lvl1pPr>
            <a:lvl2pPr marL="1425595" indent="0">
              <a:buNone/>
              <a:defRPr sz="6236" b="1"/>
            </a:lvl2pPr>
            <a:lvl3pPr marL="2851191" indent="0">
              <a:buNone/>
              <a:defRPr sz="5613" b="1"/>
            </a:lvl3pPr>
            <a:lvl4pPr marL="4276786" indent="0">
              <a:buNone/>
              <a:defRPr sz="4989" b="1"/>
            </a:lvl4pPr>
            <a:lvl5pPr marL="5702381" indent="0">
              <a:buNone/>
              <a:defRPr sz="4989" b="1"/>
            </a:lvl5pPr>
            <a:lvl6pPr marL="7127977" indent="0">
              <a:buNone/>
              <a:defRPr sz="4989" b="1"/>
            </a:lvl6pPr>
            <a:lvl7pPr marL="8553572" indent="0">
              <a:buNone/>
              <a:defRPr sz="4989" b="1"/>
            </a:lvl7pPr>
            <a:lvl8pPr marL="9979167" indent="0">
              <a:buNone/>
              <a:defRPr sz="4989" b="1"/>
            </a:lvl8pPr>
            <a:lvl9pPr marL="11404763" indent="0">
              <a:buNone/>
              <a:defRPr sz="498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7810963"/>
            <a:ext cx="12870909" cy="11488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37988-853F-4A76-B621-D8C2E532EA24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C2163-2C8B-44C6-BA3B-D50A7E76E1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4924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37988-853F-4A76-B621-D8C2E532EA24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C2163-2C8B-44C6-BA3B-D50A7E76E1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2857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37988-853F-4A76-B621-D8C2E532EA24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C2163-2C8B-44C6-BA3B-D50A7E76E1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1404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1425575"/>
            <a:ext cx="9764544" cy="4989513"/>
          </a:xfrm>
        </p:spPr>
        <p:txBody>
          <a:bodyPr anchor="b"/>
          <a:lstStyle>
            <a:lvl1pPr>
              <a:defRPr sz="997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09" y="3078850"/>
            <a:ext cx="15326827" cy="15196234"/>
          </a:xfrm>
        </p:spPr>
        <p:txBody>
          <a:bodyPr/>
          <a:lstStyle>
            <a:lvl1pPr>
              <a:defRPr sz="9978"/>
            </a:lvl1pPr>
            <a:lvl2pPr>
              <a:defRPr sz="8731"/>
            </a:lvl2pPr>
            <a:lvl3pPr>
              <a:defRPr sz="7483"/>
            </a:lvl3pPr>
            <a:lvl4pPr>
              <a:defRPr sz="6236"/>
            </a:lvl4pPr>
            <a:lvl5pPr>
              <a:defRPr sz="6236"/>
            </a:lvl5pPr>
            <a:lvl6pPr>
              <a:defRPr sz="6236"/>
            </a:lvl6pPr>
            <a:lvl7pPr>
              <a:defRPr sz="6236"/>
            </a:lvl7pPr>
            <a:lvl8pPr>
              <a:defRPr sz="6236"/>
            </a:lvl8pPr>
            <a:lvl9pPr>
              <a:defRPr sz="623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6415088"/>
            <a:ext cx="9764544" cy="11884743"/>
          </a:xfrm>
        </p:spPr>
        <p:txBody>
          <a:bodyPr/>
          <a:lstStyle>
            <a:lvl1pPr marL="0" indent="0">
              <a:buNone/>
              <a:defRPr sz="4989"/>
            </a:lvl1pPr>
            <a:lvl2pPr marL="1425595" indent="0">
              <a:buNone/>
              <a:defRPr sz="4365"/>
            </a:lvl2pPr>
            <a:lvl3pPr marL="2851191" indent="0">
              <a:buNone/>
              <a:defRPr sz="3742"/>
            </a:lvl3pPr>
            <a:lvl4pPr marL="4276786" indent="0">
              <a:buNone/>
              <a:defRPr sz="3118"/>
            </a:lvl4pPr>
            <a:lvl5pPr marL="5702381" indent="0">
              <a:buNone/>
              <a:defRPr sz="3118"/>
            </a:lvl5pPr>
            <a:lvl6pPr marL="7127977" indent="0">
              <a:buNone/>
              <a:defRPr sz="3118"/>
            </a:lvl6pPr>
            <a:lvl7pPr marL="8553572" indent="0">
              <a:buNone/>
              <a:defRPr sz="3118"/>
            </a:lvl7pPr>
            <a:lvl8pPr marL="9979167" indent="0">
              <a:buNone/>
              <a:defRPr sz="3118"/>
            </a:lvl8pPr>
            <a:lvl9pPr marL="11404763" indent="0">
              <a:buNone/>
              <a:defRPr sz="311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37988-853F-4A76-B621-D8C2E532EA24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C2163-2C8B-44C6-BA3B-D50A7E76E1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0987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1425575"/>
            <a:ext cx="9764544" cy="4989513"/>
          </a:xfrm>
        </p:spPr>
        <p:txBody>
          <a:bodyPr anchor="b"/>
          <a:lstStyle>
            <a:lvl1pPr>
              <a:defRPr sz="997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09" y="3078850"/>
            <a:ext cx="15326827" cy="15196234"/>
          </a:xfrm>
        </p:spPr>
        <p:txBody>
          <a:bodyPr anchor="t"/>
          <a:lstStyle>
            <a:lvl1pPr marL="0" indent="0">
              <a:buNone/>
              <a:defRPr sz="9978"/>
            </a:lvl1pPr>
            <a:lvl2pPr marL="1425595" indent="0">
              <a:buNone/>
              <a:defRPr sz="8731"/>
            </a:lvl2pPr>
            <a:lvl3pPr marL="2851191" indent="0">
              <a:buNone/>
              <a:defRPr sz="7483"/>
            </a:lvl3pPr>
            <a:lvl4pPr marL="4276786" indent="0">
              <a:buNone/>
              <a:defRPr sz="6236"/>
            </a:lvl4pPr>
            <a:lvl5pPr marL="5702381" indent="0">
              <a:buNone/>
              <a:defRPr sz="6236"/>
            </a:lvl5pPr>
            <a:lvl6pPr marL="7127977" indent="0">
              <a:buNone/>
              <a:defRPr sz="6236"/>
            </a:lvl6pPr>
            <a:lvl7pPr marL="8553572" indent="0">
              <a:buNone/>
              <a:defRPr sz="6236"/>
            </a:lvl7pPr>
            <a:lvl8pPr marL="9979167" indent="0">
              <a:buNone/>
              <a:defRPr sz="6236"/>
            </a:lvl8pPr>
            <a:lvl9pPr marL="11404763" indent="0">
              <a:buNone/>
              <a:defRPr sz="623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6415088"/>
            <a:ext cx="9764544" cy="11884743"/>
          </a:xfrm>
        </p:spPr>
        <p:txBody>
          <a:bodyPr/>
          <a:lstStyle>
            <a:lvl1pPr marL="0" indent="0">
              <a:buNone/>
              <a:defRPr sz="4989"/>
            </a:lvl1pPr>
            <a:lvl2pPr marL="1425595" indent="0">
              <a:buNone/>
              <a:defRPr sz="4365"/>
            </a:lvl2pPr>
            <a:lvl3pPr marL="2851191" indent="0">
              <a:buNone/>
              <a:defRPr sz="3742"/>
            </a:lvl3pPr>
            <a:lvl4pPr marL="4276786" indent="0">
              <a:buNone/>
              <a:defRPr sz="3118"/>
            </a:lvl4pPr>
            <a:lvl5pPr marL="5702381" indent="0">
              <a:buNone/>
              <a:defRPr sz="3118"/>
            </a:lvl5pPr>
            <a:lvl6pPr marL="7127977" indent="0">
              <a:buNone/>
              <a:defRPr sz="3118"/>
            </a:lvl6pPr>
            <a:lvl7pPr marL="8553572" indent="0">
              <a:buNone/>
              <a:defRPr sz="3118"/>
            </a:lvl7pPr>
            <a:lvl8pPr marL="9979167" indent="0">
              <a:buNone/>
              <a:defRPr sz="3118"/>
            </a:lvl8pPr>
            <a:lvl9pPr marL="11404763" indent="0">
              <a:buNone/>
              <a:defRPr sz="311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37988-853F-4A76-B621-D8C2E532EA24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C2163-2C8B-44C6-BA3B-D50A7E76E1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9866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37988-853F-4A76-B621-D8C2E532EA24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C2163-2C8B-44C6-BA3B-D50A7E76E1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0183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1" y="1138480"/>
            <a:ext cx="6528093" cy="1812163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1138480"/>
            <a:ext cx="19205838" cy="181216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37988-853F-4A76-B621-D8C2E532EA24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C2163-2C8B-44C6-BA3B-D50A7E76E1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418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1138485"/>
            <a:ext cx="26112371" cy="41331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5692400"/>
            <a:ext cx="26112371" cy="13567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19819457"/>
            <a:ext cx="6811923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74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737988-853F-4A76-B621-D8C2E532EA24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19819457"/>
            <a:ext cx="1021788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74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19819457"/>
            <a:ext cx="6811923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74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5C2163-2C8B-44C6-BA3B-D50A7E76E1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8420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851191" rtl="0" eaLnBrk="1" latinLnBrk="0" hangingPunct="1">
        <a:lnSpc>
          <a:spcPct val="90000"/>
        </a:lnSpc>
        <a:spcBef>
          <a:spcPct val="0"/>
        </a:spcBef>
        <a:buNone/>
        <a:defRPr sz="137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12798" indent="-712798" algn="l" defTabSz="2851191" rtl="0" eaLnBrk="1" latinLnBrk="0" hangingPunct="1">
        <a:lnSpc>
          <a:spcPct val="90000"/>
        </a:lnSpc>
        <a:spcBef>
          <a:spcPts val="3118"/>
        </a:spcBef>
        <a:buFont typeface="Arial" panose="020B0604020202020204" pitchFamily="34" charset="0"/>
        <a:buChar char="•"/>
        <a:defRPr sz="8731" kern="1200">
          <a:solidFill>
            <a:schemeClr val="tx1"/>
          </a:solidFill>
          <a:latin typeface="+mn-lt"/>
          <a:ea typeface="+mn-ea"/>
          <a:cs typeface="+mn-cs"/>
        </a:defRPr>
      </a:lvl1pPr>
      <a:lvl2pPr marL="2138393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7483" kern="1200">
          <a:solidFill>
            <a:schemeClr val="tx1"/>
          </a:solidFill>
          <a:latin typeface="+mn-lt"/>
          <a:ea typeface="+mn-ea"/>
          <a:cs typeface="+mn-cs"/>
        </a:defRPr>
      </a:lvl2pPr>
      <a:lvl3pPr marL="3563988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6236" kern="1200">
          <a:solidFill>
            <a:schemeClr val="tx1"/>
          </a:solidFill>
          <a:latin typeface="+mn-lt"/>
          <a:ea typeface="+mn-ea"/>
          <a:cs typeface="+mn-cs"/>
        </a:defRPr>
      </a:lvl3pPr>
      <a:lvl4pPr marL="4989584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4pPr>
      <a:lvl5pPr marL="6415179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5pPr>
      <a:lvl6pPr marL="7840774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6pPr>
      <a:lvl7pPr marL="9266370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7pPr>
      <a:lvl8pPr marL="10691965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8pPr>
      <a:lvl9pPr marL="12117560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1pPr>
      <a:lvl2pPr marL="1425595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2pPr>
      <a:lvl3pPr marL="2851191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3pPr>
      <a:lvl4pPr marL="4276786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4pPr>
      <a:lvl5pPr marL="5702381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5pPr>
      <a:lvl6pPr marL="7127977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6pPr>
      <a:lvl7pPr marL="8553572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7pPr>
      <a:lvl8pPr marL="9979167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8pPr>
      <a:lvl9pPr marL="11404763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sv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5" Type="http://schemas.openxmlformats.org/officeDocument/2006/relationships/image" Target="../media/image24.svg"/><Relationship Id="rId33" Type="http://schemas.openxmlformats.org/officeDocument/2006/relationships/image" Target="../media/image32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svg"/><Relationship Id="rId30" Type="http://schemas.openxmlformats.org/officeDocument/2006/relationships/image" Target="../media/image29.pn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A1128"/>
            </a:gs>
            <a:gs pos="100000">
              <a:srgbClr val="00000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A24F2EB-9EE3-E00D-D84D-2D5B5FC76C74}"/>
              </a:ext>
            </a:extLst>
          </p:cNvPr>
          <p:cNvSpPr/>
          <p:nvPr/>
        </p:nvSpPr>
        <p:spPr>
          <a:xfrm>
            <a:off x="-1" y="11007"/>
            <a:ext cx="30275213" cy="2770182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glow rad="25400">
              <a:schemeClr val="tx2">
                <a:lumMod val="50000"/>
                <a:lumOff val="50000"/>
              </a:schemeClr>
            </a:glow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596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glow rad="76200">
                    <a:schemeClr val="tx2">
                      <a:lumMod val="50000"/>
                      <a:lumOff val="50000"/>
                      <a:alpha val="40000"/>
                    </a:schemeClr>
                  </a:glow>
                </a:effectLst>
                <a:latin typeface="Arial Nova" panose="020B0504020202020204" pitchFamily="34" charset="0"/>
              </a:rPr>
              <a:t>S.I.R.A</a:t>
            </a:r>
            <a:r>
              <a:rPr lang="en-GB" sz="5960" b="1" dirty="0">
                <a:solidFill>
                  <a:srgbClr val="FFFFFF"/>
                </a:solidFill>
                <a:effectLst>
                  <a:glow rad="76200">
                    <a:schemeClr val="tx2">
                      <a:lumMod val="50000"/>
                      <a:lumOff val="50000"/>
                      <a:alpha val="40000"/>
                    </a:schemeClr>
                  </a:glow>
                </a:effectLst>
                <a:latin typeface="Arial Nova" panose="020B0504020202020204" pitchFamily="34" charset="0"/>
              </a:rPr>
              <a:t>: AN AI-POWERED DASHBOARD TRANSLATING COMPLEX CYBER THREATS INTO CLEAR ACTION PLANS FOR SMALL AND MEDIUM ENTERPRISES (SMEs)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912FC0-214C-6E34-1112-53982FA404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0501325" y="3070099"/>
            <a:ext cx="8939531" cy="16027292"/>
          </a:xfrm>
          <a:prstGeom prst="rect">
            <a:avLst/>
          </a:prstGeom>
          <a:solidFill>
            <a:srgbClr val="1E293B"/>
          </a:solidFill>
          <a:effectLst>
            <a:glow rad="25400">
              <a:srgbClr val="F59E0B"/>
            </a:glow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120" b="1" dirty="0">
              <a:latin typeface="Arial Nova" panose="020B05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D056DB-8BE3-C130-0BA7-7D7E008A542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667841" y="3070099"/>
            <a:ext cx="8939531" cy="16027292"/>
          </a:xfrm>
          <a:prstGeom prst="rect">
            <a:avLst/>
          </a:prstGeom>
          <a:solidFill>
            <a:srgbClr val="1E293B"/>
          </a:solidFill>
          <a:effectLst>
            <a:glow rad="25400">
              <a:srgbClr val="134E4A"/>
            </a:glow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12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3A2A9E-B9BB-2FF3-3AD7-80C2B96874A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45044" y="3070099"/>
            <a:ext cx="8939531" cy="16027292"/>
          </a:xfrm>
          <a:prstGeom prst="rect">
            <a:avLst/>
          </a:prstGeom>
          <a:solidFill>
            <a:srgbClr val="1E293B"/>
          </a:solidFill>
          <a:effectLst>
            <a:glow rad="25400">
              <a:srgbClr val="06B6D4"/>
            </a:glow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12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7BF67C-2D61-6844-32A5-006E24AB4B6F}"/>
              </a:ext>
            </a:extLst>
          </p:cNvPr>
          <p:cNvSpPr txBox="1"/>
          <p:nvPr/>
        </p:nvSpPr>
        <p:spPr>
          <a:xfrm>
            <a:off x="652647" y="3182104"/>
            <a:ext cx="8939531" cy="1754326"/>
          </a:xfrm>
          <a:prstGeom prst="rect">
            <a:avLst/>
          </a:prstGeom>
          <a:noFill/>
          <a:effectLst>
            <a:glow rad="25400">
              <a:schemeClr val="tx1"/>
            </a:glo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GB" sz="5400" b="1" dirty="0">
                <a:solidFill>
                  <a:schemeClr val="bg1"/>
                </a:solidFill>
                <a:latin typeface="Arial Nova" panose="020B0504020202020204" pitchFamily="34" charset="0"/>
              </a:rPr>
              <a:t>BACKGROUND &amp; PROBLEM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5F59FE-8125-65A0-8736-88D41CC107F5}"/>
              </a:ext>
            </a:extLst>
          </p:cNvPr>
          <p:cNvSpPr txBox="1"/>
          <p:nvPr/>
        </p:nvSpPr>
        <p:spPr>
          <a:xfrm>
            <a:off x="1080748" y="7141558"/>
            <a:ext cx="826154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09562" indent="-709562">
              <a:buFont typeface="Arial" panose="020B0604020202020204" pitchFamily="34" charset="0"/>
              <a:buChar char="•"/>
            </a:pPr>
            <a:r>
              <a:rPr lang="en-GB" sz="4800" b="1" dirty="0">
                <a:solidFill>
                  <a:srgbClr val="FF3333"/>
                </a:solidFill>
                <a:latin typeface="Aptos Display" panose="020B0004020202020204" pitchFamily="34" charset="0"/>
              </a:rPr>
              <a:t>59% </a:t>
            </a:r>
            <a:r>
              <a:rPr lang="en-GB" sz="4800" dirty="0">
                <a:solidFill>
                  <a:srgbClr val="FF3333"/>
                </a:solidFill>
                <a:latin typeface="Aptos Display" panose="020B0004020202020204" pitchFamily="34" charset="0"/>
              </a:rPr>
              <a:t>of SMEs experienced </a:t>
            </a:r>
            <a:r>
              <a:rPr lang="en-GB" sz="4800" b="1" dirty="0">
                <a:solidFill>
                  <a:srgbClr val="FF3333"/>
                </a:solidFill>
                <a:latin typeface="Aptos Display" panose="020B0004020202020204" pitchFamily="34" charset="0"/>
              </a:rPr>
              <a:t>a cyber-attack</a:t>
            </a:r>
            <a:r>
              <a:rPr lang="en-GB" sz="4800" dirty="0">
                <a:solidFill>
                  <a:srgbClr val="FF3333"/>
                </a:solidFill>
                <a:latin typeface="Aptos Display" panose="020B0004020202020204" pitchFamily="34" charset="0"/>
              </a:rPr>
              <a:t> in the last 12 months (HISCOX 2025).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D247DAC-D98A-B718-781E-58CBD1EB587E}"/>
              </a:ext>
            </a:extLst>
          </p:cNvPr>
          <p:cNvSpPr/>
          <p:nvPr/>
        </p:nvSpPr>
        <p:spPr>
          <a:xfrm>
            <a:off x="1364917" y="6868286"/>
            <a:ext cx="8261547" cy="1140567"/>
          </a:xfrm>
          <a:prstGeom prst="rect">
            <a:avLst/>
          </a:prstGeom>
          <a:noFill/>
          <a:effectLst>
            <a:glow rad="127000">
              <a:schemeClr val="bg2">
                <a:lumMod val="25000"/>
              </a:schemeClr>
            </a:glow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3476" dirty="0"/>
          </a:p>
        </p:txBody>
      </p:sp>
      <p:pic>
        <p:nvPicPr>
          <p:cNvPr id="12" name="Graphic 11" descr="Cycle with people with solid fill">
            <a:extLst>
              <a:ext uri="{FF2B5EF4-FFF2-40B4-BE49-F238E27FC236}">
                <a16:creationId xmlns:a16="http://schemas.microsoft.com/office/drawing/2014/main" id="{213FB24F-C5D1-01D3-66AF-140842F744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9376" y="5225340"/>
            <a:ext cx="1140567" cy="114056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80FF41A-14A1-A76F-5A77-39DA2D039B52}"/>
              </a:ext>
            </a:extLst>
          </p:cNvPr>
          <p:cNvSpPr txBox="1"/>
          <p:nvPr/>
        </p:nvSpPr>
        <p:spPr>
          <a:xfrm>
            <a:off x="1779153" y="5309003"/>
            <a:ext cx="783655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dirty="0">
                <a:solidFill>
                  <a:schemeClr val="bg1"/>
                </a:solidFill>
                <a:latin typeface="Arial Nova" panose="020B0504020202020204" pitchFamily="34" charset="0"/>
              </a:rPr>
              <a:t>SME Challenge: </a:t>
            </a:r>
            <a:r>
              <a:rPr lang="en-GB" sz="4800" dirty="0">
                <a:solidFill>
                  <a:schemeClr val="bg1"/>
                </a:solidFill>
                <a:latin typeface="Arial Nova" panose="020B0504020202020204" pitchFamily="34" charset="0"/>
              </a:rPr>
              <a:t>Limited Resources &amp; Expertise</a:t>
            </a:r>
          </a:p>
          <a:p>
            <a:endParaRPr lang="en-GB" sz="5400" dirty="0"/>
          </a:p>
        </p:txBody>
      </p:sp>
      <p:pic>
        <p:nvPicPr>
          <p:cNvPr id="16" name="Graphic 15" descr="Play with solid fill">
            <a:extLst>
              <a:ext uri="{FF2B5EF4-FFF2-40B4-BE49-F238E27FC236}">
                <a16:creationId xmlns:a16="http://schemas.microsoft.com/office/drawing/2014/main" id="{ECE9AB40-33D6-CE3E-1F67-42317BE325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8858" y="7111015"/>
            <a:ext cx="986739" cy="98674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81C4DD9-0251-E445-2E8C-17A582EBAF7C}"/>
              </a:ext>
            </a:extLst>
          </p:cNvPr>
          <p:cNvSpPr txBox="1"/>
          <p:nvPr/>
        </p:nvSpPr>
        <p:spPr>
          <a:xfrm>
            <a:off x="1092782" y="9471933"/>
            <a:ext cx="826154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09562" indent="-709562">
              <a:buFont typeface="Arial" panose="020B0604020202020204" pitchFamily="34" charset="0"/>
              <a:buChar char="•"/>
            </a:pPr>
            <a:r>
              <a:rPr lang="en-GB" sz="4800" dirty="0">
                <a:solidFill>
                  <a:schemeClr val="bg1"/>
                </a:solidFill>
                <a:latin typeface="Aptos Display" panose="020B0004020202020204" pitchFamily="34" charset="0"/>
              </a:rPr>
              <a:t>Lack of </a:t>
            </a:r>
            <a:r>
              <a:rPr lang="en-GB" sz="4800" b="1" dirty="0">
                <a:solidFill>
                  <a:schemeClr val="bg1"/>
                </a:solidFill>
                <a:latin typeface="Aptos Display" panose="020B0004020202020204" pitchFamily="34" charset="0"/>
              </a:rPr>
              <a:t>budget</a:t>
            </a:r>
            <a:r>
              <a:rPr lang="en-GB" sz="4800" dirty="0">
                <a:solidFill>
                  <a:schemeClr val="bg1"/>
                </a:solidFill>
                <a:latin typeface="Aptos Display" panose="020B0004020202020204" pitchFamily="34" charset="0"/>
              </a:rPr>
              <a:t>, </a:t>
            </a:r>
            <a:r>
              <a:rPr lang="en-GB" sz="4800" b="1" dirty="0">
                <a:solidFill>
                  <a:schemeClr val="bg1"/>
                </a:solidFill>
                <a:latin typeface="Aptos Display" panose="020B0004020202020204" pitchFamily="34" charset="0"/>
              </a:rPr>
              <a:t>awareness</a:t>
            </a:r>
            <a:r>
              <a:rPr lang="en-GB" sz="4800" dirty="0">
                <a:solidFill>
                  <a:schemeClr val="bg1"/>
                </a:solidFill>
                <a:latin typeface="Aptos Display" panose="020B0004020202020204" pitchFamily="34" charset="0"/>
              </a:rPr>
              <a:t>, and dedicated </a:t>
            </a:r>
            <a:r>
              <a:rPr lang="en-GB" sz="4800" b="1" dirty="0">
                <a:solidFill>
                  <a:schemeClr val="bg1"/>
                </a:solidFill>
                <a:latin typeface="Aptos Display" panose="020B0004020202020204" pitchFamily="34" charset="0"/>
              </a:rPr>
              <a:t>security staff.</a:t>
            </a:r>
          </a:p>
        </p:txBody>
      </p:sp>
      <p:pic>
        <p:nvPicPr>
          <p:cNvPr id="2" name="Graphic 1" descr="Play with solid fill">
            <a:extLst>
              <a:ext uri="{FF2B5EF4-FFF2-40B4-BE49-F238E27FC236}">
                <a16:creationId xmlns:a16="http://schemas.microsoft.com/office/drawing/2014/main" id="{9D8CACEC-522D-E311-F3D9-FB5A95B7AB8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29837" y="9425723"/>
            <a:ext cx="986739" cy="98674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2775070-EB34-470A-6CB3-E606DA804C99}"/>
              </a:ext>
            </a:extLst>
          </p:cNvPr>
          <p:cNvSpPr txBox="1"/>
          <p:nvPr/>
        </p:nvSpPr>
        <p:spPr>
          <a:xfrm>
            <a:off x="1001063" y="11231452"/>
            <a:ext cx="887783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09562" indent="-709562">
              <a:buFont typeface="Arial" panose="020B0604020202020204" pitchFamily="34" charset="0"/>
              <a:buChar char="•"/>
            </a:pPr>
            <a:r>
              <a:rPr lang="en-GB" sz="4800" dirty="0">
                <a:solidFill>
                  <a:schemeClr val="bg1"/>
                </a:solidFill>
                <a:latin typeface="Aptos Display" panose="020B0004020202020204" pitchFamily="34" charset="0"/>
              </a:rPr>
              <a:t>Technical alerts are </a:t>
            </a:r>
            <a:r>
              <a:rPr lang="en-GB" sz="4800" b="1" dirty="0">
                <a:solidFill>
                  <a:schemeClr val="bg1"/>
                </a:solidFill>
                <a:latin typeface="Aptos Display" panose="020B0004020202020204" pitchFamily="34" charset="0"/>
              </a:rPr>
              <a:t>complex &amp; difficult to interpret</a:t>
            </a:r>
            <a:r>
              <a:rPr lang="en-GB" sz="4800" dirty="0">
                <a:solidFill>
                  <a:schemeClr val="bg1"/>
                </a:solidFill>
                <a:latin typeface="Aptos Display" panose="020B0004020202020204" pitchFamily="34" charset="0"/>
              </a:rPr>
              <a:t>, leading to </a:t>
            </a:r>
            <a:r>
              <a:rPr lang="en-GB" sz="4800" b="1" dirty="0">
                <a:solidFill>
                  <a:schemeClr val="bg1"/>
                </a:solidFill>
                <a:latin typeface="Aptos Display" panose="020B0004020202020204" pitchFamily="34" charset="0"/>
              </a:rPr>
              <a:t>delayed responses.</a:t>
            </a:r>
          </a:p>
        </p:txBody>
      </p:sp>
      <p:pic>
        <p:nvPicPr>
          <p:cNvPr id="5" name="Graphic 4" descr="Play with solid fill">
            <a:extLst>
              <a:ext uri="{FF2B5EF4-FFF2-40B4-BE49-F238E27FC236}">
                <a16:creationId xmlns:a16="http://schemas.microsoft.com/office/drawing/2014/main" id="{1D641B74-D997-AC67-ED60-256254EF69D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0961" y="11194912"/>
            <a:ext cx="986739" cy="98674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5B16D7C-A7FE-C884-1AD6-C683117752E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5791" y="14113510"/>
            <a:ext cx="3847146" cy="3052025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EB7D333-0743-961E-39F0-A552D75DD50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43047" y="14392567"/>
            <a:ext cx="3847146" cy="3453977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B95D065-336E-93B9-99B9-941E79077EB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68526" y="14751221"/>
            <a:ext cx="4029803" cy="3453977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EBDB9E6-CD71-A160-FA37-1AFC2ADECAA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28523" y="15082325"/>
            <a:ext cx="4419195" cy="3453974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  <p:pic>
        <p:nvPicPr>
          <p:cNvPr id="25" name="Graphic 24" descr="Arrow Right with solid fill">
            <a:extLst>
              <a:ext uri="{FF2B5EF4-FFF2-40B4-BE49-F238E27FC236}">
                <a16:creationId xmlns:a16="http://schemas.microsoft.com/office/drawing/2014/main" id="{90D6765E-F16B-82F6-526F-F3386E7C14F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109441" y="16254446"/>
            <a:ext cx="1758308" cy="1758308"/>
          </a:xfrm>
          <a:prstGeom prst="rect">
            <a:avLst/>
          </a:prstGeom>
        </p:spPr>
      </p:pic>
      <p:pic>
        <p:nvPicPr>
          <p:cNvPr id="27" name="Graphic 26" descr="Office worker male outline">
            <a:extLst>
              <a:ext uri="{FF2B5EF4-FFF2-40B4-BE49-F238E27FC236}">
                <a16:creationId xmlns:a16="http://schemas.microsoft.com/office/drawing/2014/main" id="{2E1797DF-AD0B-7EB4-97AB-114DAA205C5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560470" y="14931193"/>
            <a:ext cx="3031708" cy="3031708"/>
          </a:xfrm>
          <a:prstGeom prst="rect">
            <a:avLst/>
          </a:prstGeom>
        </p:spPr>
      </p:pic>
      <p:pic>
        <p:nvPicPr>
          <p:cNvPr id="29" name="Graphic 28" descr="Question Mark with solid fill">
            <a:extLst>
              <a:ext uri="{FF2B5EF4-FFF2-40B4-BE49-F238E27FC236}">
                <a16:creationId xmlns:a16="http://schemas.microsoft.com/office/drawing/2014/main" id="{0AF25086-F73E-A96A-744F-6ADB6A559A5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643129">
            <a:off x="8370377" y="14878885"/>
            <a:ext cx="1342270" cy="134227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02E2F81D-65D3-5CB9-C125-62464BF64554}"/>
              </a:ext>
            </a:extLst>
          </p:cNvPr>
          <p:cNvSpPr txBox="1"/>
          <p:nvPr/>
        </p:nvSpPr>
        <p:spPr>
          <a:xfrm>
            <a:off x="6147391" y="17750190"/>
            <a:ext cx="353718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b="1" dirty="0">
                <a:solidFill>
                  <a:schemeClr val="bg1"/>
                </a:solidFill>
                <a:effectLst>
                  <a:glow rad="25400">
                    <a:schemeClr val="tx1"/>
                  </a:glow>
                </a:effectLst>
                <a:latin typeface="+mj-lt"/>
              </a:rPr>
              <a:t>Small business owner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02986AA-E30A-F9E4-2525-4ABAA37842DD}"/>
              </a:ext>
            </a:extLst>
          </p:cNvPr>
          <p:cNvSpPr txBox="1"/>
          <p:nvPr/>
        </p:nvSpPr>
        <p:spPr>
          <a:xfrm>
            <a:off x="10994588" y="3276218"/>
            <a:ext cx="837477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400" b="1" dirty="0">
                <a:solidFill>
                  <a:schemeClr val="bg1"/>
                </a:solidFill>
                <a:effectLst>
                  <a:glow rad="25400">
                    <a:schemeClr val="tx1"/>
                  </a:glow>
                </a:effectLst>
                <a:latin typeface="Arial Nova" panose="020B0504020202020204" pitchFamily="34" charset="0"/>
              </a:rPr>
              <a:t>METHODOLOGY &amp; SYSTEM ARCHITECTURE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86410400-1B5A-5563-4DF6-60CE684D345F}"/>
              </a:ext>
            </a:extLst>
          </p:cNvPr>
          <p:cNvSpPr/>
          <p:nvPr/>
        </p:nvSpPr>
        <p:spPr>
          <a:xfrm>
            <a:off x="10922074" y="5521090"/>
            <a:ext cx="4215533" cy="3465620"/>
          </a:xfrm>
          <a:prstGeom prst="roundRect">
            <a:avLst/>
          </a:prstGeom>
          <a:noFill/>
          <a:effectLst>
            <a:glow rad="25400">
              <a:schemeClr val="accent2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67652" indent="-567652" algn="ctr">
              <a:buAutoNum type="arabicPeriod"/>
            </a:pPr>
            <a:r>
              <a:rPr lang="en-GB" sz="2800" b="1" dirty="0">
                <a:effectLst>
                  <a:glow rad="25400">
                    <a:schemeClr val="tx1"/>
                  </a:glow>
                </a:effectLst>
                <a:latin typeface="Arial Nova" panose="020B0504020202020204" pitchFamily="34" charset="0"/>
              </a:rPr>
              <a:t>DATA INGESTION</a:t>
            </a:r>
          </a:p>
          <a:p>
            <a:pPr marL="567652" indent="-567652" algn="ctr">
              <a:buAutoNum type="arabicPeriod"/>
            </a:pPr>
            <a:endParaRPr lang="en-GB" sz="2800" b="1" dirty="0">
              <a:effectLst>
                <a:glow rad="25400">
                  <a:schemeClr val="tx1"/>
                </a:glow>
              </a:effectLst>
              <a:latin typeface="Arial Nova" panose="020B0504020202020204" pitchFamily="34" charset="0"/>
            </a:endParaRPr>
          </a:p>
          <a:p>
            <a:pPr marL="567652" indent="-567652" algn="ctr">
              <a:buAutoNum type="arabicPeriod"/>
            </a:pPr>
            <a:endParaRPr lang="en-GB" sz="2800" b="1" dirty="0">
              <a:effectLst>
                <a:glow rad="25400">
                  <a:schemeClr val="tx1"/>
                </a:glow>
              </a:effectLst>
              <a:latin typeface="Arial Nova" panose="020B0504020202020204" pitchFamily="34" charset="0"/>
            </a:endParaRPr>
          </a:p>
          <a:p>
            <a:pPr marL="567652" indent="-567652" algn="ctr">
              <a:buAutoNum type="arabicPeriod"/>
            </a:pPr>
            <a:endParaRPr lang="en-GB" sz="2800" b="1" dirty="0">
              <a:effectLst>
                <a:glow rad="25400">
                  <a:schemeClr val="tx1"/>
                </a:glow>
              </a:effectLst>
              <a:latin typeface="Arial Nova" panose="020B0504020202020204" pitchFamily="34" charset="0"/>
            </a:endParaRPr>
          </a:p>
          <a:p>
            <a:pPr algn="ctr"/>
            <a:endParaRPr lang="en-GB" sz="2800" dirty="0">
              <a:latin typeface="Arial Nova" panose="020B0504020202020204" pitchFamily="34" charset="0"/>
            </a:endParaRPr>
          </a:p>
          <a:p>
            <a:pPr algn="ctr"/>
            <a:endParaRPr lang="en-GB" sz="2800" dirty="0">
              <a:latin typeface="Arial Nova" panose="020B0504020202020204" pitchFamily="34" charset="0"/>
            </a:endParaRPr>
          </a:p>
          <a:p>
            <a:pPr algn="ctr"/>
            <a:endParaRPr lang="en-GB" sz="2800" dirty="0">
              <a:latin typeface="Arial Nova" panose="020B0504020202020204" pitchFamily="34" charset="0"/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321F4C0F-B158-47ED-1C61-F0EB3199583B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6313" y="5909500"/>
            <a:ext cx="2848747" cy="2133812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793F1EFE-D01D-D6BA-6ABD-C7D3ADC1D30B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7188" y="7240198"/>
            <a:ext cx="3971242" cy="1612787"/>
          </a:xfrm>
          <a:prstGeom prst="rect">
            <a:avLst/>
          </a:prstGeom>
        </p:spPr>
      </p:pic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6B675DDC-72CD-8A92-B56A-4B5A3C99E6C6}"/>
              </a:ext>
            </a:extLst>
          </p:cNvPr>
          <p:cNvSpPr/>
          <p:nvPr/>
        </p:nvSpPr>
        <p:spPr>
          <a:xfrm>
            <a:off x="15391839" y="5521091"/>
            <a:ext cx="3933155" cy="3465620"/>
          </a:xfrm>
          <a:prstGeom prst="roundRect">
            <a:avLst/>
          </a:prstGeom>
          <a:noFill/>
          <a:effectLst>
            <a:glow rad="25400">
              <a:schemeClr val="tx2">
                <a:lumMod val="25000"/>
                <a:lumOff val="75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b="1" dirty="0">
              <a:latin typeface="Arial Nova" panose="020B0504020202020204" pitchFamily="34" charset="0"/>
            </a:endParaRPr>
          </a:p>
          <a:p>
            <a:pPr algn="ctr"/>
            <a:r>
              <a:rPr lang="en-GB" sz="3200" b="1" dirty="0">
                <a:latin typeface="Arial Nova" panose="020B0504020202020204" pitchFamily="34" charset="0"/>
              </a:rPr>
              <a:t>2. PROCESSOR</a:t>
            </a:r>
          </a:p>
          <a:p>
            <a:pPr algn="ctr"/>
            <a:endParaRPr lang="en-GB" sz="3200" b="1" dirty="0">
              <a:latin typeface="Arial Nova" panose="020B0504020202020204" pitchFamily="34" charset="0"/>
            </a:endParaRPr>
          </a:p>
          <a:p>
            <a:pPr algn="ctr"/>
            <a:endParaRPr lang="en-GB" sz="3200" b="1" dirty="0">
              <a:latin typeface="Arial Nova" panose="020B0504020202020204" pitchFamily="34" charset="0"/>
            </a:endParaRPr>
          </a:p>
          <a:p>
            <a:pPr algn="ctr"/>
            <a:endParaRPr lang="en-GB" sz="3200" b="1" dirty="0">
              <a:latin typeface="Arial Nova" panose="020B0504020202020204" pitchFamily="34" charset="0"/>
            </a:endParaRPr>
          </a:p>
          <a:p>
            <a:pPr algn="ctr"/>
            <a:endParaRPr lang="en-GB" sz="3200" b="1" dirty="0">
              <a:latin typeface="Arial Nova" panose="020B0504020202020204" pitchFamily="34" charset="0"/>
            </a:endParaRPr>
          </a:p>
          <a:p>
            <a:pPr algn="ctr"/>
            <a:endParaRPr lang="en-GB" sz="3200" b="1" dirty="0">
              <a:latin typeface="Arial Nova" panose="020B0504020202020204" pitchFamily="34" charset="0"/>
            </a:endParaRPr>
          </a:p>
          <a:p>
            <a:pPr algn="ctr"/>
            <a:endParaRPr lang="en-GB" sz="3200" b="1" dirty="0">
              <a:latin typeface="Arial Nova" panose="020B0504020202020204" pitchFamily="34" charset="0"/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24BDD632-B22D-CF30-675E-EF80708E6323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4037" y="6389452"/>
            <a:ext cx="3453861" cy="1934162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C3546D48-985D-2B34-1644-A959D81FD988}"/>
              </a:ext>
            </a:extLst>
          </p:cNvPr>
          <p:cNvSpPr txBox="1"/>
          <p:nvPr/>
        </p:nvSpPr>
        <p:spPr>
          <a:xfrm>
            <a:off x="15577498" y="8395769"/>
            <a:ext cx="4328185" cy="493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607" dirty="0">
                <a:solidFill>
                  <a:schemeClr val="bg1"/>
                </a:solidFill>
                <a:latin typeface="+mj-lt"/>
              </a:rPr>
              <a:t>Log Sanitiser &amp; encryption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AAAEEAED-31CA-2FA4-A793-B1860C7C4302}"/>
              </a:ext>
            </a:extLst>
          </p:cNvPr>
          <p:cNvSpPr/>
          <p:nvPr/>
        </p:nvSpPr>
        <p:spPr>
          <a:xfrm>
            <a:off x="15391839" y="9239627"/>
            <a:ext cx="3933155" cy="2754985"/>
          </a:xfrm>
          <a:prstGeom prst="roundRect">
            <a:avLst/>
          </a:prstGeom>
          <a:noFill/>
          <a:effectLst>
            <a:glow rad="25400">
              <a:schemeClr val="accent3">
                <a:lumMod val="60000"/>
                <a:lumOff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b="1" dirty="0">
              <a:latin typeface="Arial Nova" panose="020B0504020202020204" pitchFamily="34" charset="0"/>
            </a:endParaRPr>
          </a:p>
          <a:p>
            <a:pPr algn="ctr"/>
            <a:endParaRPr lang="en-GB" sz="3200" b="1" dirty="0">
              <a:latin typeface="Arial Nova" panose="020B0504020202020204" pitchFamily="34" charset="0"/>
            </a:endParaRPr>
          </a:p>
          <a:p>
            <a:pPr algn="ctr"/>
            <a:r>
              <a:rPr lang="en-GB" sz="3200" b="1" dirty="0">
                <a:latin typeface="Arial Nova" panose="020B0504020202020204" pitchFamily="34" charset="0"/>
              </a:rPr>
              <a:t>3. AI ENGINE</a:t>
            </a:r>
          </a:p>
          <a:p>
            <a:pPr algn="ctr"/>
            <a:endParaRPr lang="en-GB" sz="3200" b="1" dirty="0">
              <a:latin typeface="Arial Nova" panose="020B0504020202020204" pitchFamily="34" charset="0"/>
            </a:endParaRPr>
          </a:p>
          <a:p>
            <a:pPr algn="ctr"/>
            <a:endParaRPr lang="en-GB" sz="3200" b="1" dirty="0">
              <a:latin typeface="Arial Nova" panose="020B0504020202020204" pitchFamily="34" charset="0"/>
            </a:endParaRPr>
          </a:p>
          <a:p>
            <a:pPr algn="ctr"/>
            <a:endParaRPr lang="en-GB" sz="3200" b="1" dirty="0">
              <a:latin typeface="Arial Nova" panose="020B0504020202020204" pitchFamily="34" charset="0"/>
            </a:endParaRPr>
          </a:p>
          <a:p>
            <a:pPr algn="ctr"/>
            <a:endParaRPr lang="en-GB" sz="3200" b="1" dirty="0">
              <a:latin typeface="Arial Nova" panose="020B0504020202020204" pitchFamily="34" charset="0"/>
            </a:endParaRPr>
          </a:p>
          <a:p>
            <a:pPr algn="ctr"/>
            <a:endParaRPr lang="en-GB" sz="3200" b="1" dirty="0">
              <a:latin typeface="Arial Nova" panose="020B0504020202020204" pitchFamily="34" charset="0"/>
            </a:endParaRPr>
          </a:p>
          <a:p>
            <a:pPr algn="ctr"/>
            <a:endParaRPr lang="en-GB" sz="3200" b="1" dirty="0">
              <a:latin typeface="Arial Nova" panose="020B0504020202020204" pitchFamily="34" charset="0"/>
            </a:endParaRP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76727FD0-4FCB-CCA3-7D46-A2629C4914EB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41378" y="10217088"/>
            <a:ext cx="5038020" cy="2530001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0EE34E1B-CB20-24C5-489B-A9B519C22FEC}"/>
              </a:ext>
            </a:extLst>
          </p:cNvPr>
          <p:cNvSpPr txBox="1"/>
          <p:nvPr/>
        </p:nvSpPr>
        <p:spPr>
          <a:xfrm>
            <a:off x="15401263" y="10078601"/>
            <a:ext cx="393315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solidFill>
                  <a:schemeClr val="bg1"/>
                </a:solidFill>
                <a:latin typeface="+mj-lt"/>
              </a:rPr>
              <a:t>Summary and Mitigation Steps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2E0B1B99-77AD-DC27-0D40-0444B785B4FA}"/>
              </a:ext>
            </a:extLst>
          </p:cNvPr>
          <p:cNvSpPr/>
          <p:nvPr/>
        </p:nvSpPr>
        <p:spPr>
          <a:xfrm>
            <a:off x="10910594" y="9565391"/>
            <a:ext cx="4121578" cy="1772504"/>
          </a:xfrm>
          <a:prstGeom prst="roundRect">
            <a:avLst/>
          </a:prstGeom>
          <a:noFill/>
          <a:effectLst>
            <a:glow rad="25400">
              <a:schemeClr val="accent5">
                <a:lumMod val="40000"/>
                <a:lumOff val="6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b="1" dirty="0">
              <a:effectLst>
                <a:glow rad="25400">
                  <a:schemeClr val="tx1"/>
                </a:glow>
              </a:effectLst>
              <a:latin typeface="Arial Nova" panose="020B0504020202020204" pitchFamily="34" charset="0"/>
            </a:endParaRPr>
          </a:p>
          <a:p>
            <a:pPr algn="ctr"/>
            <a:endParaRPr lang="en-GB" sz="3200" b="1" dirty="0">
              <a:effectLst>
                <a:glow rad="25400">
                  <a:schemeClr val="tx1"/>
                </a:glow>
              </a:effectLst>
              <a:latin typeface="Arial Nova" panose="020B0504020202020204" pitchFamily="34" charset="0"/>
            </a:endParaRPr>
          </a:p>
          <a:p>
            <a:pPr algn="ctr"/>
            <a:endParaRPr lang="en-GB" sz="3200" b="1" dirty="0">
              <a:effectLst>
                <a:glow rad="25400">
                  <a:schemeClr val="tx1"/>
                </a:glow>
              </a:effectLst>
              <a:latin typeface="Arial Nova" panose="020B0504020202020204" pitchFamily="34" charset="0"/>
            </a:endParaRPr>
          </a:p>
          <a:p>
            <a:pPr algn="ctr"/>
            <a:endParaRPr lang="en-GB" sz="3200" b="1" dirty="0">
              <a:effectLst>
                <a:glow rad="25400">
                  <a:schemeClr val="tx1"/>
                </a:glow>
              </a:effectLst>
              <a:latin typeface="Arial Nova" panose="020B0504020202020204" pitchFamily="34" charset="0"/>
            </a:endParaRPr>
          </a:p>
          <a:p>
            <a:pPr algn="ctr"/>
            <a:r>
              <a:rPr lang="en-GB" sz="3200" b="1" dirty="0">
                <a:effectLst>
                  <a:glow rad="25400">
                    <a:schemeClr val="tx1"/>
                  </a:glow>
                </a:effectLst>
                <a:latin typeface="Arial Nova" panose="020B0504020202020204" pitchFamily="34" charset="0"/>
              </a:rPr>
              <a:t>4. DATA STORAGE</a:t>
            </a:r>
          </a:p>
          <a:p>
            <a:pPr algn="ctr"/>
            <a:endParaRPr lang="en-GB" sz="3200" b="1" dirty="0">
              <a:effectLst>
                <a:glow rad="25400">
                  <a:schemeClr val="tx1"/>
                </a:glow>
              </a:effectLst>
              <a:latin typeface="Arial Nova" panose="020B0504020202020204" pitchFamily="34" charset="0"/>
            </a:endParaRPr>
          </a:p>
          <a:p>
            <a:pPr algn="ctr"/>
            <a:endParaRPr lang="en-GB" sz="3200" b="1" dirty="0">
              <a:effectLst>
                <a:glow rad="25400">
                  <a:schemeClr val="tx1"/>
                </a:glow>
              </a:effectLst>
              <a:latin typeface="Arial Nova" panose="020B0504020202020204" pitchFamily="34" charset="0"/>
            </a:endParaRPr>
          </a:p>
          <a:p>
            <a:pPr marL="567652" indent="-567652" algn="ctr">
              <a:buAutoNum type="arabicPeriod"/>
            </a:pPr>
            <a:endParaRPr lang="en-GB" sz="3200" b="1" dirty="0">
              <a:effectLst>
                <a:glow rad="25400">
                  <a:schemeClr val="tx1"/>
                </a:glow>
              </a:effectLst>
              <a:latin typeface="Arial Nova" panose="020B0504020202020204" pitchFamily="34" charset="0"/>
            </a:endParaRPr>
          </a:p>
          <a:p>
            <a:pPr algn="ctr"/>
            <a:endParaRPr lang="en-GB" sz="3200" dirty="0">
              <a:latin typeface="Arial Nova" panose="020B0504020202020204" pitchFamily="34" charset="0"/>
            </a:endParaRPr>
          </a:p>
          <a:p>
            <a:pPr algn="ctr"/>
            <a:endParaRPr lang="en-GB" sz="3200" dirty="0">
              <a:latin typeface="Arial Nova" panose="020B0504020202020204" pitchFamily="34" charset="0"/>
            </a:endParaRPr>
          </a:p>
          <a:p>
            <a:pPr algn="ctr"/>
            <a:endParaRPr lang="en-GB" sz="3200" dirty="0">
              <a:latin typeface="Arial Nova" panose="020B0504020202020204" pitchFamily="34" charset="0"/>
            </a:endParaRP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E36D5011-D647-4185-A262-4C2A9E7CDBF5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4450" y="9517725"/>
            <a:ext cx="5350102" cy="2237352"/>
          </a:xfrm>
          <a:prstGeom prst="rect">
            <a:avLst/>
          </a:prstGeom>
        </p:spPr>
      </p:pic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F1DB10C3-D959-EDFD-C815-429AFF73D574}"/>
              </a:ext>
            </a:extLst>
          </p:cNvPr>
          <p:cNvSpPr/>
          <p:nvPr/>
        </p:nvSpPr>
        <p:spPr>
          <a:xfrm>
            <a:off x="10992387" y="11628601"/>
            <a:ext cx="4037584" cy="3086952"/>
          </a:xfrm>
          <a:prstGeom prst="roundRect">
            <a:avLst/>
          </a:prstGeom>
          <a:noFill/>
          <a:effectLst>
            <a:glow rad="25400">
              <a:schemeClr val="tx2">
                <a:lumMod val="50000"/>
                <a:lumOff val="5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latin typeface="Arial Nova" panose="020B0504020202020204" pitchFamily="34" charset="0"/>
              </a:rPr>
              <a:t>5. DASHBOARD</a:t>
            </a:r>
          </a:p>
          <a:p>
            <a:pPr algn="ctr"/>
            <a:endParaRPr lang="en-GB" sz="3200" b="1" dirty="0">
              <a:latin typeface="Arial Nova" panose="020B0504020202020204" pitchFamily="34" charset="0"/>
            </a:endParaRPr>
          </a:p>
          <a:p>
            <a:pPr algn="ctr"/>
            <a:endParaRPr lang="en-GB" sz="3200" b="1" dirty="0">
              <a:latin typeface="Arial Nova" panose="020B0504020202020204" pitchFamily="34" charset="0"/>
            </a:endParaRPr>
          </a:p>
          <a:p>
            <a:pPr algn="ctr"/>
            <a:endParaRPr lang="en-GB" sz="3200" b="1" dirty="0">
              <a:latin typeface="Arial Nova" panose="020B0504020202020204" pitchFamily="34" charset="0"/>
            </a:endParaRPr>
          </a:p>
          <a:p>
            <a:pPr algn="ctr"/>
            <a:endParaRPr lang="en-GB" sz="3200" b="1" dirty="0">
              <a:latin typeface="Arial Nova" panose="020B0504020202020204" pitchFamily="34" charset="0"/>
            </a:endParaRP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2E988301-D432-CCC7-59B2-847F83C164A3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1821" y="12364800"/>
            <a:ext cx="3649597" cy="1593335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AF35B83B-5163-7778-7B56-B0F09E77CF74}"/>
              </a:ext>
            </a:extLst>
          </p:cNvPr>
          <p:cNvSpPr txBox="1"/>
          <p:nvPr/>
        </p:nvSpPr>
        <p:spPr>
          <a:xfrm>
            <a:off x="12163658" y="13788956"/>
            <a:ext cx="19374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solidFill>
                  <a:schemeClr val="bg1"/>
                </a:solidFill>
                <a:latin typeface="+mj-lt"/>
              </a:rPr>
              <a:t>React UI</a:t>
            </a:r>
          </a:p>
        </p:txBody>
      </p:sp>
      <p:sp>
        <p:nvSpPr>
          <p:cNvPr id="1027" name="Rectangle: Rounded Corners 1026">
            <a:extLst>
              <a:ext uri="{FF2B5EF4-FFF2-40B4-BE49-F238E27FC236}">
                <a16:creationId xmlns:a16="http://schemas.microsoft.com/office/drawing/2014/main" id="{80261347-A8A8-AF87-D77C-C6B6C462DBD8}"/>
              </a:ext>
            </a:extLst>
          </p:cNvPr>
          <p:cNvSpPr/>
          <p:nvPr/>
        </p:nvSpPr>
        <p:spPr>
          <a:xfrm>
            <a:off x="15336191" y="12364088"/>
            <a:ext cx="4025396" cy="5036219"/>
          </a:xfrm>
          <a:prstGeom prst="roundRect">
            <a:avLst/>
          </a:prstGeom>
          <a:noFill/>
          <a:effectLst>
            <a:glow rad="25400">
              <a:schemeClr val="tx2">
                <a:lumMod val="50000"/>
                <a:lumOff val="5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732" b="1" dirty="0">
              <a:latin typeface="Arial Nova" panose="020B0504020202020204" pitchFamily="34" charset="0"/>
            </a:endParaRPr>
          </a:p>
          <a:p>
            <a:pPr algn="ctr"/>
            <a:endParaRPr lang="en-GB" sz="2732" b="1" dirty="0">
              <a:latin typeface="Arial Nova" panose="020B0504020202020204" pitchFamily="34" charset="0"/>
            </a:endParaRPr>
          </a:p>
          <a:p>
            <a:pPr algn="ctr"/>
            <a:endParaRPr lang="en-GB" sz="2732" b="1" dirty="0">
              <a:latin typeface="Arial Nova" panose="020B0504020202020204" pitchFamily="34" charset="0"/>
            </a:endParaRPr>
          </a:p>
          <a:p>
            <a:pPr algn="ctr"/>
            <a:endParaRPr lang="en-GB" sz="2732" b="1" dirty="0">
              <a:latin typeface="Arial Nova" panose="020B0504020202020204" pitchFamily="34" charset="0"/>
            </a:endParaRPr>
          </a:p>
          <a:p>
            <a:pPr algn="ctr"/>
            <a:endParaRPr lang="en-GB" sz="2732" b="1" dirty="0">
              <a:latin typeface="Arial Nova" panose="020B0504020202020204" pitchFamily="34" charset="0"/>
            </a:endParaRPr>
          </a:p>
          <a:p>
            <a:pPr algn="ctr"/>
            <a:endParaRPr lang="en-GB" sz="2732" b="1" dirty="0">
              <a:latin typeface="Arial Nova" panose="020B0504020202020204" pitchFamily="34" charset="0"/>
            </a:endParaRPr>
          </a:p>
          <a:p>
            <a:pPr algn="ctr"/>
            <a:endParaRPr lang="en-GB" sz="2732" b="1" dirty="0">
              <a:latin typeface="Arial Nova" panose="020B0504020202020204" pitchFamily="34" charset="0"/>
            </a:endParaRPr>
          </a:p>
          <a:p>
            <a:pPr algn="ctr"/>
            <a:endParaRPr lang="en-GB" sz="2732" b="1" dirty="0">
              <a:latin typeface="Arial Nova" panose="020B0504020202020204" pitchFamily="34" charset="0"/>
            </a:endParaRPr>
          </a:p>
          <a:p>
            <a:pPr algn="ctr"/>
            <a:endParaRPr lang="en-GB" sz="2732" b="1" dirty="0">
              <a:latin typeface="Arial Nova" panose="020B0504020202020204" pitchFamily="34" charset="0"/>
            </a:endParaRPr>
          </a:p>
          <a:p>
            <a:pPr algn="ctr"/>
            <a:endParaRPr lang="en-GB" sz="2732" b="1" dirty="0">
              <a:latin typeface="Arial Nova" panose="020B0504020202020204" pitchFamily="34" charset="0"/>
            </a:endParaRPr>
          </a:p>
        </p:txBody>
      </p:sp>
      <p:pic>
        <p:nvPicPr>
          <p:cNvPr id="1029" name="Graphic 1028" descr="Document with solid fill">
            <a:extLst>
              <a:ext uri="{FF2B5EF4-FFF2-40B4-BE49-F238E27FC236}">
                <a16:creationId xmlns:a16="http://schemas.microsoft.com/office/drawing/2014/main" id="{0CED4316-67AA-66AB-561B-9BE9059C391D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5504304" y="12822904"/>
            <a:ext cx="1032871" cy="1032871"/>
          </a:xfrm>
          <a:prstGeom prst="rect">
            <a:avLst/>
          </a:prstGeom>
        </p:spPr>
      </p:pic>
      <p:sp>
        <p:nvSpPr>
          <p:cNvPr id="1030" name="TextBox 1029">
            <a:extLst>
              <a:ext uri="{FF2B5EF4-FFF2-40B4-BE49-F238E27FC236}">
                <a16:creationId xmlns:a16="http://schemas.microsoft.com/office/drawing/2014/main" id="{A458C835-B561-F31C-05B1-EFC9028C3038}"/>
              </a:ext>
            </a:extLst>
          </p:cNvPr>
          <p:cNvSpPr txBox="1"/>
          <p:nvPr/>
        </p:nvSpPr>
        <p:spPr>
          <a:xfrm>
            <a:off x="15363323" y="13750571"/>
            <a:ext cx="1954862" cy="512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732" dirty="0">
                <a:solidFill>
                  <a:schemeClr val="bg1"/>
                </a:solidFill>
              </a:rPr>
              <a:t>Raw Logs</a:t>
            </a:r>
          </a:p>
        </p:txBody>
      </p:sp>
      <p:pic>
        <p:nvPicPr>
          <p:cNvPr id="1034" name="Graphic 1033" descr="Filter with solid fill">
            <a:extLst>
              <a:ext uri="{FF2B5EF4-FFF2-40B4-BE49-F238E27FC236}">
                <a16:creationId xmlns:a16="http://schemas.microsoft.com/office/drawing/2014/main" id="{4FEC098A-14B5-5649-CE53-8B9FBC31AE14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7606710" y="12718230"/>
            <a:ext cx="1246364" cy="1246364"/>
          </a:xfrm>
          <a:prstGeom prst="rect">
            <a:avLst/>
          </a:prstGeom>
        </p:spPr>
      </p:pic>
      <p:sp>
        <p:nvSpPr>
          <p:cNvPr id="1035" name="TextBox 1034">
            <a:extLst>
              <a:ext uri="{FF2B5EF4-FFF2-40B4-BE49-F238E27FC236}">
                <a16:creationId xmlns:a16="http://schemas.microsoft.com/office/drawing/2014/main" id="{F1F424F7-F59A-7326-D0A8-4989A341F7FA}"/>
              </a:ext>
            </a:extLst>
          </p:cNvPr>
          <p:cNvSpPr txBox="1"/>
          <p:nvPr/>
        </p:nvSpPr>
        <p:spPr>
          <a:xfrm>
            <a:off x="17406725" y="13713587"/>
            <a:ext cx="1954862" cy="512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732" dirty="0">
                <a:solidFill>
                  <a:schemeClr val="bg1"/>
                </a:solidFill>
              </a:rPr>
              <a:t>Sanitise</a:t>
            </a:r>
          </a:p>
        </p:txBody>
      </p:sp>
      <p:sp>
        <p:nvSpPr>
          <p:cNvPr id="1037" name="TextBox 1036">
            <a:extLst>
              <a:ext uri="{FF2B5EF4-FFF2-40B4-BE49-F238E27FC236}">
                <a16:creationId xmlns:a16="http://schemas.microsoft.com/office/drawing/2014/main" id="{B1CB8B43-335A-E5B5-46B5-BEA07AA2F316}"/>
              </a:ext>
            </a:extLst>
          </p:cNvPr>
          <p:cNvSpPr txBox="1"/>
          <p:nvPr/>
        </p:nvSpPr>
        <p:spPr>
          <a:xfrm>
            <a:off x="17336982" y="16630444"/>
            <a:ext cx="2270390" cy="512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732" dirty="0">
                <a:solidFill>
                  <a:schemeClr val="bg1"/>
                </a:solidFill>
              </a:rPr>
              <a:t>AI Analyse</a:t>
            </a:r>
          </a:p>
        </p:txBody>
      </p:sp>
      <p:pic>
        <p:nvPicPr>
          <p:cNvPr id="1039" name="Graphic 1038" descr="Artificial Intelligence with solid fill">
            <a:extLst>
              <a:ext uri="{FF2B5EF4-FFF2-40B4-BE49-F238E27FC236}">
                <a16:creationId xmlns:a16="http://schemas.microsoft.com/office/drawing/2014/main" id="{7E8DAE73-E151-C54A-B146-66E0720F12C6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7625481" y="15407798"/>
            <a:ext cx="1303183" cy="1303183"/>
          </a:xfrm>
          <a:prstGeom prst="rect">
            <a:avLst/>
          </a:prstGeom>
        </p:spPr>
      </p:pic>
      <p:pic>
        <p:nvPicPr>
          <p:cNvPr id="1042" name="Graphic 1041" descr="Periodic Graph with solid fill">
            <a:extLst>
              <a:ext uri="{FF2B5EF4-FFF2-40B4-BE49-F238E27FC236}">
                <a16:creationId xmlns:a16="http://schemas.microsoft.com/office/drawing/2014/main" id="{2A258A46-703B-5535-138A-D208A0355D69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15318433" y="15197078"/>
            <a:ext cx="1480960" cy="1480960"/>
          </a:xfrm>
          <a:prstGeom prst="rect">
            <a:avLst/>
          </a:prstGeom>
        </p:spPr>
      </p:pic>
      <p:sp>
        <p:nvSpPr>
          <p:cNvPr id="1044" name="TextBox 1043">
            <a:extLst>
              <a:ext uri="{FF2B5EF4-FFF2-40B4-BE49-F238E27FC236}">
                <a16:creationId xmlns:a16="http://schemas.microsoft.com/office/drawing/2014/main" id="{3F6F2A8C-60FC-D9CE-FEF0-79EA85CB67FB}"/>
              </a:ext>
            </a:extLst>
          </p:cNvPr>
          <p:cNvSpPr txBox="1"/>
          <p:nvPr/>
        </p:nvSpPr>
        <p:spPr>
          <a:xfrm>
            <a:off x="15500788" y="16572762"/>
            <a:ext cx="2270390" cy="512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732" dirty="0">
                <a:solidFill>
                  <a:schemeClr val="bg1"/>
                </a:solidFill>
              </a:rPr>
              <a:t>Visualize</a:t>
            </a:r>
          </a:p>
        </p:txBody>
      </p:sp>
      <p:pic>
        <p:nvPicPr>
          <p:cNvPr id="1045" name="Graphic 1044" descr="Play with solid fill">
            <a:extLst>
              <a:ext uri="{FF2B5EF4-FFF2-40B4-BE49-F238E27FC236}">
                <a16:creationId xmlns:a16="http://schemas.microsoft.com/office/drawing/2014/main" id="{8DA490E0-8C27-DE38-8E6F-1CCE03DF7DF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87508" y="15164513"/>
            <a:ext cx="626793" cy="626795"/>
          </a:xfrm>
          <a:prstGeom prst="rect">
            <a:avLst/>
          </a:prstGeom>
        </p:spPr>
      </p:pic>
      <p:sp>
        <p:nvSpPr>
          <p:cNvPr id="1046" name="TextBox 1045">
            <a:extLst>
              <a:ext uri="{FF2B5EF4-FFF2-40B4-BE49-F238E27FC236}">
                <a16:creationId xmlns:a16="http://schemas.microsoft.com/office/drawing/2014/main" id="{3319443F-0B9B-B354-048F-0A2DFE7361CC}"/>
              </a:ext>
            </a:extLst>
          </p:cNvPr>
          <p:cNvSpPr txBox="1"/>
          <p:nvPr/>
        </p:nvSpPr>
        <p:spPr>
          <a:xfrm>
            <a:off x="11285492" y="15121556"/>
            <a:ext cx="38609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solidFill>
                  <a:schemeClr val="bg1"/>
                </a:solidFill>
                <a:latin typeface="Arial Nova" panose="020B0504020202020204" pitchFamily="34" charset="0"/>
              </a:rPr>
              <a:t>Privacy:</a:t>
            </a:r>
            <a:r>
              <a:rPr lang="en-GB" sz="3600" dirty="0">
                <a:solidFill>
                  <a:schemeClr val="bg1"/>
                </a:solidFill>
                <a:latin typeface="Arial Nova" panose="020B0504020202020204" pitchFamily="34" charset="0"/>
              </a:rPr>
              <a:t> Local regex sanitisation.</a:t>
            </a:r>
            <a:endParaRPr lang="en-GB" sz="3600" b="1" dirty="0">
              <a:solidFill>
                <a:schemeClr val="bg1"/>
              </a:solidFill>
              <a:latin typeface="Arial Nova" panose="020B0504020202020204" pitchFamily="34" charset="0"/>
            </a:endParaRPr>
          </a:p>
        </p:txBody>
      </p:sp>
      <p:pic>
        <p:nvPicPr>
          <p:cNvPr id="1047" name="Graphic 1046" descr="Play with solid fill">
            <a:extLst>
              <a:ext uri="{FF2B5EF4-FFF2-40B4-BE49-F238E27FC236}">
                <a16:creationId xmlns:a16="http://schemas.microsoft.com/office/drawing/2014/main" id="{FF385946-E17D-B879-7432-3E13C72FCD9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70603" y="16515706"/>
            <a:ext cx="626793" cy="626795"/>
          </a:xfrm>
          <a:prstGeom prst="rect">
            <a:avLst/>
          </a:prstGeom>
        </p:spPr>
      </p:pic>
      <p:sp>
        <p:nvSpPr>
          <p:cNvPr id="1048" name="TextBox 1047">
            <a:extLst>
              <a:ext uri="{FF2B5EF4-FFF2-40B4-BE49-F238E27FC236}">
                <a16:creationId xmlns:a16="http://schemas.microsoft.com/office/drawing/2014/main" id="{A4302C50-0E27-297A-1EE8-336060D720A5}"/>
              </a:ext>
            </a:extLst>
          </p:cNvPr>
          <p:cNvSpPr txBox="1"/>
          <p:nvPr/>
        </p:nvSpPr>
        <p:spPr>
          <a:xfrm>
            <a:off x="11303698" y="16509369"/>
            <a:ext cx="395590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solidFill>
                  <a:schemeClr val="bg1"/>
                </a:solidFill>
              </a:rPr>
              <a:t>Security: </a:t>
            </a:r>
            <a:r>
              <a:rPr lang="en-GB" sz="3600" dirty="0">
                <a:solidFill>
                  <a:schemeClr val="bg1"/>
                </a:solidFill>
              </a:rPr>
              <a:t>Fernet AES Payload Encryption</a:t>
            </a:r>
            <a:endParaRPr lang="en-GB" sz="3600" dirty="0">
              <a:solidFill>
                <a:schemeClr val="bg1"/>
              </a:solidFill>
              <a:latin typeface="Arial Nova" panose="020B0504020202020204" pitchFamily="34" charset="0"/>
            </a:endParaRPr>
          </a:p>
        </p:txBody>
      </p:sp>
      <p:pic>
        <p:nvPicPr>
          <p:cNvPr id="1049" name="Graphic 1048" descr="Play with solid fill">
            <a:extLst>
              <a:ext uri="{FF2B5EF4-FFF2-40B4-BE49-F238E27FC236}">
                <a16:creationId xmlns:a16="http://schemas.microsoft.com/office/drawing/2014/main" id="{FFE7167F-6DB0-579F-8045-A63A17E9C0C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53329" y="18268679"/>
            <a:ext cx="626793" cy="626795"/>
          </a:xfrm>
          <a:prstGeom prst="rect">
            <a:avLst/>
          </a:prstGeom>
        </p:spPr>
      </p:pic>
      <p:sp>
        <p:nvSpPr>
          <p:cNvPr id="1050" name="TextBox 1049">
            <a:extLst>
              <a:ext uri="{FF2B5EF4-FFF2-40B4-BE49-F238E27FC236}">
                <a16:creationId xmlns:a16="http://schemas.microsoft.com/office/drawing/2014/main" id="{F876D665-A2BA-70AB-F486-DC992D08751C}"/>
              </a:ext>
            </a:extLst>
          </p:cNvPr>
          <p:cNvSpPr txBox="1"/>
          <p:nvPr/>
        </p:nvSpPr>
        <p:spPr>
          <a:xfrm>
            <a:off x="11245831" y="18250495"/>
            <a:ext cx="84756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solidFill>
                  <a:schemeClr val="bg1"/>
                </a:solidFill>
              </a:rPr>
              <a:t>Adaptation:</a:t>
            </a:r>
            <a:r>
              <a:rPr lang="en-GB" sz="3600" dirty="0">
                <a:solidFill>
                  <a:schemeClr val="bg1"/>
                </a:solidFill>
              </a:rPr>
              <a:t> Dynamic persona prompting.</a:t>
            </a:r>
            <a:endParaRPr lang="en-GB" sz="3600" b="1" dirty="0">
              <a:solidFill>
                <a:schemeClr val="bg1"/>
              </a:solidFill>
              <a:latin typeface="Arial Nova" panose="020B0504020202020204" pitchFamily="34" charset="0"/>
            </a:endParaRPr>
          </a:p>
        </p:txBody>
      </p:sp>
      <p:sp>
        <p:nvSpPr>
          <p:cNvPr id="1051" name="TextBox 1050">
            <a:extLst>
              <a:ext uri="{FF2B5EF4-FFF2-40B4-BE49-F238E27FC236}">
                <a16:creationId xmlns:a16="http://schemas.microsoft.com/office/drawing/2014/main" id="{A6770614-B8ED-BB31-86E3-72E195B47A91}"/>
              </a:ext>
            </a:extLst>
          </p:cNvPr>
          <p:cNvSpPr txBox="1"/>
          <p:nvPr/>
        </p:nvSpPr>
        <p:spPr>
          <a:xfrm>
            <a:off x="20828492" y="3328345"/>
            <a:ext cx="837477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400" b="1" dirty="0">
                <a:solidFill>
                  <a:schemeClr val="bg1"/>
                </a:solidFill>
                <a:effectLst>
                  <a:glow rad="25400">
                    <a:schemeClr val="tx1"/>
                  </a:glow>
                </a:effectLst>
                <a:latin typeface="Arial Nova" panose="020B0504020202020204" pitchFamily="34" charset="0"/>
              </a:rPr>
              <a:t>IMPLEMENTATION &amp; RESULTS</a:t>
            </a:r>
          </a:p>
        </p:txBody>
      </p:sp>
      <p:sp>
        <p:nvSpPr>
          <p:cNvPr id="1052" name="TextBox 1051">
            <a:extLst>
              <a:ext uri="{FF2B5EF4-FFF2-40B4-BE49-F238E27FC236}">
                <a16:creationId xmlns:a16="http://schemas.microsoft.com/office/drawing/2014/main" id="{1F35EF5F-B462-0FA0-0B78-4DDC3DDD267C}"/>
              </a:ext>
            </a:extLst>
          </p:cNvPr>
          <p:cNvSpPr txBox="1"/>
          <p:nvPr/>
        </p:nvSpPr>
        <p:spPr>
          <a:xfrm>
            <a:off x="20590638" y="5225340"/>
            <a:ext cx="48487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solidFill>
                  <a:schemeClr val="bg1"/>
                </a:solidFill>
                <a:latin typeface="+mj-lt"/>
              </a:rPr>
              <a:t>DASHBOARD VIEW</a:t>
            </a:r>
          </a:p>
        </p:txBody>
      </p:sp>
      <p:sp>
        <p:nvSpPr>
          <p:cNvPr id="1053" name="TextBox 1052">
            <a:extLst>
              <a:ext uri="{FF2B5EF4-FFF2-40B4-BE49-F238E27FC236}">
                <a16:creationId xmlns:a16="http://schemas.microsoft.com/office/drawing/2014/main" id="{D04DDB08-7866-FD6F-E298-106CC3FC7773}"/>
              </a:ext>
            </a:extLst>
          </p:cNvPr>
          <p:cNvSpPr txBox="1"/>
          <p:nvPr/>
        </p:nvSpPr>
        <p:spPr>
          <a:xfrm>
            <a:off x="20590638" y="10238888"/>
            <a:ext cx="61337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solidFill>
                  <a:schemeClr val="bg1"/>
                </a:solidFill>
                <a:latin typeface="+mj-lt"/>
              </a:rPr>
              <a:t>INCIDENT INVESTIGATION</a:t>
            </a:r>
          </a:p>
        </p:txBody>
      </p:sp>
      <p:pic>
        <p:nvPicPr>
          <p:cNvPr id="1055" name="Picture 1054">
            <a:extLst>
              <a:ext uri="{FF2B5EF4-FFF2-40B4-BE49-F238E27FC236}">
                <a16:creationId xmlns:a16="http://schemas.microsoft.com/office/drawing/2014/main" id="{32307F24-192A-0FCF-656E-667698D1D649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20637968" y="5981936"/>
            <a:ext cx="8608073" cy="4040966"/>
          </a:xfrm>
          <a:prstGeom prst="rect">
            <a:avLst/>
          </a:prstGeom>
        </p:spPr>
      </p:pic>
      <p:pic>
        <p:nvPicPr>
          <p:cNvPr id="1059" name="Picture 1058">
            <a:extLst>
              <a:ext uri="{FF2B5EF4-FFF2-40B4-BE49-F238E27FC236}">
                <a16:creationId xmlns:a16="http://schemas.microsoft.com/office/drawing/2014/main" id="{44132AD7-9D58-65DB-DA78-927C17AD0EA1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20724323" y="10909145"/>
            <a:ext cx="8549827" cy="2325778"/>
          </a:xfrm>
          <a:prstGeom prst="rect">
            <a:avLst/>
          </a:prstGeom>
        </p:spPr>
      </p:pic>
      <p:sp>
        <p:nvSpPr>
          <p:cNvPr id="1060" name="TextBox 1059">
            <a:extLst>
              <a:ext uri="{FF2B5EF4-FFF2-40B4-BE49-F238E27FC236}">
                <a16:creationId xmlns:a16="http://schemas.microsoft.com/office/drawing/2014/main" id="{0DD64A86-50CF-D5E7-2AC6-501BB45AEB21}"/>
              </a:ext>
            </a:extLst>
          </p:cNvPr>
          <p:cNvSpPr txBox="1"/>
          <p:nvPr/>
        </p:nvSpPr>
        <p:spPr>
          <a:xfrm>
            <a:off x="20637968" y="13379378"/>
            <a:ext cx="3573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solidFill>
                  <a:schemeClr val="bg1"/>
                </a:solidFill>
                <a:latin typeface="Arial Nova" panose="020B0504020202020204" pitchFamily="34" charset="0"/>
              </a:rPr>
              <a:t>RESULTS</a:t>
            </a:r>
          </a:p>
        </p:txBody>
      </p:sp>
      <p:pic>
        <p:nvPicPr>
          <p:cNvPr id="1061" name="Graphic 1060" descr="Play with solid fill">
            <a:extLst>
              <a:ext uri="{FF2B5EF4-FFF2-40B4-BE49-F238E27FC236}">
                <a16:creationId xmlns:a16="http://schemas.microsoft.com/office/drawing/2014/main" id="{FD372242-61E2-298D-570C-54281BDC7E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765955" y="14113307"/>
            <a:ext cx="626793" cy="626795"/>
          </a:xfrm>
          <a:prstGeom prst="rect">
            <a:avLst/>
          </a:prstGeom>
        </p:spPr>
      </p:pic>
      <p:pic>
        <p:nvPicPr>
          <p:cNvPr id="1062" name="Graphic 1061" descr="Play with solid fill">
            <a:extLst>
              <a:ext uri="{FF2B5EF4-FFF2-40B4-BE49-F238E27FC236}">
                <a16:creationId xmlns:a16="http://schemas.microsoft.com/office/drawing/2014/main" id="{5F144F3F-40DC-96C8-F179-3534F6DBBF7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697723" y="17183630"/>
            <a:ext cx="626793" cy="626795"/>
          </a:xfrm>
          <a:prstGeom prst="rect">
            <a:avLst/>
          </a:prstGeom>
        </p:spPr>
      </p:pic>
      <p:pic>
        <p:nvPicPr>
          <p:cNvPr id="1064" name="Graphic 1063" descr="Play with solid fill">
            <a:extLst>
              <a:ext uri="{FF2B5EF4-FFF2-40B4-BE49-F238E27FC236}">
                <a16:creationId xmlns:a16="http://schemas.microsoft.com/office/drawing/2014/main" id="{8953AFAA-C841-98E9-CA71-52256E5347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747079" y="15461263"/>
            <a:ext cx="626793" cy="626795"/>
          </a:xfrm>
          <a:prstGeom prst="rect">
            <a:avLst/>
          </a:prstGeom>
        </p:spPr>
      </p:pic>
      <p:sp>
        <p:nvSpPr>
          <p:cNvPr id="1065" name="TextBox 1064">
            <a:extLst>
              <a:ext uri="{FF2B5EF4-FFF2-40B4-BE49-F238E27FC236}">
                <a16:creationId xmlns:a16="http://schemas.microsoft.com/office/drawing/2014/main" id="{80CA4B21-D6B6-A249-06EF-D72A8A91A0E5}"/>
              </a:ext>
            </a:extLst>
          </p:cNvPr>
          <p:cNvSpPr txBox="1"/>
          <p:nvPr/>
        </p:nvSpPr>
        <p:spPr>
          <a:xfrm>
            <a:off x="20860531" y="14023347"/>
            <a:ext cx="85498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25740" indent="-425740">
              <a:buFont typeface="Arial" panose="020B0604020202020204" pitchFamily="34" charset="0"/>
              <a:buChar char="•"/>
            </a:pPr>
            <a:r>
              <a:rPr lang="en-GB" sz="3600" b="1" dirty="0">
                <a:solidFill>
                  <a:schemeClr val="bg1"/>
                </a:solidFill>
              </a:rPr>
              <a:t>Expertise Bridge:</a:t>
            </a:r>
            <a:r>
              <a:rPr lang="en-GB" sz="3600" dirty="0">
                <a:solidFill>
                  <a:schemeClr val="bg1"/>
                </a:solidFill>
              </a:rPr>
              <a:t> Translates complex security alerts into plain English.</a:t>
            </a:r>
          </a:p>
        </p:txBody>
      </p:sp>
      <p:sp>
        <p:nvSpPr>
          <p:cNvPr id="1067" name="TextBox 1066">
            <a:extLst>
              <a:ext uri="{FF2B5EF4-FFF2-40B4-BE49-F238E27FC236}">
                <a16:creationId xmlns:a16="http://schemas.microsoft.com/office/drawing/2014/main" id="{987F1445-F2E5-D700-1596-6FAAE021A14D}"/>
              </a:ext>
            </a:extLst>
          </p:cNvPr>
          <p:cNvSpPr txBox="1"/>
          <p:nvPr/>
        </p:nvSpPr>
        <p:spPr>
          <a:xfrm>
            <a:off x="21245975" y="15406830"/>
            <a:ext cx="84770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solidFill>
                  <a:schemeClr val="bg1"/>
                </a:solidFill>
              </a:rPr>
              <a:t>Response Clarity:</a:t>
            </a:r>
            <a:r>
              <a:rPr lang="en-GB" sz="3600" dirty="0">
                <a:solidFill>
                  <a:schemeClr val="bg1"/>
                </a:solidFill>
              </a:rPr>
              <a:t> Provides clear, step-by-step instructions to contain active threats.</a:t>
            </a:r>
          </a:p>
        </p:txBody>
      </p:sp>
      <p:sp>
        <p:nvSpPr>
          <p:cNvPr id="1068" name="TextBox 1067">
            <a:extLst>
              <a:ext uri="{FF2B5EF4-FFF2-40B4-BE49-F238E27FC236}">
                <a16:creationId xmlns:a16="http://schemas.microsoft.com/office/drawing/2014/main" id="{7830DAD7-53E7-51C2-3C8A-609053799A2B}"/>
              </a:ext>
            </a:extLst>
          </p:cNvPr>
          <p:cNvSpPr txBox="1"/>
          <p:nvPr/>
        </p:nvSpPr>
        <p:spPr>
          <a:xfrm>
            <a:off x="21245975" y="17148991"/>
            <a:ext cx="825371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solidFill>
                  <a:schemeClr val="bg1"/>
                </a:solidFill>
              </a:rPr>
              <a:t>Awareness Training:</a:t>
            </a:r>
            <a:r>
              <a:rPr lang="en-GB" sz="3600" dirty="0">
                <a:solidFill>
                  <a:schemeClr val="bg1"/>
                </a:solidFill>
              </a:rPr>
              <a:t> Transforms security incidents into real-world staff learning opportunities.</a:t>
            </a:r>
          </a:p>
        </p:txBody>
      </p:sp>
      <p:sp>
        <p:nvSpPr>
          <p:cNvPr id="1069" name="Rectangle 1068">
            <a:extLst>
              <a:ext uri="{FF2B5EF4-FFF2-40B4-BE49-F238E27FC236}">
                <a16:creationId xmlns:a16="http://schemas.microsoft.com/office/drawing/2014/main" id="{6BAD7DED-F0DB-612E-6993-BCDCB2AA2EC9}"/>
              </a:ext>
            </a:extLst>
          </p:cNvPr>
          <p:cNvSpPr/>
          <p:nvPr/>
        </p:nvSpPr>
        <p:spPr>
          <a:xfrm>
            <a:off x="-316523" y="19469442"/>
            <a:ext cx="30591736" cy="1967118"/>
          </a:xfrm>
          <a:prstGeom prst="rect">
            <a:avLst/>
          </a:prstGeom>
          <a:solidFill>
            <a:schemeClr val="accent1">
              <a:lumMod val="75000"/>
            </a:schemeClr>
          </a:solidFill>
          <a:effectLst>
            <a:glow rad="63500">
              <a:schemeClr val="tx2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07000"/>
              </a:lnSpc>
              <a:spcAft>
                <a:spcPts val="1987"/>
              </a:spcAft>
            </a:pPr>
            <a:endParaRPr lang="en-GB" sz="12120" dirty="0"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70" name="TextBox 1069">
            <a:extLst>
              <a:ext uri="{FF2B5EF4-FFF2-40B4-BE49-F238E27FC236}">
                <a16:creationId xmlns:a16="http://schemas.microsoft.com/office/drawing/2014/main" id="{27750DD9-0FF1-0BC6-B245-3C0815D51947}"/>
              </a:ext>
            </a:extLst>
          </p:cNvPr>
          <p:cNvSpPr txBox="1"/>
          <p:nvPr/>
        </p:nvSpPr>
        <p:spPr>
          <a:xfrm>
            <a:off x="274811" y="19607848"/>
            <a:ext cx="54654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dirty="0">
                <a:solidFill>
                  <a:schemeClr val="bg1"/>
                </a:solidFill>
              </a:rPr>
              <a:t>Matthew Fish</a:t>
            </a:r>
          </a:p>
        </p:txBody>
      </p:sp>
      <p:sp>
        <p:nvSpPr>
          <p:cNvPr id="1071" name="TextBox 1070">
            <a:extLst>
              <a:ext uri="{FF2B5EF4-FFF2-40B4-BE49-F238E27FC236}">
                <a16:creationId xmlns:a16="http://schemas.microsoft.com/office/drawing/2014/main" id="{95E09BC8-F425-1DAE-A6CA-A0A2DCB2FD57}"/>
              </a:ext>
            </a:extLst>
          </p:cNvPr>
          <p:cNvSpPr txBox="1"/>
          <p:nvPr/>
        </p:nvSpPr>
        <p:spPr>
          <a:xfrm>
            <a:off x="274811" y="20406819"/>
            <a:ext cx="1200587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>
                <a:solidFill>
                  <a:schemeClr val="bg1"/>
                </a:solidFill>
              </a:rPr>
              <a:t>Matthew.fish@students.plymouth.ac.uk</a:t>
            </a:r>
          </a:p>
        </p:txBody>
      </p:sp>
      <p:pic>
        <p:nvPicPr>
          <p:cNvPr id="1075" name="Picture 1074" descr="University of Plymouth - PenPostgrad">
            <a:extLst>
              <a:ext uri="{FF2B5EF4-FFF2-40B4-BE49-F238E27FC236}">
                <a16:creationId xmlns:a16="http://schemas.microsoft.com/office/drawing/2014/main" id="{6345EBFE-A830-6E63-407B-4E1EE5AAC728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22018780" y="19266140"/>
            <a:ext cx="8057899" cy="2472981"/>
          </a:xfrm>
          <a:prstGeom prst="rect">
            <a:avLst/>
          </a:prstGeom>
        </p:spPr>
      </p:pic>
      <p:sp>
        <p:nvSpPr>
          <p:cNvPr id="1077" name="TextBox 1076">
            <a:extLst>
              <a:ext uri="{FF2B5EF4-FFF2-40B4-BE49-F238E27FC236}">
                <a16:creationId xmlns:a16="http://schemas.microsoft.com/office/drawing/2014/main" id="{2D51D4EC-E772-A2DF-16FA-D01E938BB8C3}"/>
              </a:ext>
            </a:extLst>
          </p:cNvPr>
          <p:cNvSpPr txBox="1"/>
          <p:nvPr/>
        </p:nvSpPr>
        <p:spPr>
          <a:xfrm>
            <a:off x="10715311" y="20117909"/>
            <a:ext cx="124412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>
                <a:solidFill>
                  <a:schemeClr val="bg1"/>
                </a:solidFill>
              </a:rPr>
              <a:t>BSc(hons) Computer Science (Cyber Security)</a:t>
            </a:r>
          </a:p>
        </p:txBody>
      </p:sp>
      <p:cxnSp>
        <p:nvCxnSpPr>
          <p:cNvPr id="1079" name="Straight Arrow Connector 1078">
            <a:extLst>
              <a:ext uri="{FF2B5EF4-FFF2-40B4-BE49-F238E27FC236}">
                <a16:creationId xmlns:a16="http://schemas.microsoft.com/office/drawing/2014/main" id="{10798248-A906-EFAB-2086-E0AC02C1E81D}"/>
              </a:ext>
            </a:extLst>
          </p:cNvPr>
          <p:cNvCxnSpPr>
            <a:cxnSpLocks/>
          </p:cNvCxnSpPr>
          <p:nvPr/>
        </p:nvCxnSpPr>
        <p:spPr>
          <a:xfrm>
            <a:off x="14094549" y="6408143"/>
            <a:ext cx="1947762" cy="0"/>
          </a:xfrm>
          <a:prstGeom prst="straightConnector1">
            <a:avLst/>
          </a:prstGeom>
          <a:ln>
            <a:tailEnd type="triangle"/>
          </a:ln>
          <a:effectLst>
            <a:glow rad="254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1" name="Straight Arrow Connector 1080">
            <a:extLst>
              <a:ext uri="{FF2B5EF4-FFF2-40B4-BE49-F238E27FC236}">
                <a16:creationId xmlns:a16="http://schemas.microsoft.com/office/drawing/2014/main" id="{839F8DF0-1CE7-3D78-8DE7-07E5C42149BB}"/>
              </a:ext>
            </a:extLst>
          </p:cNvPr>
          <p:cNvCxnSpPr>
            <a:cxnSpLocks/>
          </p:cNvCxnSpPr>
          <p:nvPr/>
        </p:nvCxnSpPr>
        <p:spPr>
          <a:xfrm>
            <a:off x="18868863" y="8852985"/>
            <a:ext cx="0" cy="1074303"/>
          </a:xfrm>
          <a:prstGeom prst="straightConnector1">
            <a:avLst/>
          </a:prstGeom>
          <a:ln>
            <a:tailEnd type="triangle"/>
          </a:ln>
          <a:effectLst>
            <a:glow rad="254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3" name="Straight Arrow Connector 1082">
            <a:extLst>
              <a:ext uri="{FF2B5EF4-FFF2-40B4-BE49-F238E27FC236}">
                <a16:creationId xmlns:a16="http://schemas.microsoft.com/office/drawing/2014/main" id="{D67429B9-7E9E-8859-7D85-BADD02DB8B99}"/>
              </a:ext>
            </a:extLst>
          </p:cNvPr>
          <p:cNvCxnSpPr>
            <a:cxnSpLocks/>
          </p:cNvCxnSpPr>
          <p:nvPr/>
        </p:nvCxnSpPr>
        <p:spPr>
          <a:xfrm flipH="1">
            <a:off x="14808849" y="9893999"/>
            <a:ext cx="1450856" cy="0"/>
          </a:xfrm>
          <a:prstGeom prst="straightConnector1">
            <a:avLst/>
          </a:prstGeom>
          <a:ln>
            <a:tailEnd type="triangle"/>
          </a:ln>
          <a:effectLst>
            <a:glow rad="254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5" name="Straight Arrow Connector 1084">
            <a:extLst>
              <a:ext uri="{FF2B5EF4-FFF2-40B4-BE49-F238E27FC236}">
                <a16:creationId xmlns:a16="http://schemas.microsoft.com/office/drawing/2014/main" id="{97DC89D6-2516-6EF1-F0CE-45660BF40613}"/>
              </a:ext>
            </a:extLst>
          </p:cNvPr>
          <p:cNvCxnSpPr>
            <a:cxnSpLocks/>
          </p:cNvCxnSpPr>
          <p:nvPr/>
        </p:nvCxnSpPr>
        <p:spPr>
          <a:xfrm>
            <a:off x="11258828" y="11278933"/>
            <a:ext cx="0" cy="1069824"/>
          </a:xfrm>
          <a:prstGeom prst="straightConnector1">
            <a:avLst/>
          </a:prstGeom>
          <a:ln>
            <a:tailEnd type="triangle"/>
          </a:ln>
          <a:effectLst>
            <a:glow rad="254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89" name="Graphic 1088" descr="Arrow Right with solid fill">
            <a:extLst>
              <a:ext uri="{FF2B5EF4-FFF2-40B4-BE49-F238E27FC236}">
                <a16:creationId xmlns:a16="http://schemas.microsoft.com/office/drawing/2014/main" id="{C5875A70-FEFF-467B-16F9-101B0E988EE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6512780" y="12683831"/>
            <a:ext cx="1180453" cy="1180453"/>
          </a:xfrm>
          <a:prstGeom prst="rect">
            <a:avLst/>
          </a:prstGeom>
        </p:spPr>
      </p:pic>
      <p:pic>
        <p:nvPicPr>
          <p:cNvPr id="1090" name="Graphic 1089" descr="Arrow Right with solid fill">
            <a:extLst>
              <a:ext uri="{FF2B5EF4-FFF2-40B4-BE49-F238E27FC236}">
                <a16:creationId xmlns:a16="http://schemas.microsoft.com/office/drawing/2014/main" id="{8E8173F4-31D8-0625-B7DC-4BDA70690D7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5400000">
            <a:off x="17741591" y="14240981"/>
            <a:ext cx="1045431" cy="1045431"/>
          </a:xfrm>
          <a:prstGeom prst="rect">
            <a:avLst/>
          </a:prstGeom>
        </p:spPr>
      </p:pic>
      <p:pic>
        <p:nvPicPr>
          <p:cNvPr id="1091" name="Graphic 1090" descr="Arrow Right with solid fill">
            <a:extLst>
              <a:ext uri="{FF2B5EF4-FFF2-40B4-BE49-F238E27FC236}">
                <a16:creationId xmlns:a16="http://schemas.microsoft.com/office/drawing/2014/main" id="{084AECA4-E45A-0C80-C4BB-9C3D2FD4BEE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10800000">
            <a:off x="16654490" y="15428304"/>
            <a:ext cx="1090826" cy="1090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1655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219</TotalTime>
  <Words>202</Words>
  <Application>Microsoft Office PowerPoint</Application>
  <PresentationFormat>Custom</PresentationFormat>
  <Paragraphs>66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Arial Nova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matthew fish</dc:creator>
  <cp:lastModifiedBy>matthew fish</cp:lastModifiedBy>
  <cp:revision>18</cp:revision>
  <dcterms:created xsi:type="dcterms:W3CDTF">2026-03-16T10:01:17Z</dcterms:created>
  <dcterms:modified xsi:type="dcterms:W3CDTF">2026-03-17T12:13:28Z</dcterms:modified>
</cp:coreProperties>
</file>