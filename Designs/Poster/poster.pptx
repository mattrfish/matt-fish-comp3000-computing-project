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D1D"/>
    <a:srgbClr val="FF3B3B"/>
    <a:srgbClr val="FF5353"/>
    <a:srgbClr val="000000"/>
    <a:srgbClr val="FFFFFF"/>
    <a:srgbClr val="FF3333"/>
    <a:srgbClr val="06B6D4"/>
    <a:srgbClr val="134E4A"/>
    <a:srgbClr val="F59E0B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205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97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37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4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92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85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40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98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86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8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1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37988-853F-4A76-B621-D8C2E532EA2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42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1128"/>
            </a:gs>
            <a:gs pos="100000">
              <a:srgbClr val="0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24F2EB-9EE3-E00D-D84D-2D5B5FC76C74}"/>
              </a:ext>
            </a:extLst>
          </p:cNvPr>
          <p:cNvSpPr/>
          <p:nvPr/>
        </p:nvSpPr>
        <p:spPr>
          <a:xfrm>
            <a:off x="-1" y="10675"/>
            <a:ext cx="30275213" cy="29989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glow rad="25400">
              <a:schemeClr val="tx2">
                <a:lumMod val="50000"/>
                <a:lumOff val="50000"/>
              </a:scheme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5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76200">
                    <a:schemeClr val="tx2">
                      <a:lumMod val="50000"/>
                      <a:lumOff val="50000"/>
                      <a:alpha val="40000"/>
                    </a:schemeClr>
                  </a:glow>
                </a:effectLst>
                <a:latin typeface="Arial Nova" panose="020B0504020202020204" pitchFamily="34" charset="0"/>
              </a:rPr>
              <a:t>S.I.R.A</a:t>
            </a:r>
            <a:r>
              <a:rPr lang="en-GB" sz="5400" b="1" dirty="0">
                <a:solidFill>
                  <a:srgbClr val="FFFFFF"/>
                </a:solidFill>
                <a:effectLst>
                  <a:glow rad="76200">
                    <a:schemeClr val="tx2">
                      <a:lumMod val="50000"/>
                      <a:lumOff val="50000"/>
                      <a:alpha val="40000"/>
                    </a:schemeClr>
                  </a:glow>
                </a:effectLst>
                <a:latin typeface="Arial Nova" panose="020B0504020202020204" pitchFamily="34" charset="0"/>
              </a:rPr>
              <a:t> </a:t>
            </a:r>
          </a:p>
          <a:p>
            <a:pPr algn="ctr"/>
            <a:r>
              <a:rPr lang="en-GB" sz="6600" b="1" dirty="0">
                <a:solidFill>
                  <a:srgbClr val="FFFFFF"/>
                </a:solidFill>
                <a:effectLst>
                  <a:glow rad="76200">
                    <a:schemeClr val="tx2">
                      <a:lumMod val="50000"/>
                      <a:lumOff val="50000"/>
                      <a:alpha val="40000"/>
                    </a:schemeClr>
                  </a:glow>
                </a:effectLst>
                <a:latin typeface="Arial Nova" panose="020B0504020202020204" pitchFamily="34" charset="0"/>
              </a:rPr>
              <a:t>An AI-Driven Incident Response Dashboard for SMEs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12FC0-214C-6E34-1112-53982FA40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01325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F59E0B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b="1" dirty="0">
              <a:latin typeface="Arial Nova" panose="020B05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056DB-8BE3-C130-0BA7-7D7E008A5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67841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134E4A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A2A9E-B9BB-2FF3-3AD7-80C2B9687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5044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06B6D4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BF67C-2D61-6844-32A5-006E24AB4B6F}"/>
              </a:ext>
            </a:extLst>
          </p:cNvPr>
          <p:cNvSpPr txBox="1"/>
          <p:nvPr/>
        </p:nvSpPr>
        <p:spPr>
          <a:xfrm>
            <a:off x="1287934" y="3252108"/>
            <a:ext cx="7753628" cy="1938992"/>
          </a:xfrm>
          <a:prstGeom prst="rect">
            <a:avLst/>
          </a:prstGeom>
          <a:noFill/>
          <a:effectLst>
            <a:glow rad="25400">
              <a:schemeClr val="tx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BACKGROUND &amp;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F59FE-8125-65A0-8736-88D41CC107F5}"/>
              </a:ext>
            </a:extLst>
          </p:cNvPr>
          <p:cNvSpPr txBox="1"/>
          <p:nvPr/>
        </p:nvSpPr>
        <p:spPr>
          <a:xfrm>
            <a:off x="911824" y="7831506"/>
            <a:ext cx="8792292" cy="6955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SME Challenge </a:t>
            </a:r>
          </a:p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Limited resources &amp; expertise.</a:t>
            </a:r>
            <a:endParaRPr lang="en-GB" sz="4800" b="1" dirty="0">
              <a:solidFill>
                <a:srgbClr val="FF3333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Lack of budget, awareness, and dedicated security staff</a:t>
            </a:r>
            <a:r>
              <a:rPr lang="en-GB" sz="48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Technical alerts are complex &amp; difficult to interpret, leading to delayed responses.</a:t>
            </a:r>
          </a:p>
          <a:p>
            <a:pPr marL="709562" indent="-709562">
              <a:buFont typeface="Arial" panose="020B0604020202020204" pitchFamily="34" charset="0"/>
              <a:buChar char="•"/>
            </a:pPr>
            <a:endParaRPr lang="en-GB" sz="4800" b="1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47DAC-D98A-B718-781E-58CBD1EB587E}"/>
              </a:ext>
            </a:extLst>
          </p:cNvPr>
          <p:cNvSpPr/>
          <p:nvPr/>
        </p:nvSpPr>
        <p:spPr>
          <a:xfrm>
            <a:off x="1364917" y="6868286"/>
            <a:ext cx="8261547" cy="1140567"/>
          </a:xfrm>
          <a:prstGeom prst="rect">
            <a:avLst/>
          </a:prstGeom>
          <a:noFill/>
          <a:effectLst>
            <a:glow rad="127000">
              <a:schemeClr val="bg2">
                <a:lumMod val="25000"/>
              </a:scheme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47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B16D7C-A7FE-C884-1AD6-C6831177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91" y="14113510"/>
            <a:ext cx="3847146" cy="30520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B7D333-0743-961E-39F0-A552D75DD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47" y="14392567"/>
            <a:ext cx="3847146" cy="345397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95D065-336E-93B9-99B9-941E79077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526" y="14751221"/>
            <a:ext cx="4029803" cy="345397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BDB9E6-CD71-A160-FA37-1AFC2ADEC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523" y="15082325"/>
            <a:ext cx="4419195" cy="345397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90D6765E-F16B-82F6-526F-F3386E7C1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9441" y="16254446"/>
            <a:ext cx="1758308" cy="1758308"/>
          </a:xfrm>
          <a:prstGeom prst="rect">
            <a:avLst/>
          </a:prstGeom>
        </p:spPr>
      </p:pic>
      <p:pic>
        <p:nvPicPr>
          <p:cNvPr id="27" name="Graphic 26" descr="Office worker male outline">
            <a:extLst>
              <a:ext uri="{FF2B5EF4-FFF2-40B4-BE49-F238E27FC236}">
                <a16:creationId xmlns:a16="http://schemas.microsoft.com/office/drawing/2014/main" id="{2E1797DF-AD0B-7EB4-97AB-114DAA205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0470" y="14931193"/>
            <a:ext cx="3031708" cy="3031708"/>
          </a:xfrm>
          <a:prstGeom prst="rect">
            <a:avLst/>
          </a:prstGeom>
        </p:spPr>
      </p:pic>
      <p:pic>
        <p:nvPicPr>
          <p:cNvPr id="29" name="Graphic 28" descr="Question Mark with solid fill">
            <a:extLst>
              <a:ext uri="{FF2B5EF4-FFF2-40B4-BE49-F238E27FC236}">
                <a16:creationId xmlns:a16="http://schemas.microsoft.com/office/drawing/2014/main" id="{0AF25086-F73E-A96A-744F-6ADB6A559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43129">
            <a:off x="8370377" y="14878885"/>
            <a:ext cx="1342270" cy="134227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2E2F81D-65D3-5CB9-C125-62464BF64554}"/>
              </a:ext>
            </a:extLst>
          </p:cNvPr>
          <p:cNvSpPr txBox="1"/>
          <p:nvPr/>
        </p:nvSpPr>
        <p:spPr>
          <a:xfrm>
            <a:off x="6147391" y="17750190"/>
            <a:ext cx="3537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+mj-lt"/>
              </a:rPr>
              <a:t>Small business owner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986AA-E30A-F9E4-2525-4ABAA37842DD}"/>
              </a:ext>
            </a:extLst>
          </p:cNvPr>
          <p:cNvSpPr txBox="1"/>
          <p:nvPr/>
        </p:nvSpPr>
        <p:spPr>
          <a:xfrm>
            <a:off x="10950215" y="3201018"/>
            <a:ext cx="83747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+mj-lt"/>
              </a:rPr>
              <a:t>METHODOLOGY &amp; SYSTEM ARCHITECTURE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4BDD632-B22D-CF30-675E-EF80708E63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732" y="16868501"/>
            <a:ext cx="3828891" cy="214417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6727FD0-4FCB-CCA3-7D46-A2629C4914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945" y="15888710"/>
            <a:ext cx="6220797" cy="312397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36D5011-D647-4185-A262-4C2A9E7CDB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093" y="17189018"/>
            <a:ext cx="6114083" cy="2556840"/>
          </a:xfrm>
          <a:prstGeom prst="rect">
            <a:avLst/>
          </a:prstGeom>
        </p:spPr>
      </p:pic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80261347-A8A8-AF87-D77C-C6B6C462DBD8}"/>
              </a:ext>
            </a:extLst>
          </p:cNvPr>
          <p:cNvSpPr/>
          <p:nvPr/>
        </p:nvSpPr>
        <p:spPr>
          <a:xfrm>
            <a:off x="10994588" y="5649297"/>
            <a:ext cx="8393589" cy="19336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25400">
              <a:schemeClr val="tx2">
                <a:lumMod val="50000"/>
                <a:lumOff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</p:txBody>
      </p:sp>
      <p:pic>
        <p:nvPicPr>
          <p:cNvPr id="1029" name="Graphic 1028" descr="Document with solid fill">
            <a:extLst>
              <a:ext uri="{FF2B5EF4-FFF2-40B4-BE49-F238E27FC236}">
                <a16:creationId xmlns:a16="http://schemas.microsoft.com/office/drawing/2014/main" id="{0CED4316-67AA-66AB-561B-9BE9059C3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06564" y="5683637"/>
            <a:ext cx="1303183" cy="1303183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A458C835-B561-F31C-05B1-EFC9028C3038}"/>
              </a:ext>
            </a:extLst>
          </p:cNvPr>
          <p:cNvSpPr txBox="1"/>
          <p:nvPr/>
        </p:nvSpPr>
        <p:spPr>
          <a:xfrm>
            <a:off x="11100904" y="6951078"/>
            <a:ext cx="1954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Raw Logs</a:t>
            </a:r>
          </a:p>
        </p:txBody>
      </p:sp>
      <p:pic>
        <p:nvPicPr>
          <p:cNvPr id="1034" name="Graphic 1033" descr="Filter with solid fill">
            <a:extLst>
              <a:ext uri="{FF2B5EF4-FFF2-40B4-BE49-F238E27FC236}">
                <a16:creationId xmlns:a16="http://schemas.microsoft.com/office/drawing/2014/main" id="{4FEC098A-14B5-5649-CE53-8B9FBC31A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103700" y="5688370"/>
            <a:ext cx="1246364" cy="1246364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F1F424F7-F59A-7326-D0A8-4989A341F7FA}"/>
              </a:ext>
            </a:extLst>
          </p:cNvPr>
          <p:cNvSpPr txBox="1"/>
          <p:nvPr/>
        </p:nvSpPr>
        <p:spPr>
          <a:xfrm>
            <a:off x="13093701" y="6942558"/>
            <a:ext cx="1954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Sanitise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1CB8B43-335A-E5B5-46B5-BEA07AA2F316}"/>
              </a:ext>
            </a:extLst>
          </p:cNvPr>
          <p:cNvSpPr txBox="1"/>
          <p:nvPr/>
        </p:nvSpPr>
        <p:spPr>
          <a:xfrm>
            <a:off x="15086776" y="6943038"/>
            <a:ext cx="2270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AI Analyse</a:t>
            </a:r>
          </a:p>
        </p:txBody>
      </p:sp>
      <p:pic>
        <p:nvPicPr>
          <p:cNvPr id="1039" name="Graphic 1038" descr="Artificial Intelligence with solid fill">
            <a:extLst>
              <a:ext uri="{FF2B5EF4-FFF2-40B4-BE49-F238E27FC236}">
                <a16:creationId xmlns:a16="http://schemas.microsoft.com/office/drawing/2014/main" id="{7E8DAE73-E151-C54A-B146-66E0720F1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367718" y="5665302"/>
            <a:ext cx="1303183" cy="1303183"/>
          </a:xfrm>
          <a:prstGeom prst="rect">
            <a:avLst/>
          </a:prstGeom>
        </p:spPr>
      </p:pic>
      <p:pic>
        <p:nvPicPr>
          <p:cNvPr id="1042" name="Graphic 1041" descr="Periodic Graph with solid fill">
            <a:extLst>
              <a:ext uri="{FF2B5EF4-FFF2-40B4-BE49-F238E27FC236}">
                <a16:creationId xmlns:a16="http://schemas.microsoft.com/office/drawing/2014/main" id="{2A258A46-703B-5535-138A-D208A0355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833740" y="5649297"/>
            <a:ext cx="1480960" cy="1480960"/>
          </a:xfrm>
          <a:prstGeom prst="rect">
            <a:avLst/>
          </a:prstGeom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3F6F2A8C-60FC-D9CE-FEF0-79EA85CB67FB}"/>
              </a:ext>
            </a:extLst>
          </p:cNvPr>
          <p:cNvSpPr txBox="1"/>
          <p:nvPr/>
        </p:nvSpPr>
        <p:spPr>
          <a:xfrm>
            <a:off x="17655758" y="7000032"/>
            <a:ext cx="2270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Visualize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3319443F-0B9B-B354-048F-0A2DFE7361CC}"/>
              </a:ext>
            </a:extLst>
          </p:cNvPr>
          <p:cNvSpPr txBox="1"/>
          <p:nvPr/>
        </p:nvSpPr>
        <p:spPr>
          <a:xfrm>
            <a:off x="10806286" y="8182179"/>
            <a:ext cx="8801086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Privacy:</a:t>
            </a:r>
            <a:r>
              <a:rPr lang="en-GB" sz="4800" dirty="0">
                <a:solidFill>
                  <a:schemeClr val="bg1"/>
                </a:solidFill>
              </a:rPr>
              <a:t> Local regex sanitisation prevents sensitive data leaks to external APIs.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Security: </a:t>
            </a:r>
            <a:r>
              <a:rPr lang="en-GB" sz="4800" dirty="0">
                <a:solidFill>
                  <a:schemeClr val="bg1"/>
                </a:solidFill>
              </a:rPr>
              <a:t>Fernet AES encryption guarantees secure database storage and payload transit.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Adaptation: </a:t>
            </a:r>
            <a:r>
              <a:rPr lang="en-GB" sz="4800" dirty="0">
                <a:solidFill>
                  <a:schemeClr val="bg1"/>
                </a:solidFill>
              </a:rPr>
              <a:t>Dynamic persona prompting tailors AI responses specifically for SME skill levels.</a:t>
            </a:r>
            <a:endParaRPr lang="en-GB" sz="4800" b="1" dirty="0">
              <a:solidFill>
                <a:schemeClr val="bg1"/>
              </a:solidFill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6770614-B8ED-BB31-86E3-72E195B47A91}"/>
              </a:ext>
            </a:extLst>
          </p:cNvPr>
          <p:cNvSpPr txBox="1"/>
          <p:nvPr/>
        </p:nvSpPr>
        <p:spPr>
          <a:xfrm>
            <a:off x="20669251" y="3185321"/>
            <a:ext cx="87879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+mj-lt"/>
              </a:rPr>
              <a:t>IMPLEMENTATION &amp; RESULTS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80CA4B21-D6B6-A249-06EF-D72A8A91A0E5}"/>
              </a:ext>
            </a:extLst>
          </p:cNvPr>
          <p:cNvSpPr txBox="1"/>
          <p:nvPr/>
        </p:nvSpPr>
        <p:spPr>
          <a:xfrm>
            <a:off x="20725454" y="10158003"/>
            <a:ext cx="8443078" cy="9959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740" indent="-42574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Expertise Bridge:</a:t>
            </a:r>
            <a:r>
              <a:rPr lang="en-GB" sz="4800" dirty="0">
                <a:solidFill>
                  <a:schemeClr val="bg1"/>
                </a:solidFill>
              </a:rPr>
              <a:t> Translates complex security alerts into plain English.</a:t>
            </a:r>
          </a:p>
          <a:p>
            <a:pPr marL="425740" indent="-42574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Response Clarity:</a:t>
            </a:r>
            <a:r>
              <a:rPr lang="en-GB" sz="4800" dirty="0">
                <a:solidFill>
                  <a:schemeClr val="bg1"/>
                </a:solidFill>
              </a:rPr>
              <a:t> Provides clear, step-by-step instructions to contain active threats.</a:t>
            </a:r>
          </a:p>
          <a:p>
            <a:pPr marL="425740" indent="-425740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chemeClr val="bg1"/>
                </a:solidFill>
              </a:rPr>
              <a:t>Awareness Training:</a:t>
            </a:r>
            <a:r>
              <a:rPr lang="en-GB" sz="4800" dirty="0">
                <a:solidFill>
                  <a:schemeClr val="bg1"/>
                </a:solidFill>
              </a:rPr>
              <a:t> Transforms security incidents into real-world staff learning opportunities.</a:t>
            </a:r>
          </a:p>
          <a:p>
            <a:pPr marL="425740" indent="-425740">
              <a:buFont typeface="Arial" panose="020B0604020202020204" pitchFamily="34" charset="0"/>
              <a:buChar char="•"/>
            </a:pPr>
            <a:endParaRPr lang="en-GB" sz="4800" dirty="0">
              <a:solidFill>
                <a:schemeClr val="bg1"/>
              </a:solidFill>
            </a:endParaRPr>
          </a:p>
          <a:p>
            <a:pPr marL="425740" indent="-425740">
              <a:buFont typeface="Arial" panose="020B0604020202020204" pitchFamily="34" charset="0"/>
              <a:buChar char="•"/>
            </a:pP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6BAD7DED-F0DB-612E-6993-BCDCB2AA2EC9}"/>
              </a:ext>
            </a:extLst>
          </p:cNvPr>
          <p:cNvSpPr/>
          <p:nvPr/>
        </p:nvSpPr>
        <p:spPr>
          <a:xfrm>
            <a:off x="-316523" y="19469442"/>
            <a:ext cx="30591736" cy="19671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1987"/>
              </a:spcAft>
            </a:pPr>
            <a:endParaRPr lang="en-GB" sz="1212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27750DD9-0FF1-0BC6-B245-3C0815D51947}"/>
              </a:ext>
            </a:extLst>
          </p:cNvPr>
          <p:cNvSpPr txBox="1"/>
          <p:nvPr/>
        </p:nvSpPr>
        <p:spPr>
          <a:xfrm>
            <a:off x="274811" y="19607848"/>
            <a:ext cx="546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Matthew Fish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95E09BC8-F425-1DAE-A6CA-A0A2DCB2FD57}"/>
              </a:ext>
            </a:extLst>
          </p:cNvPr>
          <p:cNvSpPr txBox="1"/>
          <p:nvPr/>
        </p:nvSpPr>
        <p:spPr>
          <a:xfrm>
            <a:off x="274811" y="20406819"/>
            <a:ext cx="120058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Matthew.fish@students.plymouth.ac.uk</a:t>
            </a:r>
          </a:p>
        </p:txBody>
      </p:sp>
      <p:pic>
        <p:nvPicPr>
          <p:cNvPr id="1075" name="Picture 1074" descr="University of Plymouth - PenPostgrad">
            <a:extLst>
              <a:ext uri="{FF2B5EF4-FFF2-40B4-BE49-F238E27FC236}">
                <a16:creationId xmlns:a16="http://schemas.microsoft.com/office/drawing/2014/main" id="{6345EBFE-A830-6E63-407B-4E1EE5AAC7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018780" y="19266140"/>
            <a:ext cx="8057899" cy="2472981"/>
          </a:xfrm>
          <a:prstGeom prst="rect">
            <a:avLst/>
          </a:prstGeom>
        </p:spPr>
      </p:pic>
      <p:sp>
        <p:nvSpPr>
          <p:cNvPr id="1077" name="TextBox 1076">
            <a:extLst>
              <a:ext uri="{FF2B5EF4-FFF2-40B4-BE49-F238E27FC236}">
                <a16:creationId xmlns:a16="http://schemas.microsoft.com/office/drawing/2014/main" id="{2D51D4EC-E772-A2DF-16FA-D01E938BB8C3}"/>
              </a:ext>
            </a:extLst>
          </p:cNvPr>
          <p:cNvSpPr txBox="1"/>
          <p:nvPr/>
        </p:nvSpPr>
        <p:spPr>
          <a:xfrm>
            <a:off x="10573800" y="20117909"/>
            <a:ext cx="124412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BSc(hons) Computer Science (Cyber Security)</a:t>
            </a:r>
          </a:p>
        </p:txBody>
      </p:sp>
      <p:pic>
        <p:nvPicPr>
          <p:cNvPr id="1089" name="Graphic 1088" descr="Arrow Right with solid fill">
            <a:extLst>
              <a:ext uri="{FF2B5EF4-FFF2-40B4-BE49-F238E27FC236}">
                <a16:creationId xmlns:a16="http://schemas.microsoft.com/office/drawing/2014/main" id="{C5875A70-FEFF-467B-16F9-101B0E988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035496" y="5738100"/>
            <a:ext cx="1180453" cy="1180453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6D990434-29CC-4496-4474-711113CB1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102945" y="5775680"/>
            <a:ext cx="1180453" cy="1180453"/>
          </a:xfrm>
          <a:prstGeom prst="rect">
            <a:avLst/>
          </a:prstGeom>
        </p:spPr>
      </p:pic>
      <p:pic>
        <p:nvPicPr>
          <p:cNvPr id="18" name="Graphic 17" descr="Arrow Right with solid fill">
            <a:extLst>
              <a:ext uri="{FF2B5EF4-FFF2-40B4-BE49-F238E27FC236}">
                <a16:creationId xmlns:a16="http://schemas.microsoft.com/office/drawing/2014/main" id="{DF297AE8-780E-4D48-3174-631D6BD4D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635983" y="5784349"/>
            <a:ext cx="1180453" cy="11804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FC0E492-0806-8095-DF86-56EB876D5138}"/>
              </a:ext>
            </a:extLst>
          </p:cNvPr>
          <p:cNvSpPr txBox="1"/>
          <p:nvPr/>
        </p:nvSpPr>
        <p:spPr>
          <a:xfrm>
            <a:off x="1621733" y="5197284"/>
            <a:ext cx="74726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FF1D1D"/>
                </a:solidFill>
              </a:rPr>
              <a:t>59% </a:t>
            </a:r>
            <a:r>
              <a:rPr lang="en-GB" sz="4800" dirty="0">
                <a:solidFill>
                  <a:srgbClr val="FF1D1D"/>
                </a:solidFill>
              </a:rPr>
              <a:t>of SMEs experienced </a:t>
            </a:r>
            <a:r>
              <a:rPr lang="en-GB" sz="4800" b="1" dirty="0">
                <a:solidFill>
                  <a:srgbClr val="FF1D1D"/>
                </a:solidFill>
              </a:rPr>
              <a:t>a cyber-attack</a:t>
            </a:r>
            <a:r>
              <a:rPr lang="en-GB" sz="4800" dirty="0">
                <a:solidFill>
                  <a:srgbClr val="FF1D1D"/>
                </a:solidFill>
              </a:rPr>
              <a:t> in the last 12 months (HISCOX 2025).</a:t>
            </a:r>
          </a:p>
          <a:p>
            <a:endParaRPr lang="en-GB" sz="4800" dirty="0">
              <a:solidFill>
                <a:srgbClr val="FF1D1D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9FAA3D-AE78-C9B0-FDA9-CAEDBB6849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374" y="16854177"/>
            <a:ext cx="2086811" cy="18423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3E4EB61-C73C-FC26-531C-732C456977A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6442" y="5561096"/>
            <a:ext cx="8592014" cy="3676610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4816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</TotalTime>
  <Words>180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Nova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fish</dc:creator>
  <cp:lastModifiedBy>matthew fish</cp:lastModifiedBy>
  <cp:revision>31</cp:revision>
  <dcterms:created xsi:type="dcterms:W3CDTF">2026-03-16T10:01:17Z</dcterms:created>
  <dcterms:modified xsi:type="dcterms:W3CDTF">2026-04-11T15:21:10Z</dcterms:modified>
</cp:coreProperties>
</file>