
<file path=[Content_Types].xml><?xml version="1.0" encoding="utf-8"?>
<Types xmlns="http://schemas.openxmlformats.org/package/2006/content-types">
  <Default Extension="png" ContentType="image/png"/>
  <Default Extension="rels" ContentType="application/vnd.openxmlformats-package.relationships+xml"/>
  <Default Extension="xml" ContentType="application/xml"/>
  <Override PartName="/ppt/presentation.xml" ContentType="application/vnd.openxmlformats-officedocument.presentationml.presentation.main+xml"/>
  <Override PartName="/ppt/slideMasters/slideMaster1.xml" ContentType="application/vnd.openxmlformats-officedocument.presentationml.slideMaster+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notesMasters/notesMaster1.xml" ContentType="application/vnd.openxmlformats-officedocument.presentationml.notesMaster+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theme/theme2.xml" ContentType="application/vnd.openxmlformats-officedocument.theme+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Relationship Id="rId3" Type="http://schemas.openxmlformats.org/officeDocument/2006/relationships/extended-properties" Target="docProps/app.xml"/><Relationship Id="rId2" Type="http://schemas.openxmlformats.org/package/2006/relationships/metadata/core-properties" Target="docProps/core.xml"/><Relationship Id="rId1" Type="http://schemas.openxmlformats.org/officeDocument/2006/relationships/officeDocument" Target="ppt/presentation.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notesMasterIdLst>
    <p:notesMasterId r:id="rId10"/>
  </p:notesMasterIdLst>
  <p:sldIdLst>
    <p:sldId id="256" r:id="rId2"/>
    <p:sldId id="257" r:id="rId3"/>
    <p:sldId id="258" r:id="rId4"/>
    <p:sldId id="259" r:id="rId5"/>
    <p:sldId id="260" r:id="rId6"/>
    <p:sldId id="261" r:id="rId7"/>
    <p:sldId id="262" r:id="rId8"/>
    <p:sldId id="263" r:id="rId9"/>
  </p:sldIdLst>
  <p:sldSz cx="9144000" cy="5143500" type="screen16x9"/>
  <p:notesSz cx="5143500" cy="9144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extLst>
    <p:ext uri="{EFAFB233-063F-42B5-8137-9DF3F51BA10A}">
      <p15:sldGuideLst xmlns:p15="http://schemas.microsoft.com/office/powerpoint/2012/main"/>
    </p:ext>
  </p:extLst>
</p:presentation>
</file>

<file path=ppt/presProps.xml><?xml version="1.0" encoding="utf-8"?>
<p:presentationPr xmlns:a="http://schemas.openxmlformats.org/drawingml/2006/main" xmlns:r="http://schemas.openxmlformats.org/officeDocument/2006/relationships" xmlns:p="http://schemas.openxmlformats.org/presentationml/2006/main">
  <p:showPr showNarration="1">
    <p:present/>
    <p:sldAll/>
    <p:penClr>
      <a:prstClr val="red"/>
    </p:penClr>
    <p:extLst>
      <p:ext uri="{EC167BDD-8182-4AB7-AECC-EB403E3ABB37}">
        <p14:laserClr xmlns:p14="http://schemas.microsoft.com/office/powerpoint/2010/main">
          <a:srgbClr val="FF0000"/>
        </p14:laserClr>
      </p:ext>
      <p:ext uri="{2FDB2607-1784-4EEB-B798-7EB5836EED8A}">
        <p14:showMediaCtrls xmlns:p14="http://schemas.microsoft.com/office/powerpoint/2010/main" val="1"/>
      </p:ext>
    </p:extLst>
  </p:showPr>
  <p:extLst>
    <p:ext uri="{E76CE94A-603C-4142-B9EB-6D1370010A27}">
      <p14:discardImageEditData xmlns:p14="http://schemas.microsoft.com/office/powerpoint/2010/main" val="0"/>
    </p:ext>
    <p:ext uri="{D31A062A-798A-4329-ABDD-BBA856620510}">
      <p14:defaultImageDpi xmlns:p14="http://schemas.microsoft.com/office/powerpoint/2010/main" val="220"/>
    </p:ext>
    <p:ext uri="{FD5EFAAD-0ECE-453E-9831-46B23BE46B34}">
      <p15:chartTrackingRefBased xmlns:p15="http://schemas.microsoft.com/office/powerpoint/2012/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lastView="sldThumbnailView">
  <p:normalViewPr>
    <p:restoredLeft sz="15611"/>
    <p:restoredTop sz="64891" autoAdjust="0"/>
  </p:normalViewPr>
  <p:slideViewPr>
    <p:cSldViewPr snapToGrid="0" snapToObjects="1">
      <p:cViewPr varScale="1">
        <p:scale>
          <a:sx n="95" d="100"/>
          <a:sy n="95" d="100"/>
        </p:scale>
        <p:origin x="2064" y="7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8" Type="http://schemas.openxmlformats.org/officeDocument/2006/relationships/slide" Target="slides/slide7.xml"/><Relationship Id="rId13" Type="http://schemas.openxmlformats.org/officeDocument/2006/relationships/theme" Target="theme/theme1.xml"/><Relationship Id="rId3" Type="http://schemas.openxmlformats.org/officeDocument/2006/relationships/slide" Target="slides/slide2.xml"/><Relationship Id="rId7" Type="http://schemas.openxmlformats.org/officeDocument/2006/relationships/slide" Target="slides/slide6.xml"/><Relationship Id="rId12" Type="http://schemas.openxmlformats.org/officeDocument/2006/relationships/viewProps" Target="viewProps.xml"/><Relationship Id="rId2" Type="http://schemas.openxmlformats.org/officeDocument/2006/relationships/slide" Target="slides/slide1.xml"/><Relationship Id="rId1" Type="http://schemas.openxmlformats.org/officeDocument/2006/relationships/slideMaster" Target="slideMasters/slideMaster1.xml"/><Relationship Id="rId6" Type="http://schemas.openxmlformats.org/officeDocument/2006/relationships/slide" Target="slides/slide5.xml"/><Relationship Id="rId11" Type="http://schemas.openxmlformats.org/officeDocument/2006/relationships/presProps" Target="presProps.xml"/><Relationship Id="rId5" Type="http://schemas.openxmlformats.org/officeDocument/2006/relationships/slide" Target="slides/slide4.xml"/><Relationship Id="rId10" Type="http://schemas.openxmlformats.org/officeDocument/2006/relationships/notesMaster" Target="notesMasters/notesMaster1.xml"/><Relationship Id="rId4" Type="http://schemas.openxmlformats.org/officeDocument/2006/relationships/slide" Target="slides/slide3.xml"/><Relationship Id="rId9" Type="http://schemas.openxmlformats.org/officeDocument/2006/relationships/slide" Target="slides/slide8.xml"/><Relationship Id="rId14" Type="http://schemas.openxmlformats.org/officeDocument/2006/relationships/tableStyles" Target="tableStyles.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Tree>
    <p:extLst>
      <p:ext uri="{BB962C8B-B14F-4D97-AF65-F5344CB8AC3E}">
        <p14:creationId xmlns:p14="http://schemas.microsoft.com/office/powerpoint/2010/main" val="1012447299"/>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2" Type="http://schemas.openxmlformats.org/officeDocument/2006/relationships/slide" Target="../slides/slide1.xml"/><Relationship Id="rId1" Type="http://schemas.openxmlformats.org/officeDocument/2006/relationships/notesMaster" Target="../notesMasters/notesMaster1.xml"/></Relationships>
</file>

<file path=ppt/notesSlides/_rels/notesSlide2.xml.rels><?xml version="1.0" encoding="UTF-8" standalone="yes"?>
<Relationships xmlns="http://schemas.openxmlformats.org/package/2006/relationships"><Relationship Id="rId2" Type="http://schemas.openxmlformats.org/officeDocument/2006/relationships/slide" Target="../slides/slide2.xml"/><Relationship Id="rId1" Type="http://schemas.openxmlformats.org/officeDocument/2006/relationships/notesMaster" Target="../notesMasters/notesMaster1.xml"/></Relationships>
</file>

<file path=ppt/notesSlides/_rels/notesSlide3.xml.rels><?xml version="1.0" encoding="UTF-8" standalone="yes"?>
<Relationships xmlns="http://schemas.openxmlformats.org/package/2006/relationships"><Relationship Id="rId2" Type="http://schemas.openxmlformats.org/officeDocument/2006/relationships/slide" Target="../slides/slide3.xml"/><Relationship Id="rId1" Type="http://schemas.openxmlformats.org/officeDocument/2006/relationships/notesMaster" Target="../notesMasters/notesMaster1.xml"/></Relationships>
</file>

<file path=ppt/notesSlides/_rels/notesSlide4.xml.rels><?xml version="1.0" encoding="UTF-8" standalone="yes"?>
<Relationships xmlns="http://schemas.openxmlformats.org/package/2006/relationships"><Relationship Id="rId2" Type="http://schemas.openxmlformats.org/officeDocument/2006/relationships/slide" Target="../slides/slide4.xml"/><Relationship Id="rId1" Type="http://schemas.openxmlformats.org/officeDocument/2006/relationships/notesMaster" Target="../notesMasters/notesMaster1.xml"/></Relationships>
</file>

<file path=ppt/notesSlides/_rels/notesSlide5.xml.rels><?xml version="1.0" encoding="UTF-8" standalone="yes"?>
<Relationships xmlns="http://schemas.openxmlformats.org/package/2006/relationships"><Relationship Id="rId2" Type="http://schemas.openxmlformats.org/officeDocument/2006/relationships/slide" Target="../slides/slide5.xml"/><Relationship Id="rId1" Type="http://schemas.openxmlformats.org/officeDocument/2006/relationships/notesMaster" Target="../notesMasters/notesMaster1.xml"/></Relationships>
</file>

<file path=ppt/notesSlides/_rels/notesSlide6.xml.rels><?xml version="1.0" encoding="UTF-8" standalone="yes"?>
<Relationships xmlns="http://schemas.openxmlformats.org/package/2006/relationships"><Relationship Id="rId2" Type="http://schemas.openxmlformats.org/officeDocument/2006/relationships/slide" Target="../slides/slide6.xml"/><Relationship Id="rId1" Type="http://schemas.openxmlformats.org/officeDocument/2006/relationships/notesMaster" Target="../notesMasters/notesMaster1.xml"/></Relationships>
</file>

<file path=ppt/notesSlides/_rels/notesSlide7.xml.rels><?xml version="1.0" encoding="UTF-8" standalone="yes"?>
<Relationships xmlns="http://schemas.openxmlformats.org/package/2006/relationships"><Relationship Id="rId2" Type="http://schemas.openxmlformats.org/officeDocument/2006/relationships/slide" Target="../slides/slide7.xml"/><Relationship Id="rId1" Type="http://schemas.openxmlformats.org/officeDocument/2006/relationships/notesMaster" Target="../notesMasters/notesMaster1.xml"/></Relationships>
</file>

<file path=ppt/notesSlides/_rels/notesSlide8.xml.rels><?xml version="1.0" encoding="UTF-8" standalone="yes"?>
<Relationships xmlns="http://schemas.openxmlformats.org/package/2006/relationships"><Relationship Id="rId2" Type="http://schemas.openxmlformats.org/officeDocument/2006/relationships/slide" Target="../slides/slide8.xml"/><Relationship Id="rId1" Type="http://schemas.openxmlformats.org/officeDocument/2006/relationships/notesMaster" Target="../notesMasters/notesMaster1.xml"/></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GB" dirty="0"/>
              <a:t>Before diving into the dashboard, it’s important to understand the landscape SMEs are operating in. They are heavily targeted right now—59% were attacked in a single 12-month period, costing an average of $3.9 million.</a:t>
            </a:r>
          </a:p>
          <a:p>
            <a:r>
              <a:rPr lang="en-GB" dirty="0"/>
              <a:t>Currently, the market fails SMEs in two ways. First, there is a massive awareness gap; many standard business owners simply don't know they need a security posture until it's too late. Second, for those who are proactive and try to defend themselves, they are forced to rely on free intrusion detection systems because they can't afford a real Security Operations Centre.</a:t>
            </a:r>
          </a:p>
          <a:p>
            <a:r>
              <a:rPr lang="en-GB" dirty="0"/>
              <a:t>The problem is that these free tools spit out walls of highly technical telemetry. The average SME owner doesn't know what to do with that data. It creates alert fatigue, the alerts get ignored, and the business remains vulnerable. S.I.R.A. solves this by acting as an automated translator between those complex tools and the non-technical user.</a:t>
            </a:r>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GB" dirty="0"/>
              <a:t>To solve this, I built S.I.R.A.—the Security Incident Response Assistant. Instead of staring at messy logs, S.I.R.A. intercepts those alerts and uses an AI Large Language Model to translate them into plain English. It doesn't just tell the user there is a problem; it provides a custom, step-by-step mitigation playbook tailored specifically to their technical skill level.</a:t>
            </a:r>
          </a:p>
          <a:p>
            <a:endParaRPr lang="en-GB" dirty="0"/>
          </a:p>
          <a:p>
            <a:r>
              <a:rPr lang="en-GB" dirty="0"/>
              <a:t>To really understand its value, we have to look at what else is out there. If an SME wants to solve this today, their options are severely limited. They could buy an enterprise SIEM like Splunk, which is incredibly expensive. They could rely purely on free tools like Suricata, but that just leaves them with raw, unreadable logs. Or, they could hire an analyst for a manual review, which eats up 4 to 8 hours of expensive labour per day.</a:t>
            </a:r>
          </a:p>
          <a:p>
            <a:r>
              <a:rPr lang="en-GB" dirty="0"/>
              <a:t>S.I.R.A. sits perfectly in the middle—acting as an affordable, automated virtual security assistant for businesses that simply can't afford a real one.</a:t>
            </a:r>
          </a:p>
          <a:p>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GB" dirty="0"/>
              <a:t>Now that you understand what S.I.R.A. aims to do, here is a high-level look at how it actually works under the hood.</a:t>
            </a:r>
          </a:p>
          <a:p>
            <a:r>
              <a:rPr lang="en-GB" dirty="0"/>
              <a:t>When creating S.I.R.A, I had to consider security before design and development even began. My absolute first priority was ensuring GDPR compliance. I knew I couldn't just pass raw telemetry to a cloud LLM, so privacy dictated the entire architecture.</a:t>
            </a:r>
          </a:p>
          <a:p>
            <a:endParaRPr lang="en-GB" dirty="0"/>
          </a:p>
          <a:p>
            <a:r>
              <a:rPr lang="en-GB" dirty="0"/>
              <a:t>The pipeline starts on the left. A Python watcher continuously monitors a local folder for new system and network alerts. Before anything leaves the local environment, the system uses Regex to scrub sensitive PII. To prevent alert fatigue, I also implemented a custom 'Threat Class'. This evaluates the logs and strips out harmless background noise. That noise is still cleaned and saved locally as a JSON file for complete record-keeping, but it is blocked from clogging up the cloud database or distracting the analyst.</a:t>
            </a:r>
          </a:p>
          <a:p>
            <a:r>
              <a:rPr lang="en-GB" dirty="0"/>
              <a:t>The filtered, cleaned threat data is then securely batched and sent to Google Gemini, which acts as our translation engine.</a:t>
            </a:r>
          </a:p>
          <a:p>
            <a:endParaRPr lang="en-GB" dirty="0"/>
          </a:p>
          <a:p>
            <a:r>
              <a:rPr lang="en-GB" dirty="0"/>
              <a:t>Once the AI generates the mitigation playbook, we don't just dump it into the database. To protect the data at rest, the sensitive text is encrypted using AES-128 before being stored in Firebase.</a:t>
            </a:r>
          </a:p>
          <a:p>
            <a:r>
              <a:rPr lang="en-GB" dirty="0"/>
              <a:t>Finally, on the right side, we have our </a:t>
            </a:r>
            <a:r>
              <a:rPr lang="en-GB" dirty="0" err="1"/>
              <a:t>FastAPI</a:t>
            </a:r>
            <a:r>
              <a:rPr lang="en-GB" dirty="0"/>
              <a:t> middleman. This decrypts the data and uses a caching system to serve the results in real-time to the React dashboard. However, because this API handles decryption, securing it became a massive priority. To prevent unauthorised database access from a browser, I implemented a strict API key header constraint. If a request is missing that key, the API completely blocks access and throws a 403 Forbidden error, ensuring the whole pipeline remains secure from end to end.</a:t>
            </a:r>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GB" dirty="0"/>
              <a:t>For the architecture of S.I.R.A, every technology choice was weighed against the specific limitations of an SME.</a:t>
            </a:r>
          </a:p>
          <a:p>
            <a:r>
              <a:rPr lang="en-GB" dirty="0"/>
              <a:t>Starting with the database: my original plan was to use PostgreSQL. However, I pivoted to Firebase </a:t>
            </a:r>
            <a:r>
              <a:rPr lang="en-GB" dirty="0" err="1"/>
              <a:t>Firestore</a:t>
            </a:r>
            <a:r>
              <a:rPr lang="en-GB" dirty="0"/>
              <a:t>. The key reason was its built-in </a:t>
            </a:r>
            <a:r>
              <a:rPr lang="en-GB" sz="1200" kern="1200" dirty="0" err="1">
                <a:solidFill>
                  <a:schemeClr val="tx1"/>
                </a:solidFill>
                <a:latin typeface="+mn-lt"/>
                <a:ea typeface="+mn-ea"/>
                <a:cs typeface="+mn-cs"/>
              </a:rPr>
              <a:t>on_snapshot</a:t>
            </a:r>
            <a:r>
              <a:rPr lang="en-GB" dirty="0"/>
              <a:t> listeners. This gave me real-time UI updates without having to engineer a custom WebSocket server from scratch, drastically reducing infrastructure complexity. But to offer an honest critique: because it's NoSQL, complex relational queries—like filtering incidents by a specific subnet and an assigned analyst at the same time—are very difficult. For version two, I would definitely migrate back to a relational database.</a:t>
            </a:r>
          </a:p>
          <a:p>
            <a:r>
              <a:rPr lang="en-GB" dirty="0"/>
              <a:t>For the backend, I chose </a:t>
            </a:r>
            <a:r>
              <a:rPr lang="en-GB" dirty="0" err="1"/>
              <a:t>FastAPI</a:t>
            </a:r>
            <a:r>
              <a:rPr lang="en-GB" dirty="0"/>
              <a:t> over Flask or Django. The native </a:t>
            </a:r>
            <a:r>
              <a:rPr lang="en-GB" sz="1200" kern="1200" dirty="0">
                <a:solidFill>
                  <a:schemeClr val="tx1"/>
                </a:solidFill>
                <a:latin typeface="+mn-lt"/>
                <a:ea typeface="+mn-ea"/>
                <a:cs typeface="+mn-cs"/>
              </a:rPr>
              <a:t>async</a:t>
            </a:r>
            <a:r>
              <a:rPr lang="en-GB" dirty="0"/>
              <a:t> support was absolutely essential so the server wouldn't block while waiting for the AI to respond. Paired with </a:t>
            </a:r>
            <a:r>
              <a:rPr lang="en-GB" dirty="0" err="1"/>
              <a:t>Pydantic</a:t>
            </a:r>
            <a:r>
              <a:rPr lang="en-GB" dirty="0"/>
              <a:t> for strict data validation, it made building a secure API much faster.</a:t>
            </a:r>
          </a:p>
          <a:p>
            <a:r>
              <a:rPr lang="en-GB" dirty="0"/>
              <a:t>On the frontend, I used React with TypeScript. Plain HTML and JavaScript wouldn't suffice here. React allowed me to reuse components like the </a:t>
            </a:r>
            <a:r>
              <a:rPr lang="en-GB" dirty="0" err="1"/>
              <a:t>StatCards</a:t>
            </a:r>
            <a:r>
              <a:rPr lang="en-GB" dirty="0"/>
              <a:t> and integrate the Recharts library seamlessly, while TypeScript ensured type safety across a growing codebase.</a:t>
            </a:r>
          </a:p>
          <a:p>
            <a:r>
              <a:rPr lang="en-GB" dirty="0"/>
              <a:t>For the AI engine, I used Gemini 1.5 Flash-Lite. I originally considered running a local model like Llama 3 for maximum privacy, but I had to rule it out—SMEs simply do not have the expensive GPU hardware required to run it. Gemini's free tier was perfect for the prototype, though at scale, I would re-evaluate GPT-4 for potentially stronger summarisation.</a:t>
            </a:r>
          </a:p>
          <a:p>
            <a:r>
              <a:rPr lang="en-GB" dirty="0"/>
              <a:t>Finally, for data security at rest, I implemented AES-128 encryption using Fernet. I couldn't use something like </a:t>
            </a:r>
            <a:r>
              <a:rPr lang="en-GB" dirty="0" err="1"/>
              <a:t>bcrypt</a:t>
            </a:r>
            <a:r>
              <a:rPr lang="en-GB" dirty="0"/>
              <a:t>, because that is a one-way hash, and we need to decrypt the data to read it. AES provides authenticated encryption, meaning the data cannot be silently tampered with. My honest critique here is that the symmetric key is currently stored in a local environment variable. For a production environment, I would upgrade this to a dedicated Key Management Service, like AWS KMS, to ensure enterprise-grade key rotation and security.</a:t>
            </a:r>
          </a:p>
          <a:p>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GB" dirty="0"/>
              <a:t>During the testing phase, I discovered two major architectural bottlenecks that would have made this system completely unviable for a business to run.</a:t>
            </a:r>
          </a:p>
          <a:p>
            <a:r>
              <a:rPr lang="en-GB" dirty="0"/>
              <a:t>The first was database quota exhaustion. Initially, the React frontend was reading directly from </a:t>
            </a:r>
            <a:r>
              <a:rPr lang="en-GB" dirty="0" err="1"/>
              <a:t>Firestore</a:t>
            </a:r>
            <a:r>
              <a:rPr lang="en-GB" dirty="0"/>
              <a:t>. During stress testing, the free-tier quota of 50,000 reads per day was maxed out in just a few hours. To fix this, I engineered a solution called '</a:t>
            </a:r>
            <a:r>
              <a:rPr lang="en-GB" dirty="0" err="1"/>
              <a:t>PyCache</a:t>
            </a:r>
            <a:r>
              <a:rPr lang="en-GB" dirty="0"/>
              <a:t>'. I replaced all frontend database queries with a Python in-memory RAM cache. Now, a single background listener keeps Python updated, and the React dashboard reads exclusively from that local RAM. The result was massive: database reads per user request dropped to zero, and dashboard latency improved significantly.</a:t>
            </a:r>
          </a:p>
          <a:p>
            <a:r>
              <a:rPr lang="en-GB" dirty="0"/>
              <a:t>The second bottleneck was the AI API. Originally, I was calling Google Gemini once per log line. When I simulated a 500-event burst, it fired 500 individual API calls, immediately triggering HTTP 429 Rate Limit errors and crashing the pipeline. To solve this, I built a UUID Batch Queue. Logs are buffered in-memory up to 50 lines per batch. The system makes one single API call for the whole batch, and uses unique UUIDs to map the AI's bulk response back to the individual incidents in the database.</a:t>
            </a:r>
          </a:p>
          <a:p>
            <a:r>
              <a:rPr lang="en-GB" dirty="0"/>
              <a:t>By combining this with a 60-second delay between calls, API requests went from hundreds per minute down to roughly one per batch, resulting in zero rejected requests and 100% data retention during my final stress tests.</a:t>
            </a:r>
          </a:p>
          <a:p>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GB" dirty="0"/>
              <a:t>To conclude, I want to critically evaluate the current state of S.I.R.A and outline exactly how the architecture must evolve to reach true enterprise readiness.</a:t>
            </a:r>
          </a:p>
          <a:p>
            <a:r>
              <a:rPr lang="en-GB" dirty="0"/>
              <a:t>During integration testing, I identified a significant limitation regarding authentication. Network inspection revealed that the Firebase API key is currently exposed within the frontend headers. While functional for a local prototype, this is a security risk in production. To resolve this, the next iteration will route all authentication requests securely through the </a:t>
            </a:r>
            <a:r>
              <a:rPr lang="en-GB" dirty="0" err="1"/>
              <a:t>FastAPI</a:t>
            </a:r>
            <a:r>
              <a:rPr lang="en-GB" dirty="0"/>
              <a:t> backend, implementing Firebase JSON Web Tokens to establish true zero-trust session management.</a:t>
            </a:r>
          </a:p>
          <a:p>
            <a:r>
              <a:rPr lang="en-GB" dirty="0"/>
              <a:t>Secondly, the log ingestion pipeline requires structural refinement. Currently, the Python watcher is executed manually via a terminal. Because it lacks a background service mode, a crash means unprocessed logs lose their read-state, forcing the script to restart from line one and risking duplicate database entries. To evolve this, the script must be packaged as a native, always-on Windows or Linux service. Furthermore, to support enterprise scalability, I plan to migrate the architecture to AWS Lambda and replace Firebase with PostgreSQL to unlock complex SQL querying capabilities.</a:t>
            </a:r>
          </a:p>
          <a:p>
            <a:r>
              <a:rPr lang="en-GB" dirty="0"/>
              <a:t>Finally, evaluating the AI integration. User Acceptance Testing exposed a flaw in my prompt engineering: the 'Business Owner' persona occasionally instructed users to 'escalate to an IT team'. This directly contradicts the reality of micro-SMEs, which often have no IT staff. While I have applied initial fixes, the prompting requires continuous tuning. Moving forward—and based directly on a request from my UAT group—the system will be upgraded to map AI summaries directly to the MITRE ATT&amp;CK framework. By aggregating this long-term data and feeding it back into the LLM, S.I.R.A will be capable of generating automated, weekly security posture reports.</a:t>
            </a:r>
          </a:p>
          <a:p>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Masters/_rels/slideMaster1.xml.rels><?xml version="1.0" encoding="UTF-8" standalone="yes"?>
<Relationships xmlns="http://schemas.openxmlformats.org/package/2006/relationships"><Relationship Id="rId2" Type="http://schemas.openxmlformats.org/officeDocument/2006/relationships/theme" Target="../theme/theme1.xml"/><Relationship Id="rId1" Type="http://schemas.openxmlformats.org/officeDocument/2006/relationships/slideLayout" Target="../slideLayouts/slideLayout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Tree>
  </p:cSld>
  <p:clrMap bg1="lt1" tx1="dk1" bg2="lt2" tx2="dk2" accent1="accent1" accent2="accent2" accent3="accent3" accent4="accent4" accent5="accent5" accent6="accent6" hlink="hlink" folHlink="folHlink"/>
  <p:sldLayoutIdLst>
    <p:sldLayoutId id="2147483649" r:id="rId1"/>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3" Type="http://schemas.openxmlformats.org/officeDocument/2006/relationships/image" Target="../media/image1.png"/><Relationship Id="rId2" Type="http://schemas.openxmlformats.org/officeDocument/2006/relationships/notesSlide" Target="../notesSlides/notesSlide1.xml"/><Relationship Id="rId1" Type="http://schemas.openxmlformats.org/officeDocument/2006/relationships/slideLayout" Target="../slideLayouts/slideLayout1.xml"/></Relationships>
</file>

<file path=ppt/slides/_rels/slide2.xml.rels><?xml version="1.0" encoding="UTF-8" standalone="yes"?>
<Relationships xmlns="http://schemas.openxmlformats.org/package/2006/relationships"><Relationship Id="rId3" Type="http://schemas.openxmlformats.org/officeDocument/2006/relationships/image" Target="../media/image2.png"/><Relationship Id="rId2" Type="http://schemas.openxmlformats.org/officeDocument/2006/relationships/notesSlide" Target="../notesSlides/notesSlide2.xml"/><Relationship Id="rId1" Type="http://schemas.openxmlformats.org/officeDocument/2006/relationships/slideLayout" Target="../slideLayouts/slideLayout1.xml"/><Relationship Id="rId5" Type="http://schemas.openxmlformats.org/officeDocument/2006/relationships/image" Target="../media/image4.png"/><Relationship Id="rId4" Type="http://schemas.openxmlformats.org/officeDocument/2006/relationships/image" Target="../media/image3.png"/></Relationships>
</file>

<file path=ppt/slides/_rels/slide3.xml.rels><?xml version="1.0" encoding="UTF-8" standalone="yes"?>
<Relationships xmlns="http://schemas.openxmlformats.org/package/2006/relationships"><Relationship Id="rId3" Type="http://schemas.openxmlformats.org/officeDocument/2006/relationships/image" Target="../media/image5.png"/><Relationship Id="rId2" Type="http://schemas.openxmlformats.org/officeDocument/2006/relationships/notesSlide" Target="../notesSlides/notesSlide3.xml"/><Relationship Id="rId1" Type="http://schemas.openxmlformats.org/officeDocument/2006/relationships/slideLayout" Target="../slideLayouts/slideLayout1.xml"/><Relationship Id="rId6" Type="http://schemas.openxmlformats.org/officeDocument/2006/relationships/image" Target="../media/image3.png"/><Relationship Id="rId5" Type="http://schemas.openxmlformats.org/officeDocument/2006/relationships/image" Target="../media/image4.png"/><Relationship Id="rId4" Type="http://schemas.openxmlformats.org/officeDocument/2006/relationships/image" Target="../media/image1.png"/></Relationships>
</file>

<file path=ppt/slides/_rels/slide4.xml.rels><?xml version="1.0" encoding="UTF-8" standalone="yes"?>
<Relationships xmlns="http://schemas.openxmlformats.org/package/2006/relationships"><Relationship Id="rId3" Type="http://schemas.openxmlformats.org/officeDocument/2006/relationships/image" Target="../media/image6.png"/><Relationship Id="rId2" Type="http://schemas.openxmlformats.org/officeDocument/2006/relationships/notesSlide" Target="../notesSlides/notesSlide4.xml"/><Relationship Id="rId1" Type="http://schemas.openxmlformats.org/officeDocument/2006/relationships/slideLayout" Target="../slideLayouts/slideLayout1.xml"/><Relationship Id="rId5" Type="http://schemas.openxmlformats.org/officeDocument/2006/relationships/image" Target="../media/image5.png"/><Relationship Id="rId4" Type="http://schemas.openxmlformats.org/officeDocument/2006/relationships/image" Target="../media/image1.png"/></Relationships>
</file>

<file path=ppt/slides/_rels/slide5.xml.rels><?xml version="1.0" encoding="UTF-8" standalone="yes"?>
<Relationships xmlns="http://schemas.openxmlformats.org/package/2006/relationships"><Relationship Id="rId2" Type="http://schemas.openxmlformats.org/officeDocument/2006/relationships/notesSlide" Target="../notesSlides/notesSlide5.xml"/><Relationship Id="rId1" Type="http://schemas.openxmlformats.org/officeDocument/2006/relationships/slideLayout" Target="../slideLayouts/slideLayout1.xml"/></Relationships>
</file>

<file path=ppt/slides/_rels/slide6.xml.rels><?xml version="1.0" encoding="UTF-8" standalone="yes"?>
<Relationships xmlns="http://schemas.openxmlformats.org/package/2006/relationships"><Relationship Id="rId3" Type="http://schemas.openxmlformats.org/officeDocument/2006/relationships/image" Target="../media/image7.png"/><Relationship Id="rId2" Type="http://schemas.openxmlformats.org/officeDocument/2006/relationships/notesSlide" Target="../notesSlides/notesSlide6.xml"/><Relationship Id="rId1" Type="http://schemas.openxmlformats.org/officeDocument/2006/relationships/slideLayout" Target="../slideLayouts/slideLayout1.xml"/><Relationship Id="rId4" Type="http://schemas.openxmlformats.org/officeDocument/2006/relationships/image" Target="../media/image5.png"/></Relationships>
</file>

<file path=ppt/slides/_rels/slide7.xml.rels><?xml version="1.0" encoding="UTF-8" standalone="yes"?>
<Relationships xmlns="http://schemas.openxmlformats.org/package/2006/relationships"><Relationship Id="rId2" Type="http://schemas.openxmlformats.org/officeDocument/2006/relationships/notesSlide" Target="../notesSlides/notesSlide7.xml"/><Relationship Id="rId1" Type="http://schemas.openxmlformats.org/officeDocument/2006/relationships/slideLayout" Target="../slideLayouts/slideLayout1.xml"/></Relationships>
</file>

<file path=ppt/slides/_rels/slide8.xml.rels><?xml version="1.0" encoding="UTF-8" standalone="yes"?>
<Relationships xmlns="http://schemas.openxmlformats.org/package/2006/relationships"><Relationship Id="rId2" Type="http://schemas.openxmlformats.org/officeDocument/2006/relationships/notesSlide" Target="../notesSlides/notesSlide8.xml"/><Relationship Id="rId1" Type="http://schemas.openxmlformats.org/officeDocument/2006/relationships/slideLayout" Target="../slideLayouts/slideLayout1.xml"/></Relationships>
</file>

<file path=ppt/slides/slide1.xml><?xml version="1.0" encoding="utf-8"?>
<p:sld xmlns:a="http://schemas.openxmlformats.org/drawingml/2006/main" xmlns:r="http://schemas.openxmlformats.org/officeDocument/2006/relationships" xmlns:p="http://schemas.openxmlformats.org/presentationml/2006/main">
  <p:cSld name="Slide 1">
    <p:bg>
      <p:bgPr>
        <a:solidFill>
          <a:srgbClr val="0F172A"/>
        </a:solidFill>
        <a:effectLst/>
      </p:bgPr>
    </p:bg>
    <p:spTree>
      <p:nvGrpSpPr>
        <p:cNvPr id="1" name=""/>
        <p:cNvGrpSpPr/>
        <p:nvPr/>
      </p:nvGrpSpPr>
      <p:grpSpPr>
        <a:xfrm>
          <a:off x="0" y="0"/>
          <a:ext cx="0" cy="0"/>
          <a:chOff x="0" y="0"/>
          <a:chExt cx="0" cy="0"/>
        </a:xfrm>
      </p:grpSpPr>
      <p:sp>
        <p:nvSpPr>
          <p:cNvPr id="2" name="Shape 0"/>
          <p:cNvSpPr/>
          <p:nvPr/>
        </p:nvSpPr>
        <p:spPr>
          <a:xfrm>
            <a:off x="0" y="0"/>
            <a:ext cx="73152" cy="5143500"/>
          </a:xfrm>
          <a:prstGeom prst="rect">
            <a:avLst/>
          </a:prstGeom>
          <a:solidFill>
            <a:srgbClr val="6366F1"/>
          </a:solidFill>
          <a:ln w="12700">
            <a:solidFill>
              <a:srgbClr val="6366F1"/>
            </a:solidFill>
            <a:prstDash val="solid"/>
          </a:ln>
        </p:spPr>
        <p:txBody>
          <a:bodyPr/>
          <a:lstStyle/>
          <a:p>
            <a:endParaRPr lang="en-GB"/>
          </a:p>
        </p:txBody>
      </p:sp>
      <p:sp>
        <p:nvSpPr>
          <p:cNvPr id="3" name="Shape 1"/>
          <p:cNvSpPr/>
          <p:nvPr/>
        </p:nvSpPr>
        <p:spPr>
          <a:xfrm>
            <a:off x="7772400" y="365760"/>
            <a:ext cx="73152" cy="73152"/>
          </a:xfrm>
          <a:prstGeom prst="ellipse">
            <a:avLst/>
          </a:prstGeom>
          <a:solidFill>
            <a:srgbClr val="6366F1">
              <a:alpha val="40000"/>
            </a:srgbClr>
          </a:solidFill>
          <a:ln w="12700">
            <a:solidFill>
              <a:srgbClr val="6366F1">
                <a:alpha val="40000"/>
              </a:srgbClr>
            </a:solidFill>
            <a:prstDash val="solid"/>
          </a:ln>
        </p:spPr>
        <p:txBody>
          <a:bodyPr/>
          <a:lstStyle/>
          <a:p>
            <a:endParaRPr lang="en-GB"/>
          </a:p>
        </p:txBody>
      </p:sp>
      <p:sp>
        <p:nvSpPr>
          <p:cNvPr id="4" name="Shape 2"/>
          <p:cNvSpPr/>
          <p:nvPr/>
        </p:nvSpPr>
        <p:spPr>
          <a:xfrm>
            <a:off x="8412480" y="822960"/>
            <a:ext cx="73152" cy="73152"/>
          </a:xfrm>
          <a:prstGeom prst="ellipse">
            <a:avLst/>
          </a:prstGeom>
          <a:solidFill>
            <a:srgbClr val="6366F1">
              <a:alpha val="40000"/>
            </a:srgbClr>
          </a:solidFill>
          <a:ln w="12700">
            <a:solidFill>
              <a:srgbClr val="6366F1">
                <a:alpha val="40000"/>
              </a:srgbClr>
            </a:solidFill>
            <a:prstDash val="solid"/>
          </a:ln>
        </p:spPr>
        <p:txBody>
          <a:bodyPr/>
          <a:lstStyle/>
          <a:p>
            <a:endParaRPr lang="en-GB"/>
          </a:p>
        </p:txBody>
      </p:sp>
      <p:sp>
        <p:nvSpPr>
          <p:cNvPr id="5" name="Shape 3"/>
          <p:cNvSpPr/>
          <p:nvPr/>
        </p:nvSpPr>
        <p:spPr>
          <a:xfrm>
            <a:off x="8961120" y="274320"/>
            <a:ext cx="73152" cy="73152"/>
          </a:xfrm>
          <a:prstGeom prst="ellipse">
            <a:avLst/>
          </a:prstGeom>
          <a:solidFill>
            <a:srgbClr val="6366F1">
              <a:alpha val="40000"/>
            </a:srgbClr>
          </a:solidFill>
          <a:ln w="12700">
            <a:solidFill>
              <a:srgbClr val="6366F1">
                <a:alpha val="40000"/>
              </a:srgbClr>
            </a:solidFill>
            <a:prstDash val="solid"/>
          </a:ln>
        </p:spPr>
        <p:txBody>
          <a:bodyPr/>
          <a:lstStyle/>
          <a:p>
            <a:endParaRPr lang="en-GB"/>
          </a:p>
        </p:txBody>
      </p:sp>
      <p:sp>
        <p:nvSpPr>
          <p:cNvPr id="6" name="Shape 4"/>
          <p:cNvSpPr/>
          <p:nvPr/>
        </p:nvSpPr>
        <p:spPr>
          <a:xfrm>
            <a:off x="8138160" y="1371600"/>
            <a:ext cx="73152" cy="73152"/>
          </a:xfrm>
          <a:prstGeom prst="ellipse">
            <a:avLst/>
          </a:prstGeom>
          <a:solidFill>
            <a:srgbClr val="6366F1">
              <a:alpha val="40000"/>
            </a:srgbClr>
          </a:solidFill>
          <a:ln w="12700">
            <a:solidFill>
              <a:srgbClr val="6366F1">
                <a:alpha val="40000"/>
              </a:srgbClr>
            </a:solidFill>
            <a:prstDash val="solid"/>
          </a:ln>
        </p:spPr>
        <p:txBody>
          <a:bodyPr/>
          <a:lstStyle/>
          <a:p>
            <a:endParaRPr lang="en-GB"/>
          </a:p>
        </p:txBody>
      </p:sp>
      <p:sp>
        <p:nvSpPr>
          <p:cNvPr id="7" name="Shape 5"/>
          <p:cNvSpPr/>
          <p:nvPr/>
        </p:nvSpPr>
        <p:spPr>
          <a:xfrm>
            <a:off x="8686800" y="1737360"/>
            <a:ext cx="73152" cy="73152"/>
          </a:xfrm>
          <a:prstGeom prst="ellipse">
            <a:avLst/>
          </a:prstGeom>
          <a:solidFill>
            <a:srgbClr val="6366F1">
              <a:alpha val="40000"/>
            </a:srgbClr>
          </a:solidFill>
          <a:ln w="12700">
            <a:solidFill>
              <a:srgbClr val="6366F1">
                <a:alpha val="40000"/>
              </a:srgbClr>
            </a:solidFill>
            <a:prstDash val="solid"/>
          </a:ln>
        </p:spPr>
        <p:txBody>
          <a:bodyPr/>
          <a:lstStyle/>
          <a:p>
            <a:endParaRPr lang="en-GB"/>
          </a:p>
        </p:txBody>
      </p:sp>
      <p:sp>
        <p:nvSpPr>
          <p:cNvPr id="8" name="Shape 6"/>
          <p:cNvSpPr/>
          <p:nvPr/>
        </p:nvSpPr>
        <p:spPr>
          <a:xfrm>
            <a:off x="7132320" y="640080"/>
            <a:ext cx="73152" cy="73152"/>
          </a:xfrm>
          <a:prstGeom prst="ellipse">
            <a:avLst/>
          </a:prstGeom>
          <a:solidFill>
            <a:srgbClr val="6366F1">
              <a:alpha val="40000"/>
            </a:srgbClr>
          </a:solidFill>
          <a:ln w="12700">
            <a:solidFill>
              <a:srgbClr val="6366F1">
                <a:alpha val="40000"/>
              </a:srgbClr>
            </a:solidFill>
            <a:prstDash val="solid"/>
          </a:ln>
        </p:spPr>
        <p:txBody>
          <a:bodyPr/>
          <a:lstStyle/>
          <a:p>
            <a:endParaRPr lang="en-GB"/>
          </a:p>
        </p:txBody>
      </p:sp>
      <p:sp>
        <p:nvSpPr>
          <p:cNvPr id="9" name="Shape 7"/>
          <p:cNvSpPr/>
          <p:nvPr/>
        </p:nvSpPr>
        <p:spPr>
          <a:xfrm>
            <a:off x="8321040" y="2286000"/>
            <a:ext cx="73152" cy="73152"/>
          </a:xfrm>
          <a:prstGeom prst="ellipse">
            <a:avLst/>
          </a:prstGeom>
          <a:solidFill>
            <a:srgbClr val="6366F1">
              <a:alpha val="40000"/>
            </a:srgbClr>
          </a:solidFill>
          <a:ln w="12700">
            <a:solidFill>
              <a:srgbClr val="6366F1">
                <a:alpha val="40000"/>
              </a:srgbClr>
            </a:solidFill>
            <a:prstDash val="solid"/>
          </a:ln>
        </p:spPr>
        <p:txBody>
          <a:bodyPr/>
          <a:lstStyle/>
          <a:p>
            <a:endParaRPr lang="en-GB"/>
          </a:p>
        </p:txBody>
      </p:sp>
      <p:sp>
        <p:nvSpPr>
          <p:cNvPr id="10" name="Shape 8"/>
          <p:cNvSpPr/>
          <p:nvPr/>
        </p:nvSpPr>
        <p:spPr>
          <a:xfrm>
            <a:off x="7680960" y="1828800"/>
            <a:ext cx="73152" cy="73152"/>
          </a:xfrm>
          <a:prstGeom prst="ellipse">
            <a:avLst/>
          </a:prstGeom>
          <a:solidFill>
            <a:srgbClr val="6366F1">
              <a:alpha val="40000"/>
            </a:srgbClr>
          </a:solidFill>
          <a:ln w="12700">
            <a:solidFill>
              <a:srgbClr val="6366F1">
                <a:alpha val="40000"/>
              </a:srgbClr>
            </a:solidFill>
            <a:prstDash val="solid"/>
          </a:ln>
        </p:spPr>
        <p:txBody>
          <a:bodyPr/>
          <a:lstStyle/>
          <a:p>
            <a:endParaRPr lang="en-GB"/>
          </a:p>
        </p:txBody>
      </p:sp>
      <p:pic>
        <p:nvPicPr>
          <p:cNvPr id="11" name="Image 0" descr="preencoded.png"/>
          <p:cNvPicPr>
            <a:picLocks noChangeAspect="1"/>
          </p:cNvPicPr>
          <p:nvPr/>
        </p:nvPicPr>
        <p:blipFill>
          <a:blip r:embed="rId3"/>
          <a:stretch>
            <a:fillRect/>
          </a:stretch>
        </p:blipFill>
        <p:spPr>
          <a:xfrm>
            <a:off x="365760" y="1463040"/>
            <a:ext cx="347472" cy="347472"/>
          </a:xfrm>
          <a:prstGeom prst="rect">
            <a:avLst/>
          </a:prstGeom>
        </p:spPr>
      </p:pic>
      <p:sp>
        <p:nvSpPr>
          <p:cNvPr id="12" name="Text 9"/>
          <p:cNvSpPr/>
          <p:nvPr/>
        </p:nvSpPr>
        <p:spPr>
          <a:xfrm>
            <a:off x="365760" y="502920"/>
            <a:ext cx="8229600" cy="1005840"/>
          </a:xfrm>
          <a:prstGeom prst="rect">
            <a:avLst/>
          </a:prstGeom>
          <a:noFill/>
          <a:ln/>
        </p:spPr>
        <p:txBody>
          <a:bodyPr wrap="square" lIns="0" tIns="0" rIns="0" bIns="0" rtlCol="0" anchor="ctr"/>
          <a:lstStyle/>
          <a:p>
            <a:pPr marL="0" indent="0">
              <a:buNone/>
            </a:pPr>
            <a:r>
              <a:rPr lang="en-US" sz="7200" b="1" kern="0" spc="800" dirty="0">
                <a:solidFill>
                  <a:srgbClr val="FFFFFF"/>
                </a:solidFill>
                <a:latin typeface="Arial Black" pitchFamily="34" charset="0"/>
                <a:ea typeface="Arial Black" pitchFamily="34" charset="-122"/>
                <a:cs typeface="Arial Black" pitchFamily="34" charset="-120"/>
              </a:rPr>
              <a:t>S.I.R.A.</a:t>
            </a:r>
            <a:endParaRPr lang="en-US" sz="7200" dirty="0"/>
          </a:p>
        </p:txBody>
      </p:sp>
      <p:sp>
        <p:nvSpPr>
          <p:cNvPr id="13" name="Text 10"/>
          <p:cNvSpPr/>
          <p:nvPr/>
        </p:nvSpPr>
        <p:spPr>
          <a:xfrm>
            <a:off x="822960" y="1463040"/>
            <a:ext cx="7132320" cy="411480"/>
          </a:xfrm>
          <a:prstGeom prst="rect">
            <a:avLst/>
          </a:prstGeom>
          <a:noFill/>
          <a:ln/>
        </p:spPr>
        <p:txBody>
          <a:bodyPr wrap="square" lIns="0" tIns="0" rIns="0" bIns="0" rtlCol="0" anchor="ctr"/>
          <a:lstStyle/>
          <a:p>
            <a:pPr marL="0" indent="0">
              <a:buNone/>
            </a:pPr>
            <a:r>
              <a:rPr lang="en-US" sz="1800" dirty="0">
                <a:solidFill>
                  <a:srgbClr val="06B6D4"/>
                </a:solidFill>
                <a:latin typeface="Calibri" pitchFamily="34" charset="0"/>
                <a:ea typeface="Calibri" pitchFamily="34" charset="-122"/>
                <a:cs typeface="Calibri" pitchFamily="34" charset="-120"/>
              </a:rPr>
              <a:t>Security Incident Response Assistant</a:t>
            </a:r>
            <a:endParaRPr lang="en-US" sz="1800" dirty="0"/>
          </a:p>
        </p:txBody>
      </p:sp>
      <p:sp>
        <p:nvSpPr>
          <p:cNvPr id="14" name="Text 11"/>
          <p:cNvSpPr/>
          <p:nvPr/>
        </p:nvSpPr>
        <p:spPr>
          <a:xfrm>
            <a:off x="365760" y="2057400"/>
            <a:ext cx="6858000" cy="548640"/>
          </a:xfrm>
          <a:prstGeom prst="rect">
            <a:avLst/>
          </a:prstGeom>
          <a:noFill/>
          <a:ln/>
        </p:spPr>
        <p:txBody>
          <a:bodyPr wrap="square" lIns="0" tIns="0" rIns="0" bIns="0" rtlCol="0" anchor="ctr"/>
          <a:lstStyle/>
          <a:p>
            <a:pPr marL="0" indent="0">
              <a:buNone/>
            </a:pPr>
            <a:r>
              <a:rPr lang="en-US" sz="1600" i="1" dirty="0">
                <a:solidFill>
                  <a:srgbClr val="94A3B8"/>
                </a:solidFill>
                <a:latin typeface="Calibri" pitchFamily="34" charset="0"/>
                <a:ea typeface="Calibri" pitchFamily="34" charset="-122"/>
                <a:cs typeface="Calibri" pitchFamily="34" charset="-120"/>
              </a:rPr>
              <a:t>AI-powered cybersecurity for small businesses who can't afford a SOC.</a:t>
            </a:r>
            <a:endParaRPr lang="en-US" sz="1600" dirty="0"/>
          </a:p>
        </p:txBody>
      </p:sp>
      <p:sp>
        <p:nvSpPr>
          <p:cNvPr id="15" name="Shape 12"/>
          <p:cNvSpPr/>
          <p:nvPr/>
        </p:nvSpPr>
        <p:spPr>
          <a:xfrm>
            <a:off x="365760" y="2788920"/>
            <a:ext cx="4572000" cy="0"/>
          </a:xfrm>
          <a:prstGeom prst="line">
            <a:avLst/>
          </a:prstGeom>
          <a:noFill/>
          <a:ln w="19050">
            <a:solidFill>
              <a:srgbClr val="6366F1"/>
            </a:solidFill>
            <a:prstDash val="solid"/>
          </a:ln>
        </p:spPr>
        <p:txBody>
          <a:bodyPr/>
          <a:lstStyle/>
          <a:p>
            <a:endParaRPr lang="en-GB"/>
          </a:p>
        </p:txBody>
      </p:sp>
      <p:sp>
        <p:nvSpPr>
          <p:cNvPr id="16" name="Text 13"/>
          <p:cNvSpPr/>
          <p:nvPr/>
        </p:nvSpPr>
        <p:spPr>
          <a:xfrm>
            <a:off x="365760" y="2971800"/>
            <a:ext cx="7315200" cy="365760"/>
          </a:xfrm>
          <a:prstGeom prst="rect">
            <a:avLst/>
          </a:prstGeom>
          <a:noFill/>
          <a:ln/>
        </p:spPr>
        <p:txBody>
          <a:bodyPr wrap="square" lIns="0" tIns="0" rIns="0" bIns="0" rtlCol="0" anchor="ctr"/>
          <a:lstStyle/>
          <a:p>
            <a:pPr marL="0" indent="0">
              <a:buNone/>
            </a:pPr>
            <a:r>
              <a:rPr lang="en-US" sz="1300" dirty="0">
                <a:solidFill>
                  <a:srgbClr val="64748B"/>
                </a:solidFill>
                <a:latin typeface="Calibri" pitchFamily="34" charset="0"/>
                <a:ea typeface="Calibri" pitchFamily="34" charset="-122"/>
                <a:cs typeface="Calibri" pitchFamily="34" charset="-120"/>
              </a:rPr>
              <a:t>Final Stage Computing Project  ·  2025 / 2026</a:t>
            </a:r>
            <a:endParaRPr lang="en-US" sz="1300" dirty="0"/>
          </a:p>
        </p:txBody>
      </p:sp>
      <p:sp>
        <p:nvSpPr>
          <p:cNvPr id="27" name="Text 24"/>
          <p:cNvSpPr/>
          <p:nvPr/>
        </p:nvSpPr>
        <p:spPr>
          <a:xfrm>
            <a:off x="8412480" y="4754880"/>
            <a:ext cx="548640" cy="274320"/>
          </a:xfrm>
          <a:prstGeom prst="rect">
            <a:avLst/>
          </a:prstGeom>
          <a:noFill/>
          <a:ln/>
        </p:spPr>
        <p:txBody>
          <a:bodyPr wrap="square" rtlCol="0" anchor="ctr"/>
          <a:lstStyle/>
          <a:p>
            <a:pPr marL="0" indent="0" algn="r">
              <a:buNone/>
            </a:pPr>
            <a:r>
              <a:rPr lang="en-US" sz="1000" dirty="0">
                <a:solidFill>
                  <a:srgbClr val="334155"/>
                </a:solidFill>
                <a:latin typeface="Calibri" pitchFamily="34" charset="0"/>
                <a:ea typeface="Calibri" pitchFamily="34" charset="-122"/>
                <a:cs typeface="Calibri" pitchFamily="34" charset="-120"/>
              </a:rPr>
              <a:t>01</a:t>
            </a:r>
            <a:endParaRPr lang="en-US" sz="1000" dirty="0"/>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bg>
      <p:bgPr>
        <a:solidFill>
          <a:srgbClr val="F1F5F9"/>
        </a:solidFill>
        <a:effectLst/>
      </p:bgPr>
    </p:bg>
    <p:spTree>
      <p:nvGrpSpPr>
        <p:cNvPr id="1" name=""/>
        <p:cNvGrpSpPr/>
        <p:nvPr/>
      </p:nvGrpSpPr>
      <p:grpSpPr>
        <a:xfrm>
          <a:off x="0" y="0"/>
          <a:ext cx="0" cy="0"/>
          <a:chOff x="0" y="0"/>
          <a:chExt cx="0" cy="0"/>
        </a:xfrm>
      </p:grpSpPr>
      <p:sp>
        <p:nvSpPr>
          <p:cNvPr id="2" name="Shape 0"/>
          <p:cNvSpPr/>
          <p:nvPr/>
        </p:nvSpPr>
        <p:spPr>
          <a:xfrm>
            <a:off x="0" y="0"/>
            <a:ext cx="9144000" cy="640080"/>
          </a:xfrm>
          <a:prstGeom prst="rect">
            <a:avLst/>
          </a:prstGeom>
          <a:solidFill>
            <a:srgbClr val="0F172A"/>
          </a:solidFill>
          <a:ln w="12700">
            <a:solidFill>
              <a:srgbClr val="0F172A"/>
            </a:solidFill>
            <a:prstDash val="solid"/>
          </a:ln>
        </p:spPr>
        <p:txBody>
          <a:bodyPr/>
          <a:lstStyle/>
          <a:p>
            <a:endParaRPr lang="en-GB"/>
          </a:p>
        </p:txBody>
      </p:sp>
      <p:sp>
        <p:nvSpPr>
          <p:cNvPr id="3" name="Text 1"/>
          <p:cNvSpPr/>
          <p:nvPr/>
        </p:nvSpPr>
        <p:spPr>
          <a:xfrm>
            <a:off x="365760" y="0"/>
            <a:ext cx="8229600" cy="640080"/>
          </a:xfrm>
          <a:prstGeom prst="rect">
            <a:avLst/>
          </a:prstGeom>
          <a:noFill/>
          <a:ln/>
        </p:spPr>
        <p:txBody>
          <a:bodyPr wrap="square" rtlCol="0" anchor="ctr"/>
          <a:lstStyle/>
          <a:p>
            <a:pPr marL="0" indent="0">
              <a:buNone/>
            </a:pPr>
            <a:r>
              <a:rPr lang="en-US" sz="1100" b="1" kern="0" spc="400" dirty="0">
                <a:solidFill>
                  <a:srgbClr val="06B6D4"/>
                </a:solidFill>
                <a:latin typeface="Calibri" pitchFamily="34" charset="0"/>
                <a:ea typeface="Calibri" pitchFamily="34" charset="-122"/>
                <a:cs typeface="Calibri" pitchFamily="34" charset="-120"/>
              </a:rPr>
              <a:t>THE PROBLEM</a:t>
            </a:r>
            <a:endParaRPr lang="en-US" sz="1100" dirty="0"/>
          </a:p>
        </p:txBody>
      </p:sp>
      <p:sp>
        <p:nvSpPr>
          <p:cNvPr id="4" name="Text 2"/>
          <p:cNvSpPr/>
          <p:nvPr/>
        </p:nvSpPr>
        <p:spPr>
          <a:xfrm>
            <a:off x="8412480" y="0"/>
            <a:ext cx="548640" cy="640080"/>
          </a:xfrm>
          <a:prstGeom prst="rect">
            <a:avLst/>
          </a:prstGeom>
          <a:noFill/>
          <a:ln/>
        </p:spPr>
        <p:txBody>
          <a:bodyPr wrap="square" rtlCol="0" anchor="ctr"/>
          <a:lstStyle/>
          <a:p>
            <a:pPr marL="0" indent="0" algn="r">
              <a:buNone/>
            </a:pPr>
            <a:r>
              <a:rPr lang="en-US" sz="1000" dirty="0">
                <a:solidFill>
                  <a:srgbClr val="64748B"/>
                </a:solidFill>
                <a:latin typeface="Calibri" pitchFamily="34" charset="0"/>
                <a:ea typeface="Calibri" pitchFamily="34" charset="-122"/>
                <a:cs typeface="Calibri" pitchFamily="34" charset="-120"/>
              </a:rPr>
              <a:t>02</a:t>
            </a:r>
            <a:endParaRPr lang="en-US" sz="1000" dirty="0"/>
          </a:p>
        </p:txBody>
      </p:sp>
      <p:sp>
        <p:nvSpPr>
          <p:cNvPr id="5" name="Text 3"/>
          <p:cNvSpPr/>
          <p:nvPr/>
        </p:nvSpPr>
        <p:spPr>
          <a:xfrm>
            <a:off x="365760" y="731520"/>
            <a:ext cx="8229600" cy="594360"/>
          </a:xfrm>
          <a:prstGeom prst="rect">
            <a:avLst/>
          </a:prstGeom>
          <a:noFill/>
          <a:ln/>
        </p:spPr>
        <p:txBody>
          <a:bodyPr wrap="square" lIns="0" tIns="0" rIns="0" bIns="0" rtlCol="0" anchor="ctr"/>
          <a:lstStyle/>
          <a:p>
            <a:pPr marL="0" indent="0">
              <a:buNone/>
            </a:pPr>
            <a:r>
              <a:rPr lang="en-US" sz="3200" b="1" dirty="0">
                <a:solidFill>
                  <a:srgbClr val="1E293B"/>
                </a:solidFill>
                <a:latin typeface="Arial Black" pitchFamily="34" charset="0"/>
                <a:ea typeface="Arial Black" pitchFamily="34" charset="-122"/>
                <a:cs typeface="Arial Black" pitchFamily="34" charset="-120"/>
              </a:rPr>
              <a:t>The Cybersecurity Gap for SMEs</a:t>
            </a:r>
            <a:endParaRPr lang="en-US" sz="3200" dirty="0"/>
          </a:p>
        </p:txBody>
      </p:sp>
      <p:sp>
        <p:nvSpPr>
          <p:cNvPr id="6" name="Shape 4"/>
          <p:cNvSpPr/>
          <p:nvPr/>
        </p:nvSpPr>
        <p:spPr>
          <a:xfrm>
            <a:off x="320040" y="1508760"/>
            <a:ext cx="2697480" cy="3200400"/>
          </a:xfrm>
          <a:prstGeom prst="rect">
            <a:avLst/>
          </a:prstGeom>
          <a:solidFill>
            <a:srgbClr val="FFFFFF"/>
          </a:solidFill>
          <a:ln w="12700">
            <a:solidFill>
              <a:srgbClr val="E2E8F0"/>
            </a:solidFill>
            <a:prstDash val="solid"/>
          </a:ln>
          <a:effectLst>
            <a:outerShdw blurRad="101600" dist="38100" dir="8100000" algn="bl" rotWithShape="0">
              <a:srgbClr val="000000">
                <a:alpha val="8000"/>
              </a:srgbClr>
            </a:outerShdw>
          </a:effectLst>
        </p:spPr>
        <p:txBody>
          <a:bodyPr/>
          <a:lstStyle/>
          <a:p>
            <a:endParaRPr lang="en-GB"/>
          </a:p>
        </p:txBody>
      </p:sp>
      <p:sp>
        <p:nvSpPr>
          <p:cNvPr id="7" name="Shape 5"/>
          <p:cNvSpPr/>
          <p:nvPr/>
        </p:nvSpPr>
        <p:spPr>
          <a:xfrm>
            <a:off x="320040" y="1508760"/>
            <a:ext cx="2697480" cy="64008"/>
          </a:xfrm>
          <a:prstGeom prst="rect">
            <a:avLst/>
          </a:prstGeom>
          <a:solidFill>
            <a:srgbClr val="F59E0B"/>
          </a:solidFill>
          <a:ln w="12700">
            <a:solidFill>
              <a:srgbClr val="F59E0B"/>
            </a:solidFill>
            <a:prstDash val="solid"/>
          </a:ln>
        </p:spPr>
        <p:txBody>
          <a:bodyPr/>
          <a:lstStyle/>
          <a:p>
            <a:endParaRPr lang="en-GB"/>
          </a:p>
        </p:txBody>
      </p:sp>
      <p:sp>
        <p:nvSpPr>
          <p:cNvPr id="8" name="Shape 6"/>
          <p:cNvSpPr/>
          <p:nvPr/>
        </p:nvSpPr>
        <p:spPr>
          <a:xfrm>
            <a:off x="502920" y="1664208"/>
            <a:ext cx="502920" cy="502920"/>
          </a:xfrm>
          <a:prstGeom prst="ellipse">
            <a:avLst/>
          </a:prstGeom>
          <a:solidFill>
            <a:srgbClr val="FEF3C7"/>
          </a:solidFill>
          <a:ln w="12700">
            <a:solidFill>
              <a:srgbClr val="FEF3C7"/>
            </a:solidFill>
            <a:prstDash val="solid"/>
          </a:ln>
        </p:spPr>
        <p:txBody>
          <a:bodyPr/>
          <a:lstStyle/>
          <a:p>
            <a:endParaRPr lang="en-GB"/>
          </a:p>
        </p:txBody>
      </p:sp>
      <p:pic>
        <p:nvPicPr>
          <p:cNvPr id="9" name="Image 0" descr="preencoded.png"/>
          <p:cNvPicPr>
            <a:picLocks noChangeAspect="1"/>
          </p:cNvPicPr>
          <p:nvPr/>
        </p:nvPicPr>
        <p:blipFill>
          <a:blip r:embed="rId3"/>
          <a:stretch>
            <a:fillRect/>
          </a:stretch>
        </p:blipFill>
        <p:spPr>
          <a:xfrm>
            <a:off x="576072" y="1737360"/>
            <a:ext cx="338328" cy="338328"/>
          </a:xfrm>
          <a:prstGeom prst="rect">
            <a:avLst/>
          </a:prstGeom>
        </p:spPr>
      </p:pic>
      <p:sp>
        <p:nvSpPr>
          <p:cNvPr id="10" name="Text 7"/>
          <p:cNvSpPr/>
          <p:nvPr/>
        </p:nvSpPr>
        <p:spPr>
          <a:xfrm>
            <a:off x="457200" y="2304288"/>
            <a:ext cx="2423160" cy="457200"/>
          </a:xfrm>
          <a:prstGeom prst="rect">
            <a:avLst/>
          </a:prstGeom>
          <a:noFill/>
          <a:ln/>
        </p:spPr>
        <p:txBody>
          <a:bodyPr wrap="square" lIns="0" tIns="0" rIns="0" bIns="0" rtlCol="0" anchor="ctr"/>
          <a:lstStyle/>
          <a:p>
            <a:pPr marL="0" indent="0">
              <a:buNone/>
            </a:pPr>
            <a:r>
              <a:rPr lang="en-US" sz="1300" b="1" dirty="0">
                <a:solidFill>
                  <a:srgbClr val="1E293B"/>
                </a:solidFill>
                <a:latin typeface="Calibri" pitchFamily="34" charset="0"/>
                <a:ea typeface="Calibri" pitchFamily="34" charset="-122"/>
                <a:cs typeface="Calibri" pitchFamily="34" charset="-120"/>
              </a:rPr>
              <a:t>High Threat, Low Budget</a:t>
            </a:r>
            <a:endParaRPr lang="en-US" sz="1300" dirty="0"/>
          </a:p>
        </p:txBody>
      </p:sp>
      <p:sp>
        <p:nvSpPr>
          <p:cNvPr id="11" name="Text 8"/>
          <p:cNvSpPr/>
          <p:nvPr/>
        </p:nvSpPr>
        <p:spPr>
          <a:xfrm>
            <a:off x="457200" y="2852928"/>
            <a:ext cx="2423160" cy="1691640"/>
          </a:xfrm>
          <a:prstGeom prst="rect">
            <a:avLst/>
          </a:prstGeom>
          <a:noFill/>
          <a:ln/>
        </p:spPr>
        <p:txBody>
          <a:bodyPr wrap="square" lIns="0" tIns="0" rIns="0" bIns="0" rtlCol="0" anchor="ctr"/>
          <a:lstStyle/>
          <a:p>
            <a:pPr marL="0" indent="0">
              <a:buNone/>
            </a:pPr>
            <a:r>
              <a:rPr lang="en-US" sz="1100" dirty="0">
                <a:solidFill>
                  <a:srgbClr val="64748B"/>
                </a:solidFill>
                <a:latin typeface="Calibri" pitchFamily="34" charset="0"/>
                <a:ea typeface="Calibri" pitchFamily="34" charset="-122"/>
                <a:cs typeface="Calibri" pitchFamily="34" charset="-120"/>
              </a:rPr>
              <a:t>SMEs are heavily targeted by cyberattacks but simply cannot afford a dedicated Security Operations Centre (SOC) or a SIEM platform like Splunk.</a:t>
            </a:r>
            <a:endParaRPr lang="en-US" sz="1100" dirty="0"/>
          </a:p>
        </p:txBody>
      </p:sp>
      <p:sp>
        <p:nvSpPr>
          <p:cNvPr id="12" name="Shape 9"/>
          <p:cNvSpPr/>
          <p:nvPr/>
        </p:nvSpPr>
        <p:spPr>
          <a:xfrm>
            <a:off x="3172968" y="1508760"/>
            <a:ext cx="2697480" cy="3200400"/>
          </a:xfrm>
          <a:prstGeom prst="rect">
            <a:avLst/>
          </a:prstGeom>
          <a:solidFill>
            <a:srgbClr val="FFFFFF"/>
          </a:solidFill>
          <a:ln w="12700">
            <a:solidFill>
              <a:srgbClr val="E2E8F0"/>
            </a:solidFill>
            <a:prstDash val="solid"/>
          </a:ln>
          <a:effectLst>
            <a:outerShdw blurRad="101600" dist="38100" dir="8100000" algn="bl" rotWithShape="0">
              <a:srgbClr val="000000">
                <a:alpha val="8000"/>
              </a:srgbClr>
            </a:outerShdw>
          </a:effectLst>
        </p:spPr>
        <p:txBody>
          <a:bodyPr/>
          <a:lstStyle/>
          <a:p>
            <a:endParaRPr lang="en-GB"/>
          </a:p>
        </p:txBody>
      </p:sp>
      <p:sp>
        <p:nvSpPr>
          <p:cNvPr id="13" name="Shape 10"/>
          <p:cNvSpPr/>
          <p:nvPr/>
        </p:nvSpPr>
        <p:spPr>
          <a:xfrm>
            <a:off x="3172968" y="1508760"/>
            <a:ext cx="2697480" cy="64008"/>
          </a:xfrm>
          <a:prstGeom prst="rect">
            <a:avLst/>
          </a:prstGeom>
          <a:solidFill>
            <a:srgbClr val="3B82F6"/>
          </a:solidFill>
          <a:ln w="12700">
            <a:solidFill>
              <a:srgbClr val="3B82F6"/>
            </a:solidFill>
            <a:prstDash val="solid"/>
          </a:ln>
        </p:spPr>
        <p:txBody>
          <a:bodyPr/>
          <a:lstStyle/>
          <a:p>
            <a:endParaRPr lang="en-GB"/>
          </a:p>
        </p:txBody>
      </p:sp>
      <p:sp>
        <p:nvSpPr>
          <p:cNvPr id="14" name="Shape 11"/>
          <p:cNvSpPr/>
          <p:nvPr/>
        </p:nvSpPr>
        <p:spPr>
          <a:xfrm>
            <a:off x="3355848" y="1664208"/>
            <a:ext cx="502920" cy="502920"/>
          </a:xfrm>
          <a:prstGeom prst="ellipse">
            <a:avLst/>
          </a:prstGeom>
          <a:solidFill>
            <a:srgbClr val="EFF6FF"/>
          </a:solidFill>
          <a:ln w="12700">
            <a:solidFill>
              <a:srgbClr val="EFF6FF"/>
            </a:solidFill>
            <a:prstDash val="solid"/>
          </a:ln>
        </p:spPr>
        <p:txBody>
          <a:bodyPr/>
          <a:lstStyle/>
          <a:p>
            <a:endParaRPr lang="en-GB"/>
          </a:p>
        </p:txBody>
      </p:sp>
      <p:pic>
        <p:nvPicPr>
          <p:cNvPr id="15" name="Image 1" descr="preencoded.png"/>
          <p:cNvPicPr>
            <a:picLocks noChangeAspect="1"/>
          </p:cNvPicPr>
          <p:nvPr/>
        </p:nvPicPr>
        <p:blipFill>
          <a:blip r:embed="rId4"/>
          <a:stretch>
            <a:fillRect/>
          </a:stretch>
        </p:blipFill>
        <p:spPr>
          <a:xfrm>
            <a:off x="3429000" y="1737360"/>
            <a:ext cx="338328" cy="338328"/>
          </a:xfrm>
          <a:prstGeom prst="rect">
            <a:avLst/>
          </a:prstGeom>
        </p:spPr>
      </p:pic>
      <p:sp>
        <p:nvSpPr>
          <p:cNvPr id="16" name="Text 12"/>
          <p:cNvSpPr/>
          <p:nvPr/>
        </p:nvSpPr>
        <p:spPr>
          <a:xfrm>
            <a:off x="3310128" y="2304288"/>
            <a:ext cx="2423160" cy="457200"/>
          </a:xfrm>
          <a:prstGeom prst="rect">
            <a:avLst/>
          </a:prstGeom>
          <a:noFill/>
          <a:ln/>
        </p:spPr>
        <p:txBody>
          <a:bodyPr wrap="square" lIns="0" tIns="0" rIns="0" bIns="0" rtlCol="0" anchor="ctr"/>
          <a:lstStyle/>
          <a:p>
            <a:pPr marL="0" indent="0">
              <a:buNone/>
            </a:pPr>
            <a:r>
              <a:rPr lang="en-US" sz="1300" b="1" dirty="0">
                <a:solidFill>
                  <a:srgbClr val="1E293B"/>
                </a:solidFill>
                <a:latin typeface="Calibri" pitchFamily="34" charset="0"/>
                <a:ea typeface="Calibri" pitchFamily="34" charset="-122"/>
                <a:cs typeface="Calibri" pitchFamily="34" charset="-120"/>
              </a:rPr>
              <a:t>The 'Free Tool' Trap</a:t>
            </a:r>
            <a:endParaRPr lang="en-US" sz="1300" dirty="0"/>
          </a:p>
        </p:txBody>
      </p:sp>
      <p:sp>
        <p:nvSpPr>
          <p:cNvPr id="17" name="Text 13"/>
          <p:cNvSpPr/>
          <p:nvPr/>
        </p:nvSpPr>
        <p:spPr>
          <a:xfrm>
            <a:off x="3310128" y="2852928"/>
            <a:ext cx="2423160" cy="1691640"/>
          </a:xfrm>
          <a:prstGeom prst="rect">
            <a:avLst/>
          </a:prstGeom>
          <a:noFill/>
          <a:ln/>
        </p:spPr>
        <p:txBody>
          <a:bodyPr wrap="square" lIns="0" tIns="0" rIns="0" bIns="0" rtlCol="0" anchor="ctr"/>
          <a:lstStyle/>
          <a:p>
            <a:pPr marL="0" indent="0">
              <a:buNone/>
            </a:pPr>
            <a:r>
              <a:rPr lang="en-US" sz="1100" dirty="0">
                <a:solidFill>
                  <a:srgbClr val="64748B"/>
                </a:solidFill>
                <a:latin typeface="Calibri" pitchFamily="34" charset="0"/>
                <a:ea typeface="Calibri" pitchFamily="34" charset="-122"/>
                <a:cs typeface="Calibri" pitchFamily="34" charset="-120"/>
              </a:rPr>
              <a:t>Open-source IDS tools like Suricata exist but output raw, highly complex log data. A business owner or even a junior IT admin cannot realistically interpret these logs.</a:t>
            </a:r>
            <a:endParaRPr lang="en-US" sz="1100" dirty="0"/>
          </a:p>
        </p:txBody>
      </p:sp>
      <p:sp>
        <p:nvSpPr>
          <p:cNvPr id="18" name="Shape 14"/>
          <p:cNvSpPr/>
          <p:nvPr/>
        </p:nvSpPr>
        <p:spPr>
          <a:xfrm>
            <a:off x="6025896" y="1508760"/>
            <a:ext cx="2697480" cy="3200400"/>
          </a:xfrm>
          <a:prstGeom prst="rect">
            <a:avLst/>
          </a:prstGeom>
          <a:solidFill>
            <a:srgbClr val="FFFFFF"/>
          </a:solidFill>
          <a:ln w="12700">
            <a:solidFill>
              <a:srgbClr val="E2E8F0"/>
            </a:solidFill>
            <a:prstDash val="solid"/>
          </a:ln>
          <a:effectLst>
            <a:outerShdw blurRad="101600" dist="38100" dir="8100000" algn="bl" rotWithShape="0">
              <a:srgbClr val="000000">
                <a:alpha val="8000"/>
              </a:srgbClr>
            </a:outerShdw>
          </a:effectLst>
        </p:spPr>
        <p:txBody>
          <a:bodyPr/>
          <a:lstStyle/>
          <a:p>
            <a:endParaRPr lang="en-GB"/>
          </a:p>
        </p:txBody>
      </p:sp>
      <p:sp>
        <p:nvSpPr>
          <p:cNvPr id="19" name="Shape 15"/>
          <p:cNvSpPr/>
          <p:nvPr/>
        </p:nvSpPr>
        <p:spPr>
          <a:xfrm>
            <a:off x="6025896" y="1508760"/>
            <a:ext cx="2697480" cy="64008"/>
          </a:xfrm>
          <a:prstGeom prst="rect">
            <a:avLst/>
          </a:prstGeom>
          <a:solidFill>
            <a:srgbClr val="F97316"/>
          </a:solidFill>
          <a:ln w="12700">
            <a:solidFill>
              <a:srgbClr val="F97316"/>
            </a:solidFill>
            <a:prstDash val="solid"/>
          </a:ln>
        </p:spPr>
        <p:txBody>
          <a:bodyPr/>
          <a:lstStyle/>
          <a:p>
            <a:endParaRPr lang="en-GB"/>
          </a:p>
        </p:txBody>
      </p:sp>
      <p:sp>
        <p:nvSpPr>
          <p:cNvPr id="20" name="Shape 16"/>
          <p:cNvSpPr/>
          <p:nvPr/>
        </p:nvSpPr>
        <p:spPr>
          <a:xfrm>
            <a:off x="6208776" y="1664208"/>
            <a:ext cx="502920" cy="502920"/>
          </a:xfrm>
          <a:prstGeom prst="ellipse">
            <a:avLst/>
          </a:prstGeom>
          <a:solidFill>
            <a:srgbClr val="FFF7ED"/>
          </a:solidFill>
          <a:ln w="12700">
            <a:solidFill>
              <a:srgbClr val="FFF7ED"/>
            </a:solidFill>
            <a:prstDash val="solid"/>
          </a:ln>
        </p:spPr>
        <p:txBody>
          <a:bodyPr/>
          <a:lstStyle/>
          <a:p>
            <a:endParaRPr lang="en-GB"/>
          </a:p>
        </p:txBody>
      </p:sp>
      <p:pic>
        <p:nvPicPr>
          <p:cNvPr id="21" name="Image 2" descr="preencoded.png"/>
          <p:cNvPicPr>
            <a:picLocks noChangeAspect="1"/>
          </p:cNvPicPr>
          <p:nvPr/>
        </p:nvPicPr>
        <p:blipFill>
          <a:blip r:embed="rId5"/>
          <a:stretch>
            <a:fillRect/>
          </a:stretch>
        </p:blipFill>
        <p:spPr>
          <a:xfrm>
            <a:off x="6281928" y="1737360"/>
            <a:ext cx="338328" cy="338328"/>
          </a:xfrm>
          <a:prstGeom prst="rect">
            <a:avLst/>
          </a:prstGeom>
        </p:spPr>
      </p:pic>
      <p:sp>
        <p:nvSpPr>
          <p:cNvPr id="22" name="Text 17"/>
          <p:cNvSpPr/>
          <p:nvPr/>
        </p:nvSpPr>
        <p:spPr>
          <a:xfrm>
            <a:off x="6163056" y="2304288"/>
            <a:ext cx="2423160" cy="457200"/>
          </a:xfrm>
          <a:prstGeom prst="rect">
            <a:avLst/>
          </a:prstGeom>
          <a:noFill/>
          <a:ln/>
        </p:spPr>
        <p:txBody>
          <a:bodyPr wrap="square" lIns="0" tIns="0" rIns="0" bIns="0" rtlCol="0" anchor="ctr"/>
          <a:lstStyle/>
          <a:p>
            <a:pPr marL="0" indent="0">
              <a:buNone/>
            </a:pPr>
            <a:r>
              <a:rPr lang="en-US" sz="1300" b="1" dirty="0">
                <a:solidFill>
                  <a:srgbClr val="1E293B"/>
                </a:solidFill>
                <a:latin typeface="Calibri" pitchFamily="34" charset="0"/>
                <a:ea typeface="Calibri" pitchFamily="34" charset="-122"/>
                <a:cs typeface="Calibri" pitchFamily="34" charset="-120"/>
              </a:rPr>
              <a:t>Alert Fatigue</a:t>
            </a:r>
            <a:endParaRPr lang="en-US" sz="1300" dirty="0"/>
          </a:p>
        </p:txBody>
      </p:sp>
      <p:sp>
        <p:nvSpPr>
          <p:cNvPr id="23" name="Text 18"/>
          <p:cNvSpPr/>
          <p:nvPr/>
        </p:nvSpPr>
        <p:spPr>
          <a:xfrm>
            <a:off x="6163056" y="2852928"/>
            <a:ext cx="2423160" cy="1691640"/>
          </a:xfrm>
          <a:prstGeom prst="rect">
            <a:avLst/>
          </a:prstGeom>
          <a:noFill/>
          <a:ln/>
        </p:spPr>
        <p:txBody>
          <a:bodyPr wrap="square" lIns="0" tIns="0" rIns="0" bIns="0" rtlCol="0" anchor="ctr"/>
          <a:lstStyle/>
          <a:p>
            <a:pPr marL="0" indent="0">
              <a:buNone/>
            </a:pPr>
            <a:r>
              <a:rPr lang="en-US" sz="1100" dirty="0">
                <a:solidFill>
                  <a:srgbClr val="64748B"/>
                </a:solidFill>
                <a:latin typeface="Calibri" pitchFamily="34" charset="0"/>
                <a:ea typeface="Calibri" pitchFamily="34" charset="-122"/>
                <a:cs typeface="Calibri" pitchFamily="34" charset="-120"/>
              </a:rPr>
              <a:t>When every alert looks equally alarming and incomprehensible, real threats get ignored. Existing free tools provide zero context, zero priority, and zero next steps.</a:t>
            </a:r>
            <a:endParaRPr lang="en-US" sz="1100" dirty="0"/>
          </a:p>
        </p:txBody>
      </p:sp>
      <p:sp>
        <p:nvSpPr>
          <p:cNvPr id="24" name="Shape 19"/>
          <p:cNvSpPr/>
          <p:nvPr/>
        </p:nvSpPr>
        <p:spPr>
          <a:xfrm>
            <a:off x="0" y="4800600"/>
            <a:ext cx="9144000" cy="342900"/>
          </a:xfrm>
          <a:prstGeom prst="rect">
            <a:avLst/>
          </a:prstGeom>
          <a:solidFill>
            <a:srgbClr val="0F172A"/>
          </a:solidFill>
          <a:ln w="12700">
            <a:solidFill>
              <a:srgbClr val="0F172A"/>
            </a:solidFill>
            <a:prstDash val="solid"/>
          </a:ln>
        </p:spPr>
        <p:txBody>
          <a:bodyPr/>
          <a:lstStyle/>
          <a:p>
            <a:endParaRPr lang="en-GB"/>
          </a:p>
        </p:txBody>
      </p:sp>
      <p:sp>
        <p:nvSpPr>
          <p:cNvPr id="25" name="Text 20"/>
          <p:cNvSpPr/>
          <p:nvPr/>
        </p:nvSpPr>
        <p:spPr>
          <a:xfrm>
            <a:off x="457200" y="4800600"/>
            <a:ext cx="8229600" cy="342900"/>
          </a:xfrm>
          <a:prstGeom prst="rect">
            <a:avLst/>
          </a:prstGeom>
          <a:noFill/>
          <a:ln/>
        </p:spPr>
        <p:txBody>
          <a:bodyPr wrap="square" rtlCol="0" anchor="ctr"/>
          <a:lstStyle/>
          <a:p>
            <a:pPr marL="0" indent="0" algn="ctr">
              <a:buNone/>
            </a:pPr>
            <a:r>
              <a:rPr lang="en-US" sz="1050" b="1" dirty="0">
                <a:solidFill>
                  <a:srgbClr val="06B6D4"/>
                </a:solidFill>
                <a:latin typeface="Calibri" pitchFamily="34" charset="0"/>
                <a:ea typeface="Calibri" pitchFamily="34" charset="-122"/>
                <a:cs typeface="Calibri" pitchFamily="34" charset="-120"/>
              </a:rPr>
              <a:t>59% of SMEs suffered a cyberattack in a 12-month period  ·  avg breach cost: $3.9M  ·  targeted because they're seen as soft targets  (Hiscox 2025)</a:t>
            </a:r>
            <a:endParaRPr lang="en-US" sz="1050" dirty="0"/>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bg>
      <p:bgPr>
        <a:solidFill>
          <a:srgbClr val="0F172A"/>
        </a:solidFill>
        <a:effectLst/>
      </p:bgPr>
    </p:bg>
    <p:spTree>
      <p:nvGrpSpPr>
        <p:cNvPr id="1" name=""/>
        <p:cNvGrpSpPr/>
        <p:nvPr/>
      </p:nvGrpSpPr>
      <p:grpSpPr>
        <a:xfrm>
          <a:off x="0" y="0"/>
          <a:ext cx="0" cy="0"/>
          <a:chOff x="0" y="0"/>
          <a:chExt cx="0" cy="0"/>
        </a:xfrm>
      </p:grpSpPr>
      <p:sp>
        <p:nvSpPr>
          <p:cNvPr id="2" name="Shape 0"/>
          <p:cNvSpPr/>
          <p:nvPr/>
        </p:nvSpPr>
        <p:spPr>
          <a:xfrm>
            <a:off x="0" y="0"/>
            <a:ext cx="9144000" cy="640080"/>
          </a:xfrm>
          <a:prstGeom prst="rect">
            <a:avLst/>
          </a:prstGeom>
          <a:solidFill>
            <a:srgbClr val="0A1020"/>
          </a:solidFill>
          <a:ln w="12700">
            <a:solidFill>
              <a:srgbClr val="0A1020"/>
            </a:solidFill>
            <a:prstDash val="solid"/>
          </a:ln>
        </p:spPr>
        <p:txBody>
          <a:bodyPr/>
          <a:lstStyle/>
          <a:p>
            <a:endParaRPr lang="en-GB"/>
          </a:p>
        </p:txBody>
      </p:sp>
      <p:sp>
        <p:nvSpPr>
          <p:cNvPr id="3" name="Text 1"/>
          <p:cNvSpPr/>
          <p:nvPr/>
        </p:nvSpPr>
        <p:spPr>
          <a:xfrm>
            <a:off x="365760" y="0"/>
            <a:ext cx="8229600" cy="640080"/>
          </a:xfrm>
          <a:prstGeom prst="rect">
            <a:avLst/>
          </a:prstGeom>
          <a:noFill/>
          <a:ln/>
        </p:spPr>
        <p:txBody>
          <a:bodyPr wrap="square" rtlCol="0" anchor="ctr"/>
          <a:lstStyle/>
          <a:p>
            <a:pPr marL="0" indent="0">
              <a:buNone/>
            </a:pPr>
            <a:r>
              <a:rPr lang="en-US" sz="1100" b="1" kern="0" spc="400" dirty="0">
                <a:solidFill>
                  <a:srgbClr val="06B6D4"/>
                </a:solidFill>
                <a:latin typeface="Calibri" pitchFamily="34" charset="0"/>
                <a:ea typeface="Calibri" pitchFamily="34" charset="-122"/>
                <a:cs typeface="Calibri" pitchFamily="34" charset="-120"/>
              </a:rPr>
              <a:t>THE SOLUTION</a:t>
            </a:r>
            <a:endParaRPr lang="en-US" sz="1100" dirty="0"/>
          </a:p>
        </p:txBody>
      </p:sp>
      <p:sp>
        <p:nvSpPr>
          <p:cNvPr id="4" name="Text 2"/>
          <p:cNvSpPr/>
          <p:nvPr/>
        </p:nvSpPr>
        <p:spPr>
          <a:xfrm>
            <a:off x="8412480" y="0"/>
            <a:ext cx="548640" cy="640080"/>
          </a:xfrm>
          <a:prstGeom prst="rect">
            <a:avLst/>
          </a:prstGeom>
          <a:noFill/>
          <a:ln/>
        </p:spPr>
        <p:txBody>
          <a:bodyPr wrap="square" rtlCol="0" anchor="ctr"/>
          <a:lstStyle/>
          <a:p>
            <a:pPr marL="0" indent="0" algn="r">
              <a:buNone/>
            </a:pPr>
            <a:r>
              <a:rPr lang="en-US" sz="1000" dirty="0">
                <a:solidFill>
                  <a:srgbClr val="64748B"/>
                </a:solidFill>
                <a:latin typeface="Calibri" pitchFamily="34" charset="0"/>
                <a:ea typeface="Calibri" pitchFamily="34" charset="-122"/>
                <a:cs typeface="Calibri" pitchFamily="34" charset="-120"/>
              </a:rPr>
              <a:t>03</a:t>
            </a:r>
            <a:endParaRPr lang="en-US" sz="1000" dirty="0"/>
          </a:p>
        </p:txBody>
      </p:sp>
      <p:sp>
        <p:nvSpPr>
          <p:cNvPr id="5" name="Text 3"/>
          <p:cNvSpPr/>
          <p:nvPr/>
        </p:nvSpPr>
        <p:spPr>
          <a:xfrm>
            <a:off x="365760" y="777240"/>
            <a:ext cx="8229600" cy="548640"/>
          </a:xfrm>
          <a:prstGeom prst="rect">
            <a:avLst/>
          </a:prstGeom>
          <a:noFill/>
          <a:ln/>
        </p:spPr>
        <p:txBody>
          <a:bodyPr wrap="square" lIns="0" tIns="0" rIns="0" bIns="0" rtlCol="0" anchor="ctr"/>
          <a:lstStyle/>
          <a:p>
            <a:pPr marL="0" indent="0">
              <a:buNone/>
            </a:pPr>
            <a:r>
              <a:rPr lang="en-US" sz="2800" b="1" dirty="0">
                <a:solidFill>
                  <a:srgbClr val="FFFFFF"/>
                </a:solidFill>
                <a:latin typeface="Arial Black" pitchFamily="34" charset="0"/>
                <a:ea typeface="Arial Black" pitchFamily="34" charset="-122"/>
                <a:cs typeface="Arial Black" pitchFamily="34" charset="-120"/>
              </a:rPr>
              <a:t>S.I.R.A. — What It Does &amp; Why It's Better</a:t>
            </a:r>
            <a:endParaRPr lang="en-US" sz="2800" dirty="0"/>
          </a:p>
        </p:txBody>
      </p:sp>
      <p:sp>
        <p:nvSpPr>
          <p:cNvPr id="6" name="Shape 4"/>
          <p:cNvSpPr/>
          <p:nvPr/>
        </p:nvSpPr>
        <p:spPr>
          <a:xfrm>
            <a:off x="320040" y="1554480"/>
            <a:ext cx="4023360" cy="1417320"/>
          </a:xfrm>
          <a:prstGeom prst="rect">
            <a:avLst/>
          </a:prstGeom>
          <a:solidFill>
            <a:srgbClr val="1E293B"/>
          </a:solidFill>
          <a:ln w="12700">
            <a:solidFill>
              <a:srgbClr val="334155"/>
            </a:solidFill>
            <a:prstDash val="solid"/>
          </a:ln>
          <a:effectLst>
            <a:outerShdw blurRad="101600" dist="38100" dir="8100000" algn="bl" rotWithShape="0">
              <a:srgbClr val="000000">
                <a:alpha val="8000"/>
              </a:srgbClr>
            </a:outerShdw>
          </a:effectLst>
        </p:spPr>
        <p:txBody>
          <a:bodyPr/>
          <a:lstStyle/>
          <a:p>
            <a:endParaRPr lang="en-GB"/>
          </a:p>
        </p:txBody>
      </p:sp>
      <p:pic>
        <p:nvPicPr>
          <p:cNvPr id="7" name="Image 0" descr="preencoded.png"/>
          <p:cNvPicPr>
            <a:picLocks noChangeAspect="1"/>
          </p:cNvPicPr>
          <p:nvPr/>
        </p:nvPicPr>
        <p:blipFill>
          <a:blip r:embed="rId3"/>
          <a:stretch>
            <a:fillRect/>
          </a:stretch>
        </p:blipFill>
        <p:spPr>
          <a:xfrm>
            <a:off x="502920" y="1965960"/>
            <a:ext cx="457200" cy="457200"/>
          </a:xfrm>
          <a:prstGeom prst="rect">
            <a:avLst/>
          </a:prstGeom>
        </p:spPr>
      </p:pic>
      <p:sp>
        <p:nvSpPr>
          <p:cNvPr id="8" name="Text 5"/>
          <p:cNvSpPr/>
          <p:nvPr/>
        </p:nvSpPr>
        <p:spPr>
          <a:xfrm>
            <a:off x="1097280" y="1664208"/>
            <a:ext cx="3108960" cy="320040"/>
          </a:xfrm>
          <a:prstGeom prst="rect">
            <a:avLst/>
          </a:prstGeom>
          <a:noFill/>
          <a:ln/>
        </p:spPr>
        <p:txBody>
          <a:bodyPr wrap="square" lIns="0" tIns="0" rIns="0" bIns="0" rtlCol="0" anchor="ctr"/>
          <a:lstStyle/>
          <a:p>
            <a:pPr marL="0" indent="0">
              <a:buNone/>
            </a:pPr>
            <a:r>
              <a:rPr lang="en-US" sz="1300" b="1" dirty="0">
                <a:solidFill>
                  <a:srgbClr val="FFFFFF"/>
                </a:solidFill>
                <a:latin typeface="Calibri" pitchFamily="34" charset="0"/>
                <a:ea typeface="Calibri" pitchFamily="34" charset="-122"/>
                <a:cs typeface="Calibri" pitchFamily="34" charset="-120"/>
              </a:rPr>
              <a:t>AI Translation</a:t>
            </a:r>
            <a:endParaRPr lang="en-US" sz="1300" dirty="0"/>
          </a:p>
        </p:txBody>
      </p:sp>
      <p:sp>
        <p:nvSpPr>
          <p:cNvPr id="9" name="Text 6"/>
          <p:cNvSpPr/>
          <p:nvPr/>
        </p:nvSpPr>
        <p:spPr>
          <a:xfrm>
            <a:off x="1097280" y="2011680"/>
            <a:ext cx="3108960" cy="777240"/>
          </a:xfrm>
          <a:prstGeom prst="rect">
            <a:avLst/>
          </a:prstGeom>
          <a:noFill/>
          <a:ln/>
        </p:spPr>
        <p:txBody>
          <a:bodyPr wrap="square" lIns="0" tIns="0" rIns="0" bIns="0" rtlCol="0" anchor="ctr"/>
          <a:lstStyle/>
          <a:p>
            <a:pPr marL="0" indent="0">
              <a:buNone/>
            </a:pPr>
            <a:r>
              <a:rPr lang="en-US" sz="1050" dirty="0">
                <a:solidFill>
                  <a:srgbClr val="94A3B8"/>
                </a:solidFill>
                <a:latin typeface="Calibri" pitchFamily="34" charset="0"/>
                <a:ea typeface="Calibri" pitchFamily="34" charset="-122"/>
                <a:cs typeface="Calibri" pitchFamily="34" charset="-120"/>
              </a:rPr>
              <a:t>Gemini LLM converts raw System/Snort logs into plain-English summaries tailored to the user's technical level.</a:t>
            </a:r>
            <a:endParaRPr lang="en-US" sz="1050" dirty="0"/>
          </a:p>
        </p:txBody>
      </p:sp>
      <p:sp>
        <p:nvSpPr>
          <p:cNvPr id="10" name="Shape 7"/>
          <p:cNvSpPr/>
          <p:nvPr/>
        </p:nvSpPr>
        <p:spPr>
          <a:xfrm>
            <a:off x="4663440" y="1554480"/>
            <a:ext cx="4023360" cy="1417320"/>
          </a:xfrm>
          <a:prstGeom prst="rect">
            <a:avLst/>
          </a:prstGeom>
          <a:solidFill>
            <a:srgbClr val="1E293B"/>
          </a:solidFill>
          <a:ln w="12700">
            <a:solidFill>
              <a:srgbClr val="334155"/>
            </a:solidFill>
            <a:prstDash val="solid"/>
          </a:ln>
          <a:effectLst>
            <a:outerShdw blurRad="101600" dist="38100" dir="8100000" algn="bl" rotWithShape="0">
              <a:srgbClr val="000000">
                <a:alpha val="8000"/>
              </a:srgbClr>
            </a:outerShdw>
          </a:effectLst>
        </p:spPr>
        <p:txBody>
          <a:bodyPr/>
          <a:lstStyle/>
          <a:p>
            <a:endParaRPr lang="en-GB"/>
          </a:p>
        </p:txBody>
      </p:sp>
      <p:pic>
        <p:nvPicPr>
          <p:cNvPr id="11" name="Image 1" descr="preencoded.png"/>
          <p:cNvPicPr>
            <a:picLocks noChangeAspect="1"/>
          </p:cNvPicPr>
          <p:nvPr/>
        </p:nvPicPr>
        <p:blipFill>
          <a:blip r:embed="rId4"/>
          <a:stretch>
            <a:fillRect/>
          </a:stretch>
        </p:blipFill>
        <p:spPr>
          <a:xfrm>
            <a:off x="4846320" y="1965960"/>
            <a:ext cx="457200" cy="457200"/>
          </a:xfrm>
          <a:prstGeom prst="rect">
            <a:avLst/>
          </a:prstGeom>
        </p:spPr>
      </p:pic>
      <p:sp>
        <p:nvSpPr>
          <p:cNvPr id="12" name="Text 8"/>
          <p:cNvSpPr/>
          <p:nvPr/>
        </p:nvSpPr>
        <p:spPr>
          <a:xfrm>
            <a:off x="5440680" y="1664208"/>
            <a:ext cx="3108960" cy="320040"/>
          </a:xfrm>
          <a:prstGeom prst="rect">
            <a:avLst/>
          </a:prstGeom>
          <a:noFill/>
          <a:ln/>
        </p:spPr>
        <p:txBody>
          <a:bodyPr wrap="square" lIns="0" tIns="0" rIns="0" bIns="0" rtlCol="0" anchor="ctr"/>
          <a:lstStyle/>
          <a:p>
            <a:pPr marL="0" indent="0">
              <a:buNone/>
            </a:pPr>
            <a:r>
              <a:rPr lang="en-US" sz="1300" b="1" dirty="0">
                <a:solidFill>
                  <a:srgbClr val="FFFFFF"/>
                </a:solidFill>
                <a:latin typeface="Calibri" pitchFamily="34" charset="0"/>
                <a:ea typeface="Calibri" pitchFamily="34" charset="-122"/>
                <a:cs typeface="Calibri" pitchFamily="34" charset="-120"/>
              </a:rPr>
              <a:t>Risk Scoring + Triage</a:t>
            </a:r>
            <a:endParaRPr lang="en-US" sz="1300" dirty="0"/>
          </a:p>
        </p:txBody>
      </p:sp>
      <p:sp>
        <p:nvSpPr>
          <p:cNvPr id="13" name="Text 9"/>
          <p:cNvSpPr/>
          <p:nvPr/>
        </p:nvSpPr>
        <p:spPr>
          <a:xfrm>
            <a:off x="5440680" y="2011680"/>
            <a:ext cx="3108960" cy="777240"/>
          </a:xfrm>
          <a:prstGeom prst="rect">
            <a:avLst/>
          </a:prstGeom>
          <a:noFill/>
          <a:ln/>
        </p:spPr>
        <p:txBody>
          <a:bodyPr wrap="square" lIns="0" tIns="0" rIns="0" bIns="0" rtlCol="0" anchor="ctr"/>
          <a:lstStyle/>
          <a:p>
            <a:pPr marL="0" indent="0">
              <a:buNone/>
            </a:pPr>
            <a:r>
              <a:rPr lang="en-US" sz="1050" dirty="0">
                <a:solidFill>
                  <a:srgbClr val="94A3B8"/>
                </a:solidFill>
                <a:latin typeface="Calibri" pitchFamily="34" charset="0"/>
                <a:ea typeface="Calibri" pitchFamily="34" charset="-122"/>
                <a:cs typeface="Calibri" pitchFamily="34" charset="-120"/>
              </a:rPr>
              <a:t>Every incident is automatically scored 1–10. Critical threats surface immediately; low-level noise is deprioritised.</a:t>
            </a:r>
            <a:endParaRPr lang="en-US" sz="1050" dirty="0"/>
          </a:p>
        </p:txBody>
      </p:sp>
      <p:sp>
        <p:nvSpPr>
          <p:cNvPr id="14" name="Shape 10"/>
          <p:cNvSpPr/>
          <p:nvPr/>
        </p:nvSpPr>
        <p:spPr>
          <a:xfrm>
            <a:off x="320040" y="3154680"/>
            <a:ext cx="4023360" cy="1417320"/>
          </a:xfrm>
          <a:prstGeom prst="rect">
            <a:avLst/>
          </a:prstGeom>
          <a:solidFill>
            <a:srgbClr val="1E293B"/>
          </a:solidFill>
          <a:ln w="12700">
            <a:solidFill>
              <a:srgbClr val="334155"/>
            </a:solidFill>
            <a:prstDash val="solid"/>
          </a:ln>
          <a:effectLst>
            <a:outerShdw blurRad="101600" dist="38100" dir="8100000" algn="bl" rotWithShape="0">
              <a:srgbClr val="000000">
                <a:alpha val="8000"/>
              </a:srgbClr>
            </a:outerShdw>
          </a:effectLst>
        </p:spPr>
        <p:txBody>
          <a:bodyPr/>
          <a:lstStyle/>
          <a:p>
            <a:endParaRPr lang="en-GB"/>
          </a:p>
        </p:txBody>
      </p:sp>
      <p:pic>
        <p:nvPicPr>
          <p:cNvPr id="15" name="Image 2" descr="preencoded.png"/>
          <p:cNvPicPr>
            <a:picLocks noChangeAspect="1"/>
          </p:cNvPicPr>
          <p:nvPr/>
        </p:nvPicPr>
        <p:blipFill>
          <a:blip r:embed="rId5"/>
          <a:stretch>
            <a:fillRect/>
          </a:stretch>
        </p:blipFill>
        <p:spPr>
          <a:xfrm>
            <a:off x="502920" y="3566160"/>
            <a:ext cx="457200" cy="457200"/>
          </a:xfrm>
          <a:prstGeom prst="rect">
            <a:avLst/>
          </a:prstGeom>
        </p:spPr>
      </p:pic>
      <p:sp>
        <p:nvSpPr>
          <p:cNvPr id="16" name="Text 11"/>
          <p:cNvSpPr/>
          <p:nvPr/>
        </p:nvSpPr>
        <p:spPr>
          <a:xfrm>
            <a:off x="1097280" y="3264408"/>
            <a:ext cx="3108960" cy="320040"/>
          </a:xfrm>
          <a:prstGeom prst="rect">
            <a:avLst/>
          </a:prstGeom>
          <a:noFill/>
          <a:ln/>
        </p:spPr>
        <p:txBody>
          <a:bodyPr wrap="square" lIns="0" tIns="0" rIns="0" bIns="0" rtlCol="0" anchor="ctr"/>
          <a:lstStyle/>
          <a:p>
            <a:pPr marL="0" indent="0">
              <a:buNone/>
            </a:pPr>
            <a:r>
              <a:rPr lang="en-US" sz="1300" b="1" dirty="0">
                <a:solidFill>
                  <a:srgbClr val="FFFFFF"/>
                </a:solidFill>
                <a:latin typeface="Calibri" pitchFamily="34" charset="0"/>
                <a:ea typeface="Calibri" pitchFamily="34" charset="-122"/>
                <a:cs typeface="Calibri" pitchFamily="34" charset="-120"/>
              </a:rPr>
              <a:t>Actionable Playbooks</a:t>
            </a:r>
            <a:endParaRPr lang="en-US" sz="1300" dirty="0"/>
          </a:p>
        </p:txBody>
      </p:sp>
      <p:sp>
        <p:nvSpPr>
          <p:cNvPr id="17" name="Text 12"/>
          <p:cNvSpPr/>
          <p:nvPr/>
        </p:nvSpPr>
        <p:spPr>
          <a:xfrm>
            <a:off x="1097280" y="3611880"/>
            <a:ext cx="3108960" cy="777240"/>
          </a:xfrm>
          <a:prstGeom prst="rect">
            <a:avLst/>
          </a:prstGeom>
          <a:noFill/>
          <a:ln/>
        </p:spPr>
        <p:txBody>
          <a:bodyPr wrap="square" lIns="0" tIns="0" rIns="0" bIns="0" rtlCol="0" anchor="ctr"/>
          <a:lstStyle/>
          <a:p>
            <a:pPr marL="0" indent="0">
              <a:buNone/>
            </a:pPr>
            <a:r>
              <a:rPr lang="en-US" sz="1050" dirty="0">
                <a:solidFill>
                  <a:srgbClr val="94A3B8"/>
                </a:solidFill>
                <a:latin typeface="Calibri" pitchFamily="34" charset="0"/>
                <a:ea typeface="Calibri" pitchFamily="34" charset="-122"/>
                <a:cs typeface="Calibri" pitchFamily="34" charset="-120"/>
              </a:rPr>
              <a:t>Not just 'here's an alert' — SIRA generates step-by-step mitigation checklists the user can work through directly.</a:t>
            </a:r>
            <a:endParaRPr lang="en-US" sz="1050" dirty="0"/>
          </a:p>
        </p:txBody>
      </p:sp>
      <p:sp>
        <p:nvSpPr>
          <p:cNvPr id="18" name="Shape 13"/>
          <p:cNvSpPr/>
          <p:nvPr/>
        </p:nvSpPr>
        <p:spPr>
          <a:xfrm>
            <a:off x="4663440" y="3154680"/>
            <a:ext cx="4023360" cy="1417320"/>
          </a:xfrm>
          <a:prstGeom prst="rect">
            <a:avLst/>
          </a:prstGeom>
          <a:solidFill>
            <a:srgbClr val="1E293B"/>
          </a:solidFill>
          <a:ln w="12700">
            <a:solidFill>
              <a:srgbClr val="334155"/>
            </a:solidFill>
            <a:prstDash val="solid"/>
          </a:ln>
          <a:effectLst>
            <a:outerShdw blurRad="101600" dist="38100" dir="8100000" algn="bl" rotWithShape="0">
              <a:srgbClr val="000000">
                <a:alpha val="8000"/>
              </a:srgbClr>
            </a:outerShdw>
          </a:effectLst>
        </p:spPr>
        <p:txBody>
          <a:bodyPr/>
          <a:lstStyle/>
          <a:p>
            <a:endParaRPr lang="en-GB"/>
          </a:p>
        </p:txBody>
      </p:sp>
      <p:pic>
        <p:nvPicPr>
          <p:cNvPr id="19" name="Image 3" descr="preencoded.png"/>
          <p:cNvPicPr>
            <a:picLocks noChangeAspect="1"/>
          </p:cNvPicPr>
          <p:nvPr/>
        </p:nvPicPr>
        <p:blipFill>
          <a:blip r:embed="rId6"/>
          <a:stretch>
            <a:fillRect/>
          </a:stretch>
        </p:blipFill>
        <p:spPr>
          <a:xfrm>
            <a:off x="4846320" y="3566160"/>
            <a:ext cx="457200" cy="457200"/>
          </a:xfrm>
          <a:prstGeom prst="rect">
            <a:avLst/>
          </a:prstGeom>
        </p:spPr>
      </p:pic>
      <p:sp>
        <p:nvSpPr>
          <p:cNvPr id="20" name="Text 14"/>
          <p:cNvSpPr/>
          <p:nvPr/>
        </p:nvSpPr>
        <p:spPr>
          <a:xfrm>
            <a:off x="5440680" y="3264408"/>
            <a:ext cx="3108960" cy="320040"/>
          </a:xfrm>
          <a:prstGeom prst="rect">
            <a:avLst/>
          </a:prstGeom>
          <a:noFill/>
          <a:ln/>
        </p:spPr>
        <p:txBody>
          <a:bodyPr wrap="square" lIns="0" tIns="0" rIns="0" bIns="0" rtlCol="0" anchor="ctr"/>
          <a:lstStyle/>
          <a:p>
            <a:pPr marL="0" indent="0">
              <a:buNone/>
            </a:pPr>
            <a:r>
              <a:rPr lang="en-US" sz="1300" b="1" dirty="0">
                <a:solidFill>
                  <a:srgbClr val="FFFFFF"/>
                </a:solidFill>
                <a:latin typeface="Calibri" pitchFamily="34" charset="0"/>
                <a:ea typeface="Calibri" pitchFamily="34" charset="-122"/>
                <a:cs typeface="Calibri" pitchFamily="34" charset="-120"/>
              </a:rPr>
              <a:t>Context-Aware AI</a:t>
            </a:r>
            <a:endParaRPr lang="en-US" sz="1300" dirty="0"/>
          </a:p>
        </p:txBody>
      </p:sp>
      <p:sp>
        <p:nvSpPr>
          <p:cNvPr id="21" name="Text 15"/>
          <p:cNvSpPr/>
          <p:nvPr/>
        </p:nvSpPr>
        <p:spPr>
          <a:xfrm>
            <a:off x="5440680" y="3611880"/>
            <a:ext cx="3108960" cy="777240"/>
          </a:xfrm>
          <a:prstGeom prst="rect">
            <a:avLst/>
          </a:prstGeom>
          <a:noFill/>
          <a:ln/>
        </p:spPr>
        <p:txBody>
          <a:bodyPr wrap="square" lIns="0" tIns="0" rIns="0" bIns="0" rtlCol="0" anchor="ctr"/>
          <a:lstStyle/>
          <a:p>
            <a:pPr marL="0" indent="0">
              <a:buNone/>
            </a:pPr>
            <a:r>
              <a:rPr lang="en-US" sz="1050" dirty="0">
                <a:solidFill>
                  <a:srgbClr val="94A3B8"/>
                </a:solidFill>
                <a:latin typeface="Calibri" pitchFamily="34" charset="0"/>
                <a:ea typeface="Calibri" pitchFamily="34" charset="-122"/>
                <a:cs typeface="Calibri" pitchFamily="34" charset="-120"/>
              </a:rPr>
              <a:t>User sets their skill level (Business Owner / IT Support / SOC Analyst). The AI adjusts its language and depth accordingly.</a:t>
            </a:r>
            <a:endParaRPr lang="en-US" sz="1050" dirty="0"/>
          </a:p>
        </p:txBody>
      </p:sp>
      <p:sp>
        <p:nvSpPr>
          <p:cNvPr id="22" name="Shape 16"/>
          <p:cNvSpPr/>
          <p:nvPr/>
        </p:nvSpPr>
        <p:spPr>
          <a:xfrm>
            <a:off x="0" y="4800600"/>
            <a:ext cx="9144000" cy="342900"/>
          </a:xfrm>
          <a:prstGeom prst="rect">
            <a:avLst/>
          </a:prstGeom>
          <a:solidFill>
            <a:srgbClr val="6366F1"/>
          </a:solidFill>
          <a:ln w="12700">
            <a:solidFill>
              <a:srgbClr val="6366F1"/>
            </a:solidFill>
            <a:prstDash val="solid"/>
          </a:ln>
        </p:spPr>
        <p:txBody>
          <a:bodyPr/>
          <a:lstStyle/>
          <a:p>
            <a:endParaRPr lang="en-GB"/>
          </a:p>
        </p:txBody>
      </p:sp>
      <p:sp>
        <p:nvSpPr>
          <p:cNvPr id="23" name="Text 17"/>
          <p:cNvSpPr/>
          <p:nvPr/>
        </p:nvSpPr>
        <p:spPr>
          <a:xfrm>
            <a:off x="457200" y="4800600"/>
            <a:ext cx="8229600" cy="342900"/>
          </a:xfrm>
          <a:prstGeom prst="rect">
            <a:avLst/>
          </a:prstGeom>
          <a:noFill/>
          <a:ln/>
        </p:spPr>
        <p:txBody>
          <a:bodyPr wrap="square" rtlCol="0" anchor="ctr"/>
          <a:lstStyle/>
          <a:p>
            <a:pPr marL="0" indent="0" algn="ctr">
              <a:buNone/>
            </a:pPr>
            <a:r>
              <a:rPr lang="en-US" sz="1050" b="1" dirty="0">
                <a:solidFill>
                  <a:srgbClr val="FFFFFF"/>
                </a:solidFill>
                <a:latin typeface="Calibri" pitchFamily="34" charset="0"/>
                <a:ea typeface="Calibri" pitchFamily="34" charset="-122"/>
                <a:cs typeface="Calibri" pitchFamily="34" charset="-120"/>
              </a:rPr>
              <a:t>vs. Splunk: ~$150/GB/day  ·  vs. Suricata: raw logs only, no context  ·  vs. manual review: 4–8hrs per analyst per day</a:t>
            </a:r>
            <a:endParaRPr lang="en-US" sz="1050" dirty="0"/>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bg>
      <p:bgPr>
        <a:solidFill>
          <a:srgbClr val="F1F5F9"/>
        </a:solidFill>
        <a:effectLst/>
      </p:bgPr>
    </p:bg>
    <p:spTree>
      <p:nvGrpSpPr>
        <p:cNvPr id="1" name=""/>
        <p:cNvGrpSpPr/>
        <p:nvPr/>
      </p:nvGrpSpPr>
      <p:grpSpPr>
        <a:xfrm>
          <a:off x="0" y="0"/>
          <a:ext cx="0" cy="0"/>
          <a:chOff x="0" y="0"/>
          <a:chExt cx="0" cy="0"/>
        </a:xfrm>
      </p:grpSpPr>
      <p:sp>
        <p:nvSpPr>
          <p:cNvPr id="2" name="Shape 0"/>
          <p:cNvSpPr/>
          <p:nvPr/>
        </p:nvSpPr>
        <p:spPr>
          <a:xfrm>
            <a:off x="0" y="0"/>
            <a:ext cx="9144000" cy="640080"/>
          </a:xfrm>
          <a:prstGeom prst="rect">
            <a:avLst/>
          </a:prstGeom>
          <a:solidFill>
            <a:srgbClr val="0F172A"/>
          </a:solidFill>
          <a:ln w="12700">
            <a:solidFill>
              <a:srgbClr val="0F172A"/>
            </a:solidFill>
            <a:prstDash val="solid"/>
          </a:ln>
        </p:spPr>
        <p:txBody>
          <a:bodyPr/>
          <a:lstStyle/>
          <a:p>
            <a:endParaRPr lang="en-GB"/>
          </a:p>
        </p:txBody>
      </p:sp>
      <p:sp>
        <p:nvSpPr>
          <p:cNvPr id="3" name="Text 1"/>
          <p:cNvSpPr/>
          <p:nvPr/>
        </p:nvSpPr>
        <p:spPr>
          <a:xfrm>
            <a:off x="365760" y="0"/>
            <a:ext cx="8229600" cy="640080"/>
          </a:xfrm>
          <a:prstGeom prst="rect">
            <a:avLst/>
          </a:prstGeom>
          <a:noFill/>
          <a:ln/>
        </p:spPr>
        <p:txBody>
          <a:bodyPr wrap="square" rtlCol="0" anchor="ctr"/>
          <a:lstStyle/>
          <a:p>
            <a:pPr marL="0" indent="0">
              <a:buNone/>
            </a:pPr>
            <a:r>
              <a:rPr lang="en-US" sz="1100" b="1" kern="0" spc="400" dirty="0">
                <a:solidFill>
                  <a:srgbClr val="06B6D4"/>
                </a:solidFill>
                <a:latin typeface="Calibri" pitchFamily="34" charset="0"/>
                <a:ea typeface="Calibri" pitchFamily="34" charset="-122"/>
                <a:cs typeface="Calibri" pitchFamily="34" charset="-120"/>
              </a:rPr>
              <a:t>ARCHITECTURE &amp; DATA FLOW</a:t>
            </a:r>
            <a:endParaRPr lang="en-US" sz="1100" dirty="0"/>
          </a:p>
        </p:txBody>
      </p:sp>
      <p:sp>
        <p:nvSpPr>
          <p:cNvPr id="4" name="Text 2"/>
          <p:cNvSpPr/>
          <p:nvPr/>
        </p:nvSpPr>
        <p:spPr>
          <a:xfrm>
            <a:off x="8412480" y="0"/>
            <a:ext cx="548640" cy="640080"/>
          </a:xfrm>
          <a:prstGeom prst="rect">
            <a:avLst/>
          </a:prstGeom>
          <a:noFill/>
          <a:ln/>
        </p:spPr>
        <p:txBody>
          <a:bodyPr wrap="square" rtlCol="0" anchor="ctr"/>
          <a:lstStyle/>
          <a:p>
            <a:pPr marL="0" indent="0" algn="r">
              <a:buNone/>
            </a:pPr>
            <a:r>
              <a:rPr lang="en-US" sz="1000" dirty="0">
                <a:solidFill>
                  <a:srgbClr val="64748B"/>
                </a:solidFill>
                <a:latin typeface="Calibri" pitchFamily="34" charset="0"/>
                <a:ea typeface="Calibri" pitchFamily="34" charset="-122"/>
                <a:cs typeface="Calibri" pitchFamily="34" charset="-120"/>
              </a:rPr>
              <a:t>04</a:t>
            </a:r>
            <a:endParaRPr lang="en-US" sz="1000" dirty="0"/>
          </a:p>
        </p:txBody>
      </p:sp>
      <p:sp>
        <p:nvSpPr>
          <p:cNvPr id="5" name="Text 3"/>
          <p:cNvSpPr/>
          <p:nvPr/>
        </p:nvSpPr>
        <p:spPr>
          <a:xfrm>
            <a:off x="365760" y="731520"/>
            <a:ext cx="8229600" cy="457200"/>
          </a:xfrm>
          <a:prstGeom prst="rect">
            <a:avLst/>
          </a:prstGeom>
          <a:noFill/>
          <a:ln/>
        </p:spPr>
        <p:txBody>
          <a:bodyPr wrap="square" lIns="0" tIns="0" rIns="0" bIns="0" rtlCol="0" anchor="ctr"/>
          <a:lstStyle/>
          <a:p>
            <a:pPr marL="0" indent="0">
              <a:buNone/>
            </a:pPr>
            <a:r>
              <a:rPr lang="en-US" sz="2600" b="1" dirty="0">
                <a:solidFill>
                  <a:srgbClr val="1E293B"/>
                </a:solidFill>
                <a:latin typeface="Arial Black" pitchFamily="34" charset="0"/>
                <a:ea typeface="Arial Black" pitchFamily="34" charset="-122"/>
                <a:cs typeface="Arial Black" pitchFamily="34" charset="-120"/>
              </a:rPr>
              <a:t>How S.I.R.A. Works End-to-End</a:t>
            </a:r>
            <a:endParaRPr lang="en-US" sz="2600" dirty="0"/>
          </a:p>
        </p:txBody>
      </p:sp>
      <p:sp>
        <p:nvSpPr>
          <p:cNvPr id="6" name="Shape 4"/>
          <p:cNvSpPr/>
          <p:nvPr/>
        </p:nvSpPr>
        <p:spPr>
          <a:xfrm>
            <a:off x="228600" y="1417320"/>
            <a:ext cx="1481328" cy="1234440"/>
          </a:xfrm>
          <a:prstGeom prst="rect">
            <a:avLst/>
          </a:prstGeom>
          <a:solidFill>
            <a:srgbClr val="334155"/>
          </a:solidFill>
          <a:ln w="12700">
            <a:solidFill>
              <a:srgbClr val="334155"/>
            </a:solidFill>
            <a:prstDash val="solid"/>
          </a:ln>
          <a:effectLst>
            <a:outerShdw blurRad="101600" dist="38100" dir="8100000" algn="bl" rotWithShape="0">
              <a:srgbClr val="000000">
                <a:alpha val="8000"/>
              </a:srgbClr>
            </a:outerShdw>
          </a:effectLst>
        </p:spPr>
        <p:txBody>
          <a:bodyPr/>
          <a:lstStyle/>
          <a:p>
            <a:endParaRPr lang="en-GB"/>
          </a:p>
        </p:txBody>
      </p:sp>
      <p:sp>
        <p:nvSpPr>
          <p:cNvPr id="7" name="Text 5"/>
          <p:cNvSpPr/>
          <p:nvPr/>
        </p:nvSpPr>
        <p:spPr>
          <a:xfrm>
            <a:off x="228600" y="1527048"/>
            <a:ext cx="1481328" cy="411480"/>
          </a:xfrm>
          <a:prstGeom prst="rect">
            <a:avLst/>
          </a:prstGeom>
          <a:noFill/>
          <a:ln/>
        </p:spPr>
        <p:txBody>
          <a:bodyPr wrap="square" lIns="0" tIns="0" rIns="0" bIns="0" rtlCol="0" anchor="ctr"/>
          <a:lstStyle/>
          <a:p>
            <a:pPr marL="0" indent="0" algn="ctr">
              <a:buNone/>
            </a:pPr>
            <a:r>
              <a:rPr lang="en-US" sz="1150" b="1" dirty="0">
                <a:solidFill>
                  <a:srgbClr val="FFFFFF"/>
                </a:solidFill>
                <a:latin typeface="Calibri" pitchFamily="34" charset="0"/>
                <a:ea typeface="Calibri" pitchFamily="34" charset="-122"/>
                <a:cs typeface="Calibri" pitchFamily="34" charset="-120"/>
              </a:rPr>
              <a:t>Log Source</a:t>
            </a:r>
            <a:endParaRPr lang="en-US" sz="1150" dirty="0"/>
          </a:p>
        </p:txBody>
      </p:sp>
      <p:sp>
        <p:nvSpPr>
          <p:cNvPr id="8" name="Shape 6"/>
          <p:cNvSpPr/>
          <p:nvPr/>
        </p:nvSpPr>
        <p:spPr>
          <a:xfrm>
            <a:off x="320040" y="1965960"/>
            <a:ext cx="1298448" cy="0"/>
          </a:xfrm>
          <a:prstGeom prst="line">
            <a:avLst/>
          </a:prstGeom>
          <a:noFill/>
          <a:ln w="6350">
            <a:solidFill>
              <a:srgbClr val="FFFFFF">
                <a:alpha val="40000"/>
              </a:srgbClr>
            </a:solidFill>
            <a:prstDash val="solid"/>
          </a:ln>
        </p:spPr>
        <p:txBody>
          <a:bodyPr/>
          <a:lstStyle/>
          <a:p>
            <a:endParaRPr lang="en-GB"/>
          </a:p>
        </p:txBody>
      </p:sp>
      <p:sp>
        <p:nvSpPr>
          <p:cNvPr id="9" name="Text 7"/>
          <p:cNvSpPr/>
          <p:nvPr/>
        </p:nvSpPr>
        <p:spPr>
          <a:xfrm>
            <a:off x="228600" y="2039112"/>
            <a:ext cx="1481328" cy="548640"/>
          </a:xfrm>
          <a:prstGeom prst="rect">
            <a:avLst/>
          </a:prstGeom>
          <a:noFill/>
          <a:ln/>
        </p:spPr>
        <p:txBody>
          <a:bodyPr wrap="square" lIns="0" tIns="0" rIns="0" bIns="0" rtlCol="0" anchor="ctr"/>
          <a:lstStyle/>
          <a:p>
            <a:pPr marL="0" indent="0" algn="ctr">
              <a:buNone/>
            </a:pPr>
            <a:r>
              <a:rPr lang="en-US" sz="950" dirty="0">
                <a:solidFill>
                  <a:srgbClr val="FFFFFF">
                    <a:alpha val="80000"/>
                  </a:srgbClr>
                </a:solidFill>
                <a:latin typeface="Calibri" pitchFamily="34" charset="0"/>
                <a:ea typeface="Calibri" pitchFamily="34" charset="-122"/>
                <a:cs typeface="Calibri" pitchFamily="34" charset="-120"/>
              </a:rPr>
              <a:t>Windows Event Log</a:t>
            </a:r>
            <a:endParaRPr lang="en-US" sz="950" dirty="0"/>
          </a:p>
          <a:p>
            <a:pPr marL="0" indent="0" algn="ctr">
              <a:buNone/>
            </a:pPr>
            <a:r>
              <a:rPr lang="en-US" sz="950" dirty="0">
                <a:solidFill>
                  <a:srgbClr val="FFFFFF">
                    <a:alpha val="80000"/>
                  </a:srgbClr>
                </a:solidFill>
                <a:latin typeface="Calibri" pitchFamily="34" charset="0"/>
                <a:ea typeface="Calibri" pitchFamily="34" charset="-122"/>
                <a:cs typeface="Calibri" pitchFamily="34" charset="-120"/>
              </a:rPr>
              <a:t>Snort</a:t>
            </a:r>
            <a:endParaRPr lang="en-US" sz="950" dirty="0"/>
          </a:p>
        </p:txBody>
      </p:sp>
      <p:sp>
        <p:nvSpPr>
          <p:cNvPr id="10" name="Shape 8"/>
          <p:cNvSpPr/>
          <p:nvPr/>
        </p:nvSpPr>
        <p:spPr>
          <a:xfrm>
            <a:off x="1737360" y="2034540"/>
            <a:ext cx="274320" cy="0"/>
          </a:xfrm>
          <a:prstGeom prst="line">
            <a:avLst/>
          </a:prstGeom>
          <a:noFill/>
          <a:ln w="25400">
            <a:solidFill>
              <a:srgbClr val="6366F1"/>
            </a:solidFill>
            <a:prstDash val="solid"/>
          </a:ln>
        </p:spPr>
        <p:txBody>
          <a:bodyPr/>
          <a:lstStyle/>
          <a:p>
            <a:endParaRPr lang="en-GB"/>
          </a:p>
        </p:txBody>
      </p:sp>
      <p:sp>
        <p:nvSpPr>
          <p:cNvPr id="11" name="Text 9"/>
          <p:cNvSpPr/>
          <p:nvPr/>
        </p:nvSpPr>
        <p:spPr>
          <a:xfrm>
            <a:off x="1920240" y="1929384"/>
            <a:ext cx="182880" cy="228600"/>
          </a:xfrm>
          <a:prstGeom prst="rect">
            <a:avLst/>
          </a:prstGeom>
          <a:noFill/>
          <a:ln/>
        </p:spPr>
        <p:txBody>
          <a:bodyPr wrap="square" rtlCol="0" anchor="ctr"/>
          <a:lstStyle/>
          <a:p>
            <a:pPr marL="0" indent="0" algn="ctr">
              <a:buNone/>
            </a:pPr>
            <a:r>
              <a:rPr lang="en-US" sz="900" dirty="0">
                <a:solidFill>
                  <a:srgbClr val="6366F1"/>
                </a:solidFill>
              </a:rPr>
              <a:t>▶</a:t>
            </a:r>
            <a:endParaRPr lang="en-US" sz="900" dirty="0"/>
          </a:p>
        </p:txBody>
      </p:sp>
      <p:sp>
        <p:nvSpPr>
          <p:cNvPr id="12" name="Shape 10"/>
          <p:cNvSpPr/>
          <p:nvPr/>
        </p:nvSpPr>
        <p:spPr>
          <a:xfrm>
            <a:off x="2057400" y="1417320"/>
            <a:ext cx="1481328" cy="1234440"/>
          </a:xfrm>
          <a:prstGeom prst="rect">
            <a:avLst/>
          </a:prstGeom>
          <a:solidFill>
            <a:srgbClr val="6366F1"/>
          </a:solidFill>
          <a:ln w="12700">
            <a:solidFill>
              <a:srgbClr val="6366F1"/>
            </a:solidFill>
            <a:prstDash val="solid"/>
          </a:ln>
          <a:effectLst>
            <a:outerShdw blurRad="101600" dist="38100" dir="8100000" algn="bl" rotWithShape="0">
              <a:srgbClr val="000000">
                <a:alpha val="8000"/>
              </a:srgbClr>
            </a:outerShdw>
          </a:effectLst>
        </p:spPr>
        <p:txBody>
          <a:bodyPr/>
          <a:lstStyle/>
          <a:p>
            <a:endParaRPr lang="en-GB"/>
          </a:p>
        </p:txBody>
      </p:sp>
      <p:sp>
        <p:nvSpPr>
          <p:cNvPr id="13" name="Text 11"/>
          <p:cNvSpPr/>
          <p:nvPr/>
        </p:nvSpPr>
        <p:spPr>
          <a:xfrm>
            <a:off x="2057400" y="1527048"/>
            <a:ext cx="1481328" cy="411480"/>
          </a:xfrm>
          <a:prstGeom prst="rect">
            <a:avLst/>
          </a:prstGeom>
          <a:noFill/>
          <a:ln/>
        </p:spPr>
        <p:txBody>
          <a:bodyPr wrap="square" lIns="0" tIns="0" rIns="0" bIns="0" rtlCol="0" anchor="ctr"/>
          <a:lstStyle/>
          <a:p>
            <a:pPr marL="0" indent="0" algn="ctr">
              <a:buNone/>
            </a:pPr>
            <a:r>
              <a:rPr lang="en-US" sz="1150" b="1" dirty="0">
                <a:solidFill>
                  <a:srgbClr val="FFFFFF"/>
                </a:solidFill>
                <a:latin typeface="Calibri" pitchFamily="34" charset="0"/>
                <a:ea typeface="Calibri" pitchFamily="34" charset="-122"/>
                <a:cs typeface="Calibri" pitchFamily="34" charset="-120"/>
              </a:rPr>
              <a:t>Log Forwarder</a:t>
            </a:r>
            <a:endParaRPr lang="en-US" sz="1150" dirty="0"/>
          </a:p>
        </p:txBody>
      </p:sp>
      <p:sp>
        <p:nvSpPr>
          <p:cNvPr id="14" name="Shape 12"/>
          <p:cNvSpPr/>
          <p:nvPr/>
        </p:nvSpPr>
        <p:spPr>
          <a:xfrm>
            <a:off x="2148840" y="1965960"/>
            <a:ext cx="1298448" cy="0"/>
          </a:xfrm>
          <a:prstGeom prst="line">
            <a:avLst/>
          </a:prstGeom>
          <a:noFill/>
          <a:ln w="6350">
            <a:solidFill>
              <a:srgbClr val="FFFFFF">
                <a:alpha val="40000"/>
              </a:srgbClr>
            </a:solidFill>
            <a:prstDash val="solid"/>
          </a:ln>
        </p:spPr>
        <p:txBody>
          <a:bodyPr/>
          <a:lstStyle/>
          <a:p>
            <a:endParaRPr lang="en-GB"/>
          </a:p>
        </p:txBody>
      </p:sp>
      <p:sp>
        <p:nvSpPr>
          <p:cNvPr id="15" name="Text 13"/>
          <p:cNvSpPr/>
          <p:nvPr/>
        </p:nvSpPr>
        <p:spPr>
          <a:xfrm>
            <a:off x="2057400" y="2039112"/>
            <a:ext cx="1481328" cy="548640"/>
          </a:xfrm>
          <a:prstGeom prst="rect">
            <a:avLst/>
          </a:prstGeom>
          <a:noFill/>
          <a:ln/>
        </p:spPr>
        <p:txBody>
          <a:bodyPr wrap="square" lIns="0" tIns="0" rIns="0" bIns="0" rtlCol="0" anchor="ctr"/>
          <a:lstStyle/>
          <a:p>
            <a:pPr marL="0" indent="0" algn="ctr">
              <a:buNone/>
            </a:pPr>
            <a:r>
              <a:rPr lang="en-US" sz="950" dirty="0">
                <a:solidFill>
                  <a:srgbClr val="FFFFFF">
                    <a:alpha val="80000"/>
                  </a:srgbClr>
                </a:solidFill>
                <a:latin typeface="Calibri" pitchFamily="34" charset="0"/>
                <a:ea typeface="Calibri" pitchFamily="34" charset="-122"/>
                <a:cs typeface="Calibri" pitchFamily="34" charset="-120"/>
              </a:rPr>
              <a:t>Python script</a:t>
            </a:r>
            <a:endParaRPr lang="en-US" sz="950" dirty="0"/>
          </a:p>
          <a:p>
            <a:pPr marL="0" indent="0" algn="ctr">
              <a:buNone/>
            </a:pPr>
            <a:r>
              <a:rPr lang="en-US" sz="950" dirty="0">
                <a:solidFill>
                  <a:srgbClr val="FFFFFF">
                    <a:alpha val="80000"/>
                  </a:srgbClr>
                </a:solidFill>
                <a:latin typeface="Calibri" pitchFamily="34" charset="0"/>
                <a:ea typeface="Calibri" pitchFamily="34" charset="-122"/>
                <a:cs typeface="Calibri" pitchFamily="34" charset="-120"/>
              </a:rPr>
              <a:t>PII redaction + batch</a:t>
            </a:r>
            <a:endParaRPr lang="en-US" sz="950" dirty="0"/>
          </a:p>
        </p:txBody>
      </p:sp>
      <p:sp>
        <p:nvSpPr>
          <p:cNvPr id="16" name="Shape 14"/>
          <p:cNvSpPr/>
          <p:nvPr/>
        </p:nvSpPr>
        <p:spPr>
          <a:xfrm>
            <a:off x="3566160" y="2034540"/>
            <a:ext cx="274320" cy="0"/>
          </a:xfrm>
          <a:prstGeom prst="line">
            <a:avLst/>
          </a:prstGeom>
          <a:noFill/>
          <a:ln w="25400">
            <a:solidFill>
              <a:srgbClr val="6366F1"/>
            </a:solidFill>
            <a:prstDash val="solid"/>
          </a:ln>
        </p:spPr>
        <p:txBody>
          <a:bodyPr/>
          <a:lstStyle/>
          <a:p>
            <a:endParaRPr lang="en-GB"/>
          </a:p>
        </p:txBody>
      </p:sp>
      <p:sp>
        <p:nvSpPr>
          <p:cNvPr id="17" name="Text 15"/>
          <p:cNvSpPr/>
          <p:nvPr/>
        </p:nvSpPr>
        <p:spPr>
          <a:xfrm>
            <a:off x="3749040" y="1929384"/>
            <a:ext cx="182880" cy="228600"/>
          </a:xfrm>
          <a:prstGeom prst="rect">
            <a:avLst/>
          </a:prstGeom>
          <a:noFill/>
          <a:ln/>
        </p:spPr>
        <p:txBody>
          <a:bodyPr wrap="square" rtlCol="0" anchor="ctr"/>
          <a:lstStyle/>
          <a:p>
            <a:pPr marL="0" indent="0" algn="ctr">
              <a:buNone/>
            </a:pPr>
            <a:r>
              <a:rPr lang="en-US" sz="900" dirty="0">
                <a:solidFill>
                  <a:srgbClr val="6366F1"/>
                </a:solidFill>
              </a:rPr>
              <a:t>▶</a:t>
            </a:r>
            <a:endParaRPr lang="en-US" sz="900" dirty="0"/>
          </a:p>
        </p:txBody>
      </p:sp>
      <p:sp>
        <p:nvSpPr>
          <p:cNvPr id="18" name="Shape 16"/>
          <p:cNvSpPr/>
          <p:nvPr/>
        </p:nvSpPr>
        <p:spPr>
          <a:xfrm>
            <a:off x="3886200" y="1417320"/>
            <a:ext cx="1481328" cy="1234440"/>
          </a:xfrm>
          <a:prstGeom prst="rect">
            <a:avLst/>
          </a:prstGeom>
          <a:solidFill>
            <a:srgbClr val="7C3AED"/>
          </a:solidFill>
          <a:ln w="12700">
            <a:solidFill>
              <a:srgbClr val="7C3AED"/>
            </a:solidFill>
            <a:prstDash val="solid"/>
          </a:ln>
          <a:effectLst>
            <a:outerShdw blurRad="101600" dist="38100" dir="8100000" algn="bl" rotWithShape="0">
              <a:srgbClr val="000000">
                <a:alpha val="8000"/>
              </a:srgbClr>
            </a:outerShdw>
          </a:effectLst>
        </p:spPr>
        <p:txBody>
          <a:bodyPr/>
          <a:lstStyle/>
          <a:p>
            <a:endParaRPr lang="en-GB"/>
          </a:p>
        </p:txBody>
      </p:sp>
      <p:sp>
        <p:nvSpPr>
          <p:cNvPr id="19" name="Text 17"/>
          <p:cNvSpPr/>
          <p:nvPr/>
        </p:nvSpPr>
        <p:spPr>
          <a:xfrm>
            <a:off x="3886200" y="1527048"/>
            <a:ext cx="1481328" cy="411480"/>
          </a:xfrm>
          <a:prstGeom prst="rect">
            <a:avLst/>
          </a:prstGeom>
          <a:noFill/>
          <a:ln/>
        </p:spPr>
        <p:txBody>
          <a:bodyPr wrap="square" lIns="0" tIns="0" rIns="0" bIns="0" rtlCol="0" anchor="ctr"/>
          <a:lstStyle/>
          <a:p>
            <a:pPr marL="0" indent="0" algn="ctr">
              <a:buNone/>
            </a:pPr>
            <a:r>
              <a:rPr lang="en-US" sz="1150" b="1" dirty="0">
                <a:solidFill>
                  <a:srgbClr val="FFFFFF"/>
                </a:solidFill>
                <a:latin typeface="Calibri" pitchFamily="34" charset="0"/>
                <a:ea typeface="Calibri" pitchFamily="34" charset="-122"/>
                <a:cs typeface="Calibri" pitchFamily="34" charset="-120"/>
              </a:rPr>
              <a:t>Gemini AI API</a:t>
            </a:r>
            <a:endParaRPr lang="en-US" sz="1150" dirty="0"/>
          </a:p>
        </p:txBody>
      </p:sp>
      <p:sp>
        <p:nvSpPr>
          <p:cNvPr id="20" name="Shape 18"/>
          <p:cNvSpPr/>
          <p:nvPr/>
        </p:nvSpPr>
        <p:spPr>
          <a:xfrm>
            <a:off x="3977640" y="1965960"/>
            <a:ext cx="1298448" cy="0"/>
          </a:xfrm>
          <a:prstGeom prst="line">
            <a:avLst/>
          </a:prstGeom>
          <a:noFill/>
          <a:ln w="6350">
            <a:solidFill>
              <a:srgbClr val="FFFFFF">
                <a:alpha val="40000"/>
              </a:srgbClr>
            </a:solidFill>
            <a:prstDash val="solid"/>
          </a:ln>
        </p:spPr>
        <p:txBody>
          <a:bodyPr/>
          <a:lstStyle/>
          <a:p>
            <a:endParaRPr lang="en-GB"/>
          </a:p>
        </p:txBody>
      </p:sp>
      <p:sp>
        <p:nvSpPr>
          <p:cNvPr id="21" name="Text 19"/>
          <p:cNvSpPr/>
          <p:nvPr/>
        </p:nvSpPr>
        <p:spPr>
          <a:xfrm>
            <a:off x="3886200" y="2039112"/>
            <a:ext cx="1481328" cy="548640"/>
          </a:xfrm>
          <a:prstGeom prst="rect">
            <a:avLst/>
          </a:prstGeom>
          <a:noFill/>
          <a:ln/>
        </p:spPr>
        <p:txBody>
          <a:bodyPr wrap="square" lIns="0" tIns="0" rIns="0" bIns="0" rtlCol="0" anchor="ctr"/>
          <a:lstStyle/>
          <a:p>
            <a:pPr marL="0" indent="0" algn="ctr">
              <a:buNone/>
            </a:pPr>
            <a:r>
              <a:rPr lang="en-US" sz="950" dirty="0">
                <a:solidFill>
                  <a:srgbClr val="FFFFFF">
                    <a:alpha val="80000"/>
                  </a:srgbClr>
                </a:solidFill>
                <a:latin typeface="Calibri" pitchFamily="34" charset="0"/>
                <a:ea typeface="Calibri" pitchFamily="34" charset="-122"/>
                <a:cs typeface="Calibri" pitchFamily="34" charset="-120"/>
              </a:rPr>
              <a:t>Analysis Summary + mitigation steps</a:t>
            </a:r>
            <a:endParaRPr lang="en-US" sz="950" dirty="0"/>
          </a:p>
          <a:p>
            <a:pPr marL="0" indent="0" algn="ctr">
              <a:buNone/>
            </a:pPr>
            <a:r>
              <a:rPr lang="en-US" sz="950" dirty="0">
                <a:solidFill>
                  <a:srgbClr val="FFFFFF">
                    <a:alpha val="80000"/>
                  </a:srgbClr>
                </a:solidFill>
                <a:latin typeface="Calibri" pitchFamily="34" charset="0"/>
                <a:ea typeface="Calibri" pitchFamily="34" charset="-122"/>
                <a:cs typeface="Calibri" pitchFamily="34" charset="-120"/>
              </a:rPr>
              <a:t>Risk scoring 1–10</a:t>
            </a:r>
            <a:endParaRPr lang="en-US" sz="950" dirty="0"/>
          </a:p>
        </p:txBody>
      </p:sp>
      <p:sp>
        <p:nvSpPr>
          <p:cNvPr id="22" name="Shape 20"/>
          <p:cNvSpPr/>
          <p:nvPr/>
        </p:nvSpPr>
        <p:spPr>
          <a:xfrm>
            <a:off x="5394960" y="2034540"/>
            <a:ext cx="274320" cy="0"/>
          </a:xfrm>
          <a:prstGeom prst="line">
            <a:avLst/>
          </a:prstGeom>
          <a:noFill/>
          <a:ln w="25400">
            <a:solidFill>
              <a:srgbClr val="6366F1"/>
            </a:solidFill>
            <a:prstDash val="solid"/>
          </a:ln>
        </p:spPr>
        <p:txBody>
          <a:bodyPr/>
          <a:lstStyle/>
          <a:p>
            <a:endParaRPr lang="en-GB"/>
          </a:p>
        </p:txBody>
      </p:sp>
      <p:sp>
        <p:nvSpPr>
          <p:cNvPr id="23" name="Text 21"/>
          <p:cNvSpPr/>
          <p:nvPr/>
        </p:nvSpPr>
        <p:spPr>
          <a:xfrm>
            <a:off x="5577840" y="1929384"/>
            <a:ext cx="182880" cy="228600"/>
          </a:xfrm>
          <a:prstGeom prst="rect">
            <a:avLst/>
          </a:prstGeom>
          <a:noFill/>
          <a:ln/>
        </p:spPr>
        <p:txBody>
          <a:bodyPr wrap="square" rtlCol="0" anchor="ctr"/>
          <a:lstStyle/>
          <a:p>
            <a:pPr marL="0" indent="0" algn="ctr">
              <a:buNone/>
            </a:pPr>
            <a:r>
              <a:rPr lang="en-US" sz="900" dirty="0">
                <a:solidFill>
                  <a:srgbClr val="6366F1"/>
                </a:solidFill>
              </a:rPr>
              <a:t>▶</a:t>
            </a:r>
            <a:endParaRPr lang="en-US" sz="900" dirty="0"/>
          </a:p>
        </p:txBody>
      </p:sp>
      <p:sp>
        <p:nvSpPr>
          <p:cNvPr id="24" name="Shape 22"/>
          <p:cNvSpPr/>
          <p:nvPr/>
        </p:nvSpPr>
        <p:spPr>
          <a:xfrm>
            <a:off x="5715000" y="1417320"/>
            <a:ext cx="1481328" cy="1234440"/>
          </a:xfrm>
          <a:prstGeom prst="rect">
            <a:avLst/>
          </a:prstGeom>
          <a:solidFill>
            <a:srgbClr val="0369A1"/>
          </a:solidFill>
          <a:ln w="12700">
            <a:solidFill>
              <a:srgbClr val="0369A1"/>
            </a:solidFill>
            <a:prstDash val="solid"/>
          </a:ln>
          <a:effectLst>
            <a:outerShdw blurRad="101600" dist="38100" dir="8100000" algn="bl" rotWithShape="0">
              <a:srgbClr val="000000">
                <a:alpha val="8000"/>
              </a:srgbClr>
            </a:outerShdw>
          </a:effectLst>
        </p:spPr>
        <p:txBody>
          <a:bodyPr/>
          <a:lstStyle/>
          <a:p>
            <a:endParaRPr lang="en-GB"/>
          </a:p>
        </p:txBody>
      </p:sp>
      <p:sp>
        <p:nvSpPr>
          <p:cNvPr id="25" name="Text 23"/>
          <p:cNvSpPr/>
          <p:nvPr/>
        </p:nvSpPr>
        <p:spPr>
          <a:xfrm>
            <a:off x="5715000" y="1527048"/>
            <a:ext cx="1481328" cy="411480"/>
          </a:xfrm>
          <a:prstGeom prst="rect">
            <a:avLst/>
          </a:prstGeom>
          <a:noFill/>
          <a:ln/>
        </p:spPr>
        <p:txBody>
          <a:bodyPr wrap="square" lIns="0" tIns="0" rIns="0" bIns="0" rtlCol="0" anchor="ctr"/>
          <a:lstStyle/>
          <a:p>
            <a:pPr marL="0" indent="0" algn="ctr">
              <a:buNone/>
            </a:pPr>
            <a:r>
              <a:rPr lang="en-US" sz="1150" b="1" dirty="0">
                <a:solidFill>
                  <a:srgbClr val="FFFFFF"/>
                </a:solidFill>
                <a:latin typeface="Calibri" pitchFamily="34" charset="0"/>
                <a:ea typeface="Calibri" pitchFamily="34" charset="-122"/>
                <a:cs typeface="Calibri" pitchFamily="34" charset="-120"/>
              </a:rPr>
              <a:t>Firebase</a:t>
            </a:r>
            <a:endParaRPr lang="en-US" sz="1150" dirty="0"/>
          </a:p>
          <a:p>
            <a:pPr marL="0" indent="0" algn="ctr">
              <a:buNone/>
            </a:pPr>
            <a:r>
              <a:rPr lang="en-US" sz="1150" b="1" dirty="0">
                <a:solidFill>
                  <a:srgbClr val="FFFFFF"/>
                </a:solidFill>
                <a:latin typeface="Calibri" pitchFamily="34" charset="0"/>
                <a:ea typeface="Calibri" pitchFamily="34" charset="-122"/>
                <a:cs typeface="Calibri" pitchFamily="34" charset="-120"/>
              </a:rPr>
              <a:t>Firestore</a:t>
            </a:r>
            <a:endParaRPr lang="en-US" sz="1150" dirty="0"/>
          </a:p>
        </p:txBody>
      </p:sp>
      <p:sp>
        <p:nvSpPr>
          <p:cNvPr id="26" name="Shape 24"/>
          <p:cNvSpPr/>
          <p:nvPr/>
        </p:nvSpPr>
        <p:spPr>
          <a:xfrm>
            <a:off x="5806440" y="1965960"/>
            <a:ext cx="1298448" cy="0"/>
          </a:xfrm>
          <a:prstGeom prst="line">
            <a:avLst/>
          </a:prstGeom>
          <a:noFill/>
          <a:ln w="6350">
            <a:solidFill>
              <a:srgbClr val="FFFFFF">
                <a:alpha val="40000"/>
              </a:srgbClr>
            </a:solidFill>
            <a:prstDash val="solid"/>
          </a:ln>
        </p:spPr>
        <p:txBody>
          <a:bodyPr/>
          <a:lstStyle/>
          <a:p>
            <a:endParaRPr lang="en-GB"/>
          </a:p>
        </p:txBody>
      </p:sp>
      <p:sp>
        <p:nvSpPr>
          <p:cNvPr id="27" name="Text 25"/>
          <p:cNvSpPr/>
          <p:nvPr/>
        </p:nvSpPr>
        <p:spPr>
          <a:xfrm>
            <a:off x="5715000" y="2039112"/>
            <a:ext cx="1481328" cy="548640"/>
          </a:xfrm>
          <a:prstGeom prst="rect">
            <a:avLst/>
          </a:prstGeom>
          <a:noFill/>
          <a:ln/>
        </p:spPr>
        <p:txBody>
          <a:bodyPr wrap="square" lIns="0" tIns="0" rIns="0" bIns="0" rtlCol="0" anchor="ctr"/>
          <a:lstStyle/>
          <a:p>
            <a:pPr marL="0" indent="0" algn="ctr">
              <a:buNone/>
            </a:pPr>
            <a:r>
              <a:rPr lang="en-US" sz="950" dirty="0">
                <a:solidFill>
                  <a:srgbClr val="FFFFFF">
                    <a:alpha val="80000"/>
                  </a:srgbClr>
                </a:solidFill>
                <a:latin typeface="Calibri" pitchFamily="34" charset="0"/>
                <a:ea typeface="Calibri" pitchFamily="34" charset="-122"/>
                <a:cs typeface="Calibri" pitchFamily="34" charset="-120"/>
              </a:rPr>
              <a:t>AES-128 encrypted</a:t>
            </a:r>
            <a:endParaRPr lang="en-US" sz="950" dirty="0"/>
          </a:p>
          <a:p>
            <a:pPr marL="0" indent="0" algn="ctr">
              <a:buNone/>
            </a:pPr>
            <a:r>
              <a:rPr lang="en-US" sz="950" dirty="0">
                <a:solidFill>
                  <a:srgbClr val="FFFFFF">
                    <a:alpha val="80000"/>
                  </a:srgbClr>
                </a:solidFill>
                <a:latin typeface="Calibri" pitchFamily="34" charset="0"/>
                <a:ea typeface="Calibri" pitchFamily="34" charset="-122"/>
                <a:cs typeface="Calibri" pitchFamily="34" charset="-120"/>
              </a:rPr>
              <a:t>Real-time sync</a:t>
            </a:r>
            <a:endParaRPr lang="en-US" sz="950" dirty="0"/>
          </a:p>
        </p:txBody>
      </p:sp>
      <p:sp>
        <p:nvSpPr>
          <p:cNvPr id="28" name="Shape 26"/>
          <p:cNvSpPr/>
          <p:nvPr/>
        </p:nvSpPr>
        <p:spPr>
          <a:xfrm>
            <a:off x="7223760" y="2034540"/>
            <a:ext cx="274320" cy="0"/>
          </a:xfrm>
          <a:prstGeom prst="line">
            <a:avLst/>
          </a:prstGeom>
          <a:noFill/>
          <a:ln w="25400">
            <a:solidFill>
              <a:srgbClr val="6366F1"/>
            </a:solidFill>
            <a:prstDash val="solid"/>
          </a:ln>
        </p:spPr>
        <p:txBody>
          <a:bodyPr/>
          <a:lstStyle/>
          <a:p>
            <a:endParaRPr lang="en-GB"/>
          </a:p>
        </p:txBody>
      </p:sp>
      <p:sp>
        <p:nvSpPr>
          <p:cNvPr id="29" name="Text 27"/>
          <p:cNvSpPr/>
          <p:nvPr/>
        </p:nvSpPr>
        <p:spPr>
          <a:xfrm>
            <a:off x="7406640" y="1929384"/>
            <a:ext cx="182880" cy="228600"/>
          </a:xfrm>
          <a:prstGeom prst="rect">
            <a:avLst/>
          </a:prstGeom>
          <a:noFill/>
          <a:ln/>
        </p:spPr>
        <p:txBody>
          <a:bodyPr wrap="square" rtlCol="0" anchor="ctr"/>
          <a:lstStyle/>
          <a:p>
            <a:pPr marL="0" indent="0" algn="ctr">
              <a:buNone/>
            </a:pPr>
            <a:r>
              <a:rPr lang="en-US" sz="900" dirty="0">
                <a:solidFill>
                  <a:srgbClr val="6366F1"/>
                </a:solidFill>
              </a:rPr>
              <a:t>▶</a:t>
            </a:r>
            <a:endParaRPr lang="en-US" sz="900" dirty="0"/>
          </a:p>
        </p:txBody>
      </p:sp>
      <p:sp>
        <p:nvSpPr>
          <p:cNvPr id="30" name="Shape 28"/>
          <p:cNvSpPr/>
          <p:nvPr/>
        </p:nvSpPr>
        <p:spPr>
          <a:xfrm>
            <a:off x="7543800" y="1417320"/>
            <a:ext cx="1481328" cy="1234440"/>
          </a:xfrm>
          <a:prstGeom prst="rect">
            <a:avLst/>
          </a:prstGeom>
          <a:solidFill>
            <a:srgbClr val="0F766E"/>
          </a:solidFill>
          <a:ln w="12700">
            <a:solidFill>
              <a:srgbClr val="0F766E"/>
            </a:solidFill>
            <a:prstDash val="solid"/>
          </a:ln>
          <a:effectLst>
            <a:outerShdw blurRad="101600" dist="38100" dir="8100000" algn="bl" rotWithShape="0">
              <a:srgbClr val="000000">
                <a:alpha val="8000"/>
              </a:srgbClr>
            </a:outerShdw>
          </a:effectLst>
        </p:spPr>
        <p:txBody>
          <a:bodyPr/>
          <a:lstStyle/>
          <a:p>
            <a:endParaRPr lang="en-GB"/>
          </a:p>
        </p:txBody>
      </p:sp>
      <p:sp>
        <p:nvSpPr>
          <p:cNvPr id="31" name="Text 29"/>
          <p:cNvSpPr/>
          <p:nvPr/>
        </p:nvSpPr>
        <p:spPr>
          <a:xfrm>
            <a:off x="7543800" y="1527048"/>
            <a:ext cx="1481328" cy="411480"/>
          </a:xfrm>
          <a:prstGeom prst="rect">
            <a:avLst/>
          </a:prstGeom>
          <a:noFill/>
          <a:ln/>
        </p:spPr>
        <p:txBody>
          <a:bodyPr wrap="square" lIns="0" tIns="0" rIns="0" bIns="0" rtlCol="0" anchor="ctr"/>
          <a:lstStyle/>
          <a:p>
            <a:pPr marL="0" indent="0" algn="ctr">
              <a:buNone/>
            </a:pPr>
            <a:r>
              <a:rPr lang="en-US" sz="1150" b="1" dirty="0">
                <a:solidFill>
                  <a:srgbClr val="FFFFFF"/>
                </a:solidFill>
                <a:latin typeface="Calibri" pitchFamily="34" charset="0"/>
                <a:ea typeface="Calibri" pitchFamily="34" charset="-122"/>
                <a:cs typeface="Calibri" pitchFamily="34" charset="-120"/>
              </a:rPr>
              <a:t>React Dashboard</a:t>
            </a:r>
            <a:endParaRPr lang="en-US" sz="1150" dirty="0"/>
          </a:p>
        </p:txBody>
      </p:sp>
      <p:sp>
        <p:nvSpPr>
          <p:cNvPr id="32" name="Shape 30"/>
          <p:cNvSpPr/>
          <p:nvPr/>
        </p:nvSpPr>
        <p:spPr>
          <a:xfrm>
            <a:off x="7635240" y="1965960"/>
            <a:ext cx="1298448" cy="0"/>
          </a:xfrm>
          <a:prstGeom prst="line">
            <a:avLst/>
          </a:prstGeom>
          <a:noFill/>
          <a:ln w="6350">
            <a:solidFill>
              <a:srgbClr val="FFFFFF">
                <a:alpha val="40000"/>
              </a:srgbClr>
            </a:solidFill>
            <a:prstDash val="solid"/>
          </a:ln>
        </p:spPr>
        <p:txBody>
          <a:bodyPr/>
          <a:lstStyle/>
          <a:p>
            <a:endParaRPr lang="en-GB"/>
          </a:p>
        </p:txBody>
      </p:sp>
      <p:sp>
        <p:nvSpPr>
          <p:cNvPr id="33" name="Text 31"/>
          <p:cNvSpPr/>
          <p:nvPr/>
        </p:nvSpPr>
        <p:spPr>
          <a:xfrm>
            <a:off x="7543800" y="2039112"/>
            <a:ext cx="1481328" cy="548640"/>
          </a:xfrm>
          <a:prstGeom prst="rect">
            <a:avLst/>
          </a:prstGeom>
          <a:noFill/>
          <a:ln/>
        </p:spPr>
        <p:txBody>
          <a:bodyPr wrap="square" lIns="0" tIns="0" rIns="0" bIns="0" rtlCol="0" anchor="ctr"/>
          <a:lstStyle/>
          <a:p>
            <a:pPr marL="0" indent="0" algn="ctr">
              <a:buNone/>
            </a:pPr>
            <a:r>
              <a:rPr lang="en-US" sz="950" dirty="0">
                <a:solidFill>
                  <a:srgbClr val="FFFFFF">
                    <a:alpha val="80000"/>
                  </a:srgbClr>
                </a:solidFill>
                <a:latin typeface="Calibri" pitchFamily="34" charset="0"/>
                <a:ea typeface="Calibri" pitchFamily="34" charset="-122"/>
                <a:cs typeface="Calibri" pitchFamily="34" charset="-120"/>
              </a:rPr>
              <a:t>FastAPI gateway</a:t>
            </a:r>
            <a:endParaRPr lang="en-US" sz="950" dirty="0"/>
          </a:p>
          <a:p>
            <a:pPr marL="0" indent="0" algn="ctr">
              <a:buNone/>
            </a:pPr>
            <a:r>
              <a:rPr lang="en-US" sz="950" dirty="0">
                <a:solidFill>
                  <a:srgbClr val="FFFFFF">
                    <a:alpha val="80000"/>
                  </a:srgbClr>
                </a:solidFill>
                <a:latin typeface="Calibri" pitchFamily="34" charset="0"/>
                <a:ea typeface="Calibri" pitchFamily="34" charset="-122"/>
                <a:cs typeface="Calibri" pitchFamily="34" charset="-120"/>
              </a:rPr>
              <a:t>Decrypt + render</a:t>
            </a:r>
            <a:endParaRPr lang="en-US" sz="950" dirty="0"/>
          </a:p>
        </p:txBody>
      </p:sp>
      <p:sp>
        <p:nvSpPr>
          <p:cNvPr id="34" name="Text 32"/>
          <p:cNvSpPr/>
          <p:nvPr/>
        </p:nvSpPr>
        <p:spPr>
          <a:xfrm>
            <a:off x="365760" y="2834640"/>
            <a:ext cx="8229600" cy="320040"/>
          </a:xfrm>
          <a:prstGeom prst="rect">
            <a:avLst/>
          </a:prstGeom>
          <a:noFill/>
          <a:ln/>
        </p:spPr>
        <p:txBody>
          <a:bodyPr wrap="square" lIns="0" tIns="0" rIns="0" bIns="0" rtlCol="0" anchor="ctr"/>
          <a:lstStyle/>
          <a:p>
            <a:pPr marL="0" indent="0">
              <a:buNone/>
            </a:pPr>
            <a:r>
              <a:rPr lang="en-US" sz="1200" b="1" dirty="0">
                <a:solidFill>
                  <a:srgbClr val="1E293B"/>
                </a:solidFill>
                <a:latin typeface="Calibri" pitchFamily="34" charset="0"/>
                <a:ea typeface="Calibri" pitchFamily="34" charset="-122"/>
                <a:cs typeface="Calibri" pitchFamily="34" charset="-120"/>
              </a:rPr>
              <a:t>Security Layers Applied Across the Pipeline:</a:t>
            </a:r>
            <a:endParaRPr lang="en-US" sz="1200" dirty="0"/>
          </a:p>
        </p:txBody>
      </p:sp>
      <p:sp>
        <p:nvSpPr>
          <p:cNvPr id="35" name="Shape 33"/>
          <p:cNvSpPr/>
          <p:nvPr/>
        </p:nvSpPr>
        <p:spPr>
          <a:xfrm>
            <a:off x="320040" y="3246120"/>
            <a:ext cx="2651760" cy="1600200"/>
          </a:xfrm>
          <a:prstGeom prst="rect">
            <a:avLst/>
          </a:prstGeom>
          <a:solidFill>
            <a:srgbClr val="FFFFFF"/>
          </a:solidFill>
          <a:ln w="12700">
            <a:solidFill>
              <a:srgbClr val="E2E8F0"/>
            </a:solidFill>
            <a:prstDash val="solid"/>
          </a:ln>
          <a:effectLst>
            <a:outerShdw blurRad="101600" dist="38100" dir="8100000" algn="bl" rotWithShape="0">
              <a:srgbClr val="000000">
                <a:alpha val="8000"/>
              </a:srgbClr>
            </a:outerShdw>
          </a:effectLst>
        </p:spPr>
        <p:txBody>
          <a:bodyPr/>
          <a:lstStyle/>
          <a:p>
            <a:endParaRPr lang="en-GB"/>
          </a:p>
        </p:txBody>
      </p:sp>
      <p:sp>
        <p:nvSpPr>
          <p:cNvPr id="36" name="Shape 34"/>
          <p:cNvSpPr/>
          <p:nvPr/>
        </p:nvSpPr>
        <p:spPr>
          <a:xfrm>
            <a:off x="320040" y="3246120"/>
            <a:ext cx="2651760" cy="54864"/>
          </a:xfrm>
          <a:prstGeom prst="rect">
            <a:avLst/>
          </a:prstGeom>
          <a:solidFill>
            <a:srgbClr val="0F172A"/>
          </a:solidFill>
          <a:ln w="12700">
            <a:solidFill>
              <a:srgbClr val="0F172A"/>
            </a:solidFill>
            <a:prstDash val="solid"/>
          </a:ln>
        </p:spPr>
        <p:txBody>
          <a:bodyPr/>
          <a:lstStyle/>
          <a:p>
            <a:endParaRPr lang="en-GB"/>
          </a:p>
        </p:txBody>
      </p:sp>
      <p:sp>
        <p:nvSpPr>
          <p:cNvPr id="37" name="Shape 35"/>
          <p:cNvSpPr/>
          <p:nvPr/>
        </p:nvSpPr>
        <p:spPr>
          <a:xfrm>
            <a:off x="484632" y="3383280"/>
            <a:ext cx="411480" cy="411480"/>
          </a:xfrm>
          <a:prstGeom prst="ellipse">
            <a:avLst/>
          </a:prstGeom>
          <a:solidFill>
            <a:srgbClr val="0F172A"/>
          </a:solidFill>
          <a:ln w="12700">
            <a:solidFill>
              <a:srgbClr val="0F172A"/>
            </a:solidFill>
            <a:prstDash val="solid"/>
          </a:ln>
        </p:spPr>
        <p:txBody>
          <a:bodyPr/>
          <a:lstStyle/>
          <a:p>
            <a:endParaRPr lang="en-GB"/>
          </a:p>
        </p:txBody>
      </p:sp>
      <p:pic>
        <p:nvPicPr>
          <p:cNvPr id="38" name="Image 0" descr="preencoded.png"/>
          <p:cNvPicPr>
            <a:picLocks noChangeAspect="1"/>
          </p:cNvPicPr>
          <p:nvPr/>
        </p:nvPicPr>
        <p:blipFill>
          <a:blip r:embed="rId3"/>
          <a:stretch>
            <a:fillRect/>
          </a:stretch>
        </p:blipFill>
        <p:spPr>
          <a:xfrm>
            <a:off x="548640" y="3438144"/>
            <a:ext cx="274320" cy="274320"/>
          </a:xfrm>
          <a:prstGeom prst="rect">
            <a:avLst/>
          </a:prstGeom>
        </p:spPr>
      </p:pic>
      <p:sp>
        <p:nvSpPr>
          <p:cNvPr id="39" name="Text 36"/>
          <p:cNvSpPr/>
          <p:nvPr/>
        </p:nvSpPr>
        <p:spPr>
          <a:xfrm>
            <a:off x="1005840" y="3383280"/>
            <a:ext cx="1828800" cy="411480"/>
          </a:xfrm>
          <a:prstGeom prst="rect">
            <a:avLst/>
          </a:prstGeom>
          <a:noFill/>
          <a:ln/>
        </p:spPr>
        <p:txBody>
          <a:bodyPr wrap="square" lIns="0" tIns="0" rIns="0" bIns="0" rtlCol="0" anchor="ctr"/>
          <a:lstStyle/>
          <a:p>
            <a:pPr marL="0" indent="0">
              <a:buNone/>
            </a:pPr>
            <a:r>
              <a:rPr lang="en-US" sz="1050" b="1" dirty="0">
                <a:solidFill>
                  <a:srgbClr val="1E293B"/>
                </a:solidFill>
                <a:latin typeface="Calibri" pitchFamily="34" charset="0"/>
                <a:ea typeface="Calibri" pitchFamily="34" charset="-122"/>
                <a:cs typeface="Calibri" pitchFamily="34" charset="-120"/>
              </a:rPr>
              <a:t>AES-128 Encryption</a:t>
            </a:r>
            <a:endParaRPr lang="en-US" sz="1050" dirty="0"/>
          </a:p>
        </p:txBody>
      </p:sp>
      <p:sp>
        <p:nvSpPr>
          <p:cNvPr id="40" name="Text 37"/>
          <p:cNvSpPr/>
          <p:nvPr/>
        </p:nvSpPr>
        <p:spPr>
          <a:xfrm>
            <a:off x="484632" y="3886200"/>
            <a:ext cx="2331720" cy="868680"/>
          </a:xfrm>
          <a:prstGeom prst="rect">
            <a:avLst/>
          </a:prstGeom>
          <a:noFill/>
          <a:ln/>
        </p:spPr>
        <p:txBody>
          <a:bodyPr wrap="square" lIns="0" tIns="0" rIns="0" bIns="0" rtlCol="0" anchor="ctr"/>
          <a:lstStyle/>
          <a:p>
            <a:pPr marL="0" indent="0">
              <a:buNone/>
            </a:pPr>
            <a:r>
              <a:rPr lang="en-US" sz="950" dirty="0">
                <a:solidFill>
                  <a:srgbClr val="64748B"/>
                </a:solidFill>
                <a:latin typeface="Calibri" pitchFamily="34" charset="0"/>
                <a:ea typeface="Calibri" pitchFamily="34" charset="-122"/>
                <a:cs typeface="Calibri" pitchFamily="34" charset="-120"/>
              </a:rPr>
              <a:t>All incident data + AI insights encrypted at rest in Firestore using Fernet (AES-128 CBC). Decrypted only in the Python backend RAM.</a:t>
            </a:r>
            <a:endParaRPr lang="en-US" sz="950" dirty="0"/>
          </a:p>
        </p:txBody>
      </p:sp>
      <p:sp>
        <p:nvSpPr>
          <p:cNvPr id="41" name="Shape 38"/>
          <p:cNvSpPr/>
          <p:nvPr/>
        </p:nvSpPr>
        <p:spPr>
          <a:xfrm>
            <a:off x="3172968" y="3246120"/>
            <a:ext cx="2651760" cy="1600200"/>
          </a:xfrm>
          <a:prstGeom prst="rect">
            <a:avLst/>
          </a:prstGeom>
          <a:solidFill>
            <a:srgbClr val="FFFFFF"/>
          </a:solidFill>
          <a:ln w="12700">
            <a:solidFill>
              <a:srgbClr val="E2E8F0"/>
            </a:solidFill>
            <a:prstDash val="solid"/>
          </a:ln>
          <a:effectLst>
            <a:outerShdw blurRad="101600" dist="38100" dir="8100000" algn="bl" rotWithShape="0">
              <a:srgbClr val="000000">
                <a:alpha val="8000"/>
              </a:srgbClr>
            </a:outerShdw>
          </a:effectLst>
        </p:spPr>
        <p:txBody>
          <a:bodyPr/>
          <a:lstStyle/>
          <a:p>
            <a:endParaRPr lang="en-GB"/>
          </a:p>
        </p:txBody>
      </p:sp>
      <p:sp>
        <p:nvSpPr>
          <p:cNvPr id="42" name="Shape 39"/>
          <p:cNvSpPr/>
          <p:nvPr/>
        </p:nvSpPr>
        <p:spPr>
          <a:xfrm>
            <a:off x="3172968" y="3246120"/>
            <a:ext cx="2651760" cy="54864"/>
          </a:xfrm>
          <a:prstGeom prst="rect">
            <a:avLst/>
          </a:prstGeom>
          <a:solidFill>
            <a:srgbClr val="0F172A"/>
          </a:solidFill>
          <a:ln w="12700">
            <a:solidFill>
              <a:srgbClr val="0F172A"/>
            </a:solidFill>
            <a:prstDash val="solid"/>
          </a:ln>
        </p:spPr>
        <p:txBody>
          <a:bodyPr/>
          <a:lstStyle/>
          <a:p>
            <a:endParaRPr lang="en-GB"/>
          </a:p>
        </p:txBody>
      </p:sp>
      <p:sp>
        <p:nvSpPr>
          <p:cNvPr id="43" name="Shape 40"/>
          <p:cNvSpPr/>
          <p:nvPr/>
        </p:nvSpPr>
        <p:spPr>
          <a:xfrm>
            <a:off x="3337560" y="3383280"/>
            <a:ext cx="411480" cy="411480"/>
          </a:xfrm>
          <a:prstGeom prst="ellipse">
            <a:avLst/>
          </a:prstGeom>
          <a:solidFill>
            <a:srgbClr val="0F172A"/>
          </a:solidFill>
          <a:ln w="12700">
            <a:solidFill>
              <a:srgbClr val="0F172A"/>
            </a:solidFill>
            <a:prstDash val="solid"/>
          </a:ln>
        </p:spPr>
        <p:txBody>
          <a:bodyPr/>
          <a:lstStyle/>
          <a:p>
            <a:endParaRPr lang="en-GB"/>
          </a:p>
        </p:txBody>
      </p:sp>
      <p:pic>
        <p:nvPicPr>
          <p:cNvPr id="44" name="Image 1" descr="preencoded.png"/>
          <p:cNvPicPr>
            <a:picLocks noChangeAspect="1"/>
          </p:cNvPicPr>
          <p:nvPr/>
        </p:nvPicPr>
        <p:blipFill>
          <a:blip r:embed="rId4"/>
          <a:stretch>
            <a:fillRect/>
          </a:stretch>
        </p:blipFill>
        <p:spPr>
          <a:xfrm>
            <a:off x="3401568" y="3438144"/>
            <a:ext cx="274320" cy="274320"/>
          </a:xfrm>
          <a:prstGeom prst="rect">
            <a:avLst/>
          </a:prstGeom>
        </p:spPr>
      </p:pic>
      <p:sp>
        <p:nvSpPr>
          <p:cNvPr id="45" name="Text 41"/>
          <p:cNvSpPr/>
          <p:nvPr/>
        </p:nvSpPr>
        <p:spPr>
          <a:xfrm>
            <a:off x="3858768" y="3383280"/>
            <a:ext cx="1828800" cy="411480"/>
          </a:xfrm>
          <a:prstGeom prst="rect">
            <a:avLst/>
          </a:prstGeom>
          <a:noFill/>
          <a:ln/>
        </p:spPr>
        <p:txBody>
          <a:bodyPr wrap="square" lIns="0" tIns="0" rIns="0" bIns="0" rtlCol="0" anchor="ctr"/>
          <a:lstStyle/>
          <a:p>
            <a:pPr marL="0" indent="0">
              <a:buNone/>
            </a:pPr>
            <a:r>
              <a:rPr lang="en-US" sz="1050" b="1" dirty="0">
                <a:solidFill>
                  <a:srgbClr val="1E293B"/>
                </a:solidFill>
                <a:latin typeface="Calibri" pitchFamily="34" charset="0"/>
                <a:ea typeface="Calibri" pitchFamily="34" charset="-122"/>
                <a:cs typeface="Calibri" pitchFamily="34" charset="-120"/>
              </a:rPr>
              <a:t>API Key Authentication</a:t>
            </a:r>
            <a:endParaRPr lang="en-US" sz="1050" dirty="0"/>
          </a:p>
        </p:txBody>
      </p:sp>
      <p:sp>
        <p:nvSpPr>
          <p:cNvPr id="46" name="Text 42"/>
          <p:cNvSpPr/>
          <p:nvPr/>
        </p:nvSpPr>
        <p:spPr>
          <a:xfrm>
            <a:off x="3337560" y="3886200"/>
            <a:ext cx="2331720" cy="868680"/>
          </a:xfrm>
          <a:prstGeom prst="rect">
            <a:avLst/>
          </a:prstGeom>
          <a:noFill/>
          <a:ln/>
        </p:spPr>
        <p:txBody>
          <a:bodyPr wrap="square" lIns="0" tIns="0" rIns="0" bIns="0" rtlCol="0" anchor="ctr"/>
          <a:lstStyle/>
          <a:p>
            <a:pPr marL="0" indent="0">
              <a:buNone/>
            </a:pPr>
            <a:r>
              <a:rPr lang="en-US" sz="950" dirty="0">
                <a:solidFill>
                  <a:srgbClr val="64748B"/>
                </a:solidFill>
                <a:latin typeface="Calibri" pitchFamily="34" charset="0"/>
                <a:ea typeface="Calibri" pitchFamily="34" charset="-122"/>
                <a:cs typeface="Calibri" pitchFamily="34" charset="-120"/>
              </a:rPr>
              <a:t>FastAPI gateway enforces X-API-Key header on every request. 403 Forbidden if missing or wrong. Prevents direct DB access from the browser.</a:t>
            </a:r>
            <a:endParaRPr lang="en-US" sz="950" dirty="0"/>
          </a:p>
        </p:txBody>
      </p:sp>
      <p:sp>
        <p:nvSpPr>
          <p:cNvPr id="47" name="Shape 43"/>
          <p:cNvSpPr/>
          <p:nvPr/>
        </p:nvSpPr>
        <p:spPr>
          <a:xfrm>
            <a:off x="6025896" y="3246120"/>
            <a:ext cx="2651760" cy="1600200"/>
          </a:xfrm>
          <a:prstGeom prst="rect">
            <a:avLst/>
          </a:prstGeom>
          <a:solidFill>
            <a:srgbClr val="FFFFFF"/>
          </a:solidFill>
          <a:ln w="12700">
            <a:solidFill>
              <a:srgbClr val="E2E8F0"/>
            </a:solidFill>
            <a:prstDash val="solid"/>
          </a:ln>
          <a:effectLst>
            <a:outerShdw blurRad="101600" dist="38100" dir="8100000" algn="bl" rotWithShape="0">
              <a:srgbClr val="000000">
                <a:alpha val="8000"/>
              </a:srgbClr>
            </a:outerShdw>
          </a:effectLst>
        </p:spPr>
        <p:txBody>
          <a:bodyPr/>
          <a:lstStyle/>
          <a:p>
            <a:endParaRPr lang="en-GB"/>
          </a:p>
        </p:txBody>
      </p:sp>
      <p:sp>
        <p:nvSpPr>
          <p:cNvPr id="48" name="Shape 44"/>
          <p:cNvSpPr/>
          <p:nvPr/>
        </p:nvSpPr>
        <p:spPr>
          <a:xfrm>
            <a:off x="6025896" y="3246120"/>
            <a:ext cx="2651760" cy="54864"/>
          </a:xfrm>
          <a:prstGeom prst="rect">
            <a:avLst/>
          </a:prstGeom>
          <a:solidFill>
            <a:srgbClr val="0F172A"/>
          </a:solidFill>
          <a:ln w="12700">
            <a:solidFill>
              <a:srgbClr val="0F172A"/>
            </a:solidFill>
            <a:prstDash val="solid"/>
          </a:ln>
        </p:spPr>
        <p:txBody>
          <a:bodyPr/>
          <a:lstStyle/>
          <a:p>
            <a:endParaRPr lang="en-GB"/>
          </a:p>
        </p:txBody>
      </p:sp>
      <p:sp>
        <p:nvSpPr>
          <p:cNvPr id="49" name="Shape 45"/>
          <p:cNvSpPr/>
          <p:nvPr/>
        </p:nvSpPr>
        <p:spPr>
          <a:xfrm>
            <a:off x="6190488" y="3383280"/>
            <a:ext cx="411480" cy="411480"/>
          </a:xfrm>
          <a:prstGeom prst="ellipse">
            <a:avLst/>
          </a:prstGeom>
          <a:solidFill>
            <a:srgbClr val="0F172A"/>
          </a:solidFill>
          <a:ln w="12700">
            <a:solidFill>
              <a:srgbClr val="0F172A"/>
            </a:solidFill>
            <a:prstDash val="solid"/>
          </a:ln>
        </p:spPr>
        <p:txBody>
          <a:bodyPr/>
          <a:lstStyle/>
          <a:p>
            <a:endParaRPr lang="en-GB"/>
          </a:p>
        </p:txBody>
      </p:sp>
      <p:pic>
        <p:nvPicPr>
          <p:cNvPr id="50" name="Image 2" descr="preencoded.png"/>
          <p:cNvPicPr>
            <a:picLocks noChangeAspect="1"/>
          </p:cNvPicPr>
          <p:nvPr/>
        </p:nvPicPr>
        <p:blipFill>
          <a:blip r:embed="rId5"/>
          <a:stretch>
            <a:fillRect/>
          </a:stretch>
        </p:blipFill>
        <p:spPr>
          <a:xfrm>
            <a:off x="6254496" y="3438144"/>
            <a:ext cx="274320" cy="274320"/>
          </a:xfrm>
          <a:prstGeom prst="rect">
            <a:avLst/>
          </a:prstGeom>
        </p:spPr>
      </p:pic>
      <p:sp>
        <p:nvSpPr>
          <p:cNvPr id="51" name="Text 46"/>
          <p:cNvSpPr/>
          <p:nvPr/>
        </p:nvSpPr>
        <p:spPr>
          <a:xfrm>
            <a:off x="6711696" y="3383280"/>
            <a:ext cx="1828800" cy="411480"/>
          </a:xfrm>
          <a:prstGeom prst="rect">
            <a:avLst/>
          </a:prstGeom>
          <a:noFill/>
          <a:ln/>
        </p:spPr>
        <p:txBody>
          <a:bodyPr wrap="square" lIns="0" tIns="0" rIns="0" bIns="0" rtlCol="0" anchor="ctr"/>
          <a:lstStyle/>
          <a:p>
            <a:pPr marL="0" indent="0">
              <a:buNone/>
            </a:pPr>
            <a:r>
              <a:rPr lang="en-US" sz="1050" b="1" dirty="0">
                <a:solidFill>
                  <a:srgbClr val="1E293B"/>
                </a:solidFill>
                <a:latin typeface="Calibri" pitchFamily="34" charset="0"/>
                <a:ea typeface="Calibri" pitchFamily="34" charset="-122"/>
                <a:cs typeface="Calibri" pitchFamily="34" charset="-120"/>
              </a:rPr>
              <a:t>PII Redaction (Pre-AI)</a:t>
            </a:r>
            <a:endParaRPr lang="en-US" sz="1050" dirty="0"/>
          </a:p>
        </p:txBody>
      </p:sp>
      <p:sp>
        <p:nvSpPr>
          <p:cNvPr id="52" name="Text 47"/>
          <p:cNvSpPr/>
          <p:nvPr/>
        </p:nvSpPr>
        <p:spPr>
          <a:xfrm>
            <a:off x="6190488" y="3886200"/>
            <a:ext cx="2331720" cy="868680"/>
          </a:xfrm>
          <a:prstGeom prst="rect">
            <a:avLst/>
          </a:prstGeom>
          <a:noFill/>
          <a:ln/>
        </p:spPr>
        <p:txBody>
          <a:bodyPr wrap="square" lIns="0" tIns="0" rIns="0" bIns="0" rtlCol="0" anchor="ctr"/>
          <a:lstStyle/>
          <a:p>
            <a:pPr marL="0" indent="0">
              <a:buNone/>
            </a:pPr>
            <a:r>
              <a:rPr lang="en-US" sz="950" dirty="0">
                <a:solidFill>
                  <a:srgbClr val="64748B"/>
                </a:solidFill>
                <a:latin typeface="Calibri" pitchFamily="34" charset="0"/>
                <a:ea typeface="Calibri" pitchFamily="34" charset="-122"/>
                <a:cs typeface="Calibri" pitchFamily="34" charset="-120"/>
              </a:rPr>
              <a:t>Log Forwarder scrubs IP addresses, MAC addresses, and Windows paths from raw logs via Regex before any data leaves the local machine.</a:t>
            </a:r>
            <a:endParaRPr lang="en-US" sz="950" dirty="0"/>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bg>
      <p:bgPr>
        <a:solidFill>
          <a:srgbClr val="F1F5F9"/>
        </a:solidFill>
        <a:effectLst/>
      </p:bgPr>
    </p:bg>
    <p:spTree>
      <p:nvGrpSpPr>
        <p:cNvPr id="1" name=""/>
        <p:cNvGrpSpPr/>
        <p:nvPr/>
      </p:nvGrpSpPr>
      <p:grpSpPr>
        <a:xfrm>
          <a:off x="0" y="0"/>
          <a:ext cx="0" cy="0"/>
          <a:chOff x="0" y="0"/>
          <a:chExt cx="0" cy="0"/>
        </a:xfrm>
      </p:grpSpPr>
      <p:sp>
        <p:nvSpPr>
          <p:cNvPr id="2" name="Shape 0"/>
          <p:cNvSpPr/>
          <p:nvPr/>
        </p:nvSpPr>
        <p:spPr>
          <a:xfrm>
            <a:off x="0" y="0"/>
            <a:ext cx="9144000" cy="640080"/>
          </a:xfrm>
          <a:prstGeom prst="rect">
            <a:avLst/>
          </a:prstGeom>
          <a:solidFill>
            <a:srgbClr val="0F172A"/>
          </a:solidFill>
          <a:ln w="12700">
            <a:solidFill>
              <a:srgbClr val="0F172A"/>
            </a:solidFill>
            <a:prstDash val="solid"/>
          </a:ln>
        </p:spPr>
        <p:txBody>
          <a:bodyPr/>
          <a:lstStyle/>
          <a:p>
            <a:endParaRPr lang="en-GB"/>
          </a:p>
        </p:txBody>
      </p:sp>
      <p:sp>
        <p:nvSpPr>
          <p:cNvPr id="3" name="Text 1"/>
          <p:cNvSpPr/>
          <p:nvPr/>
        </p:nvSpPr>
        <p:spPr>
          <a:xfrm>
            <a:off x="365760" y="0"/>
            <a:ext cx="8229600" cy="640080"/>
          </a:xfrm>
          <a:prstGeom prst="rect">
            <a:avLst/>
          </a:prstGeom>
          <a:noFill/>
          <a:ln/>
        </p:spPr>
        <p:txBody>
          <a:bodyPr wrap="square" rtlCol="0" anchor="ctr"/>
          <a:lstStyle/>
          <a:p>
            <a:pPr marL="0" indent="0">
              <a:buNone/>
            </a:pPr>
            <a:r>
              <a:rPr lang="en-US" sz="1100" b="1" kern="0" spc="400" dirty="0">
                <a:solidFill>
                  <a:srgbClr val="06B6D4"/>
                </a:solidFill>
                <a:latin typeface="Calibri" pitchFamily="34" charset="0"/>
                <a:ea typeface="Calibri" pitchFamily="34" charset="-122"/>
                <a:cs typeface="Calibri" pitchFamily="34" charset="-120"/>
              </a:rPr>
              <a:t>TECHNICAL JUSTIFICATION</a:t>
            </a:r>
            <a:endParaRPr lang="en-US" sz="1100" dirty="0"/>
          </a:p>
        </p:txBody>
      </p:sp>
      <p:sp>
        <p:nvSpPr>
          <p:cNvPr id="4" name="Text 2"/>
          <p:cNvSpPr/>
          <p:nvPr/>
        </p:nvSpPr>
        <p:spPr>
          <a:xfrm>
            <a:off x="8412480" y="0"/>
            <a:ext cx="548640" cy="640080"/>
          </a:xfrm>
          <a:prstGeom prst="rect">
            <a:avLst/>
          </a:prstGeom>
          <a:noFill/>
          <a:ln/>
        </p:spPr>
        <p:txBody>
          <a:bodyPr wrap="square" rtlCol="0" anchor="ctr"/>
          <a:lstStyle/>
          <a:p>
            <a:pPr marL="0" indent="0" algn="r">
              <a:buNone/>
            </a:pPr>
            <a:r>
              <a:rPr lang="en-US" sz="1000" dirty="0">
                <a:solidFill>
                  <a:srgbClr val="64748B"/>
                </a:solidFill>
                <a:latin typeface="Calibri" pitchFamily="34" charset="0"/>
                <a:ea typeface="Calibri" pitchFamily="34" charset="-122"/>
                <a:cs typeface="Calibri" pitchFamily="34" charset="-120"/>
              </a:rPr>
              <a:t>05</a:t>
            </a:r>
            <a:endParaRPr lang="en-US" sz="1000" dirty="0"/>
          </a:p>
        </p:txBody>
      </p:sp>
      <p:sp>
        <p:nvSpPr>
          <p:cNvPr id="5" name="Text 3"/>
          <p:cNvSpPr/>
          <p:nvPr/>
        </p:nvSpPr>
        <p:spPr>
          <a:xfrm>
            <a:off x="365760" y="731520"/>
            <a:ext cx="8229600" cy="457200"/>
          </a:xfrm>
          <a:prstGeom prst="rect">
            <a:avLst/>
          </a:prstGeom>
          <a:noFill/>
          <a:ln/>
        </p:spPr>
        <p:txBody>
          <a:bodyPr wrap="square" lIns="0" tIns="0" rIns="0" bIns="0" rtlCol="0" anchor="ctr"/>
          <a:lstStyle/>
          <a:p>
            <a:pPr marL="0" indent="0">
              <a:buNone/>
            </a:pPr>
            <a:r>
              <a:rPr lang="en-US" sz="2600" b="1" dirty="0">
                <a:solidFill>
                  <a:srgbClr val="1E293B"/>
                </a:solidFill>
                <a:latin typeface="Arial Black" pitchFamily="34" charset="0"/>
                <a:ea typeface="Arial Black" pitchFamily="34" charset="-122"/>
                <a:cs typeface="Arial Black" pitchFamily="34" charset="-120"/>
              </a:rPr>
              <a:t>Why These Technologies? Decision Matrix</a:t>
            </a:r>
            <a:endParaRPr lang="en-US" sz="2600" dirty="0"/>
          </a:p>
        </p:txBody>
      </p:sp>
      <p:graphicFrame>
        <p:nvGraphicFramePr>
          <p:cNvPr id="6" name="Table 0"/>
          <p:cNvGraphicFramePr>
            <a:graphicFrameLocks noGrp="1"/>
          </p:cNvGraphicFramePr>
          <p:nvPr>
            <p:extLst>
              <p:ext uri="{D42A27DB-BD31-4B8C-83A1-F6EECF244321}">
                <p14:modId xmlns:p14="http://schemas.microsoft.com/office/powerpoint/2010/main" val="3935889448"/>
              </p:ext>
            </p:extLst>
          </p:nvPr>
        </p:nvGraphicFramePr>
        <p:xfrm>
          <a:off x="320040" y="1325880"/>
          <a:ext cx="8503920" cy="3148584"/>
        </p:xfrm>
        <a:graphic>
          <a:graphicData uri="http://schemas.openxmlformats.org/drawingml/2006/table">
            <a:tbl>
              <a:tblPr/>
              <a:tblGrid>
                <a:gridCol w="1188720">
                  <a:extLst>
                    <a:ext uri="{9D8B030D-6E8A-4147-A177-3AD203B41FA5}">
                      <a16:colId xmlns:a16="http://schemas.microsoft.com/office/drawing/2014/main" val="20000"/>
                    </a:ext>
                  </a:extLst>
                </a:gridCol>
                <a:gridCol w="1417320">
                  <a:extLst>
                    <a:ext uri="{9D8B030D-6E8A-4147-A177-3AD203B41FA5}">
                      <a16:colId xmlns:a16="http://schemas.microsoft.com/office/drawing/2014/main" val="20001"/>
                    </a:ext>
                  </a:extLst>
                </a:gridCol>
                <a:gridCol w="1188720">
                  <a:extLst>
                    <a:ext uri="{9D8B030D-6E8A-4147-A177-3AD203B41FA5}">
                      <a16:colId xmlns:a16="http://schemas.microsoft.com/office/drawing/2014/main" val="20002"/>
                    </a:ext>
                  </a:extLst>
                </a:gridCol>
                <a:gridCol w="2560320">
                  <a:extLst>
                    <a:ext uri="{9D8B030D-6E8A-4147-A177-3AD203B41FA5}">
                      <a16:colId xmlns:a16="http://schemas.microsoft.com/office/drawing/2014/main" val="20003"/>
                    </a:ext>
                  </a:extLst>
                </a:gridCol>
                <a:gridCol w="2148840">
                  <a:extLst>
                    <a:ext uri="{9D8B030D-6E8A-4147-A177-3AD203B41FA5}">
                      <a16:colId xmlns:a16="http://schemas.microsoft.com/office/drawing/2014/main" val="20004"/>
                    </a:ext>
                  </a:extLst>
                </a:gridCol>
              </a:tblGrid>
              <a:tr h="475488">
                <a:tc>
                  <a:txBody>
                    <a:bodyPr/>
                    <a:lstStyle/>
                    <a:p>
                      <a:pPr marL="0" indent="0" algn="l">
                        <a:buNone/>
                      </a:pPr>
                      <a:r>
                        <a:rPr lang="en-US" sz="950" b="1" dirty="0">
                          <a:solidFill>
                            <a:srgbClr val="FFFFFF"/>
                          </a:solidFill>
                          <a:latin typeface="Calibri" pitchFamily="34" charset="0"/>
                          <a:ea typeface="Calibri" pitchFamily="34" charset="-122"/>
                          <a:cs typeface="Calibri" pitchFamily="34" charset="-120"/>
                        </a:rPr>
                        <a:t>Technology</a:t>
                      </a:r>
                      <a:endParaRPr lang="en-US" sz="950" dirty="0">
                        <a:latin typeface="Calibri" charset="0"/>
                        <a:ea typeface="Calibri" charset="0"/>
                        <a:cs typeface="Calibri" charset="0"/>
                      </a:endParaRPr>
                    </a:p>
                  </a:txBody>
                  <a:tcPr>
                    <a:lnL w="6350" cap="flat" cmpd="sng" algn="ctr">
                      <a:solidFill>
                        <a:srgbClr val="E2E8F0"/>
                      </a:solidFill>
                      <a:prstDash val="solid"/>
                      <a:round/>
                      <a:headEnd type="none" w="med" len="med"/>
                      <a:tailEnd type="none" w="med" len="med"/>
                    </a:lnL>
                    <a:lnR w="6350" cap="flat" cmpd="sng" algn="ctr">
                      <a:solidFill>
                        <a:srgbClr val="E2E8F0"/>
                      </a:solidFill>
                      <a:prstDash val="solid"/>
                      <a:round/>
                      <a:headEnd type="none" w="med" len="med"/>
                      <a:tailEnd type="none" w="med" len="med"/>
                    </a:lnR>
                    <a:lnT w="6350" cap="flat" cmpd="sng" algn="ctr">
                      <a:solidFill>
                        <a:srgbClr val="E2E8F0"/>
                      </a:solidFill>
                      <a:prstDash val="solid"/>
                      <a:round/>
                      <a:headEnd type="none" w="med" len="med"/>
                      <a:tailEnd type="none" w="med" len="med"/>
                    </a:lnT>
                    <a:lnB w="6350" cap="flat" cmpd="sng" algn="ctr">
                      <a:solidFill>
                        <a:srgbClr val="E2E8F0"/>
                      </a:solidFill>
                      <a:prstDash val="solid"/>
                      <a:round/>
                      <a:headEnd type="none" w="med" len="med"/>
                      <a:tailEnd type="none" w="med" len="med"/>
                    </a:lnB>
                    <a:solidFill>
                      <a:srgbClr val="0F172A"/>
                    </a:solidFill>
                  </a:tcPr>
                </a:tc>
                <a:tc>
                  <a:txBody>
                    <a:bodyPr/>
                    <a:lstStyle/>
                    <a:p>
                      <a:pPr marL="0" indent="0" algn="l">
                        <a:buNone/>
                      </a:pPr>
                      <a:r>
                        <a:rPr lang="en-US" sz="950" b="1" dirty="0">
                          <a:solidFill>
                            <a:srgbClr val="FFFFFF"/>
                          </a:solidFill>
                          <a:latin typeface="Calibri" pitchFamily="34" charset="0"/>
                          <a:ea typeface="Calibri" pitchFamily="34" charset="-122"/>
                          <a:cs typeface="Calibri" pitchFamily="34" charset="-120"/>
                        </a:rPr>
                        <a:t>I Chose</a:t>
                      </a:r>
                      <a:endParaRPr lang="en-US" sz="950" dirty="0">
                        <a:latin typeface="Calibri" charset="0"/>
                        <a:ea typeface="Calibri" charset="0"/>
                        <a:cs typeface="Calibri" charset="0"/>
                      </a:endParaRPr>
                    </a:p>
                  </a:txBody>
                  <a:tcPr>
                    <a:lnL w="6350" cap="flat" cmpd="sng" algn="ctr">
                      <a:solidFill>
                        <a:srgbClr val="E2E8F0"/>
                      </a:solidFill>
                      <a:prstDash val="solid"/>
                      <a:round/>
                      <a:headEnd type="none" w="med" len="med"/>
                      <a:tailEnd type="none" w="med" len="med"/>
                    </a:lnL>
                    <a:lnR w="6350" cap="flat" cmpd="sng" algn="ctr">
                      <a:solidFill>
                        <a:srgbClr val="E2E8F0"/>
                      </a:solidFill>
                      <a:prstDash val="solid"/>
                      <a:round/>
                      <a:headEnd type="none" w="med" len="med"/>
                      <a:tailEnd type="none" w="med" len="med"/>
                    </a:lnR>
                    <a:lnT w="6350" cap="flat" cmpd="sng" algn="ctr">
                      <a:solidFill>
                        <a:srgbClr val="E2E8F0"/>
                      </a:solidFill>
                      <a:prstDash val="solid"/>
                      <a:round/>
                      <a:headEnd type="none" w="med" len="med"/>
                      <a:tailEnd type="none" w="med" len="med"/>
                    </a:lnT>
                    <a:lnB w="6350" cap="flat" cmpd="sng" algn="ctr">
                      <a:solidFill>
                        <a:srgbClr val="E2E8F0"/>
                      </a:solidFill>
                      <a:prstDash val="solid"/>
                      <a:round/>
                      <a:headEnd type="none" w="med" len="med"/>
                      <a:tailEnd type="none" w="med" len="med"/>
                    </a:lnB>
                    <a:solidFill>
                      <a:srgbClr val="0F172A"/>
                    </a:solidFill>
                  </a:tcPr>
                </a:tc>
                <a:tc>
                  <a:txBody>
                    <a:bodyPr/>
                    <a:lstStyle/>
                    <a:p>
                      <a:pPr marL="0" indent="0" algn="l">
                        <a:buNone/>
                      </a:pPr>
                      <a:r>
                        <a:rPr lang="en-US" sz="950" b="1" dirty="0">
                          <a:solidFill>
                            <a:srgbClr val="FFFFFF"/>
                          </a:solidFill>
                          <a:latin typeface="Calibri" pitchFamily="34" charset="0"/>
                          <a:ea typeface="Calibri" pitchFamily="34" charset="-122"/>
                          <a:cs typeface="Calibri" pitchFamily="34" charset="-120"/>
                        </a:rPr>
                        <a:t>Alternative</a:t>
                      </a:r>
                      <a:endParaRPr lang="en-US" sz="950" dirty="0">
                        <a:latin typeface="Calibri" charset="0"/>
                        <a:ea typeface="Calibri" charset="0"/>
                        <a:cs typeface="Calibri" charset="0"/>
                      </a:endParaRPr>
                    </a:p>
                  </a:txBody>
                  <a:tcPr>
                    <a:lnL w="6350" cap="flat" cmpd="sng" algn="ctr">
                      <a:solidFill>
                        <a:srgbClr val="E2E8F0"/>
                      </a:solidFill>
                      <a:prstDash val="solid"/>
                      <a:round/>
                      <a:headEnd type="none" w="med" len="med"/>
                      <a:tailEnd type="none" w="med" len="med"/>
                    </a:lnL>
                    <a:lnR w="6350" cap="flat" cmpd="sng" algn="ctr">
                      <a:solidFill>
                        <a:srgbClr val="E2E8F0"/>
                      </a:solidFill>
                      <a:prstDash val="solid"/>
                      <a:round/>
                      <a:headEnd type="none" w="med" len="med"/>
                      <a:tailEnd type="none" w="med" len="med"/>
                    </a:lnR>
                    <a:lnT w="6350" cap="flat" cmpd="sng" algn="ctr">
                      <a:solidFill>
                        <a:srgbClr val="E2E8F0"/>
                      </a:solidFill>
                      <a:prstDash val="solid"/>
                      <a:round/>
                      <a:headEnd type="none" w="med" len="med"/>
                      <a:tailEnd type="none" w="med" len="med"/>
                    </a:lnT>
                    <a:lnB w="6350" cap="flat" cmpd="sng" algn="ctr">
                      <a:solidFill>
                        <a:srgbClr val="E2E8F0"/>
                      </a:solidFill>
                      <a:prstDash val="solid"/>
                      <a:round/>
                      <a:headEnd type="none" w="med" len="med"/>
                      <a:tailEnd type="none" w="med" len="med"/>
                    </a:lnB>
                    <a:solidFill>
                      <a:srgbClr val="0F172A"/>
                    </a:solidFill>
                  </a:tcPr>
                </a:tc>
                <a:tc>
                  <a:txBody>
                    <a:bodyPr/>
                    <a:lstStyle/>
                    <a:p>
                      <a:pPr marL="0" indent="0" algn="l">
                        <a:buNone/>
                      </a:pPr>
                      <a:r>
                        <a:rPr lang="en-US" sz="950" b="1" dirty="0">
                          <a:solidFill>
                            <a:srgbClr val="FFFFFF"/>
                          </a:solidFill>
                          <a:latin typeface="Calibri" pitchFamily="34" charset="0"/>
                          <a:ea typeface="Calibri" pitchFamily="34" charset="-122"/>
                          <a:cs typeface="Calibri" pitchFamily="34" charset="-120"/>
                        </a:rPr>
                        <a:t>Key Reason</a:t>
                      </a:r>
                      <a:endParaRPr lang="en-US" sz="950" dirty="0">
                        <a:latin typeface="Calibri" charset="0"/>
                        <a:ea typeface="Calibri" charset="0"/>
                        <a:cs typeface="Calibri" charset="0"/>
                      </a:endParaRPr>
                    </a:p>
                  </a:txBody>
                  <a:tcPr>
                    <a:lnL w="6350" cap="flat" cmpd="sng" algn="ctr">
                      <a:solidFill>
                        <a:srgbClr val="E2E8F0"/>
                      </a:solidFill>
                      <a:prstDash val="solid"/>
                      <a:round/>
                      <a:headEnd type="none" w="med" len="med"/>
                      <a:tailEnd type="none" w="med" len="med"/>
                    </a:lnL>
                    <a:lnR w="6350" cap="flat" cmpd="sng" algn="ctr">
                      <a:solidFill>
                        <a:srgbClr val="E2E8F0"/>
                      </a:solidFill>
                      <a:prstDash val="solid"/>
                      <a:round/>
                      <a:headEnd type="none" w="med" len="med"/>
                      <a:tailEnd type="none" w="med" len="med"/>
                    </a:lnR>
                    <a:lnT w="6350" cap="flat" cmpd="sng" algn="ctr">
                      <a:solidFill>
                        <a:srgbClr val="E2E8F0"/>
                      </a:solidFill>
                      <a:prstDash val="solid"/>
                      <a:round/>
                      <a:headEnd type="none" w="med" len="med"/>
                      <a:tailEnd type="none" w="med" len="med"/>
                    </a:lnT>
                    <a:lnB w="6350" cap="flat" cmpd="sng" algn="ctr">
                      <a:solidFill>
                        <a:srgbClr val="E2E8F0"/>
                      </a:solidFill>
                      <a:prstDash val="solid"/>
                      <a:round/>
                      <a:headEnd type="none" w="med" len="med"/>
                      <a:tailEnd type="none" w="med" len="med"/>
                    </a:lnB>
                    <a:solidFill>
                      <a:srgbClr val="0F172A"/>
                    </a:solidFill>
                  </a:tcPr>
                </a:tc>
                <a:tc>
                  <a:txBody>
                    <a:bodyPr/>
                    <a:lstStyle/>
                    <a:p>
                      <a:pPr marL="0" indent="0" algn="l">
                        <a:buNone/>
                      </a:pPr>
                      <a:r>
                        <a:rPr lang="en-US" sz="950" b="1" dirty="0">
                          <a:solidFill>
                            <a:srgbClr val="FFFFFF"/>
                          </a:solidFill>
                          <a:latin typeface="Calibri" pitchFamily="34" charset="0"/>
                          <a:ea typeface="Calibri" pitchFamily="34" charset="-122"/>
                          <a:cs typeface="Calibri" pitchFamily="34" charset="-120"/>
                        </a:rPr>
                        <a:t>Honest Critique</a:t>
                      </a:r>
                      <a:endParaRPr lang="en-US" sz="950" dirty="0">
                        <a:latin typeface="Calibri" charset="0"/>
                        <a:ea typeface="Calibri" charset="0"/>
                        <a:cs typeface="Calibri" charset="0"/>
                      </a:endParaRPr>
                    </a:p>
                  </a:txBody>
                  <a:tcPr>
                    <a:lnL w="6350" cap="flat" cmpd="sng" algn="ctr">
                      <a:solidFill>
                        <a:srgbClr val="E2E8F0"/>
                      </a:solidFill>
                      <a:prstDash val="solid"/>
                      <a:round/>
                      <a:headEnd type="none" w="med" len="med"/>
                      <a:tailEnd type="none" w="med" len="med"/>
                    </a:lnL>
                    <a:lnR w="6350" cap="flat" cmpd="sng" algn="ctr">
                      <a:solidFill>
                        <a:srgbClr val="E2E8F0"/>
                      </a:solidFill>
                      <a:prstDash val="solid"/>
                      <a:round/>
                      <a:headEnd type="none" w="med" len="med"/>
                      <a:tailEnd type="none" w="med" len="med"/>
                    </a:lnR>
                    <a:lnT w="6350" cap="flat" cmpd="sng" algn="ctr">
                      <a:solidFill>
                        <a:srgbClr val="E2E8F0"/>
                      </a:solidFill>
                      <a:prstDash val="solid"/>
                      <a:round/>
                      <a:headEnd type="none" w="med" len="med"/>
                      <a:tailEnd type="none" w="med" len="med"/>
                    </a:lnT>
                    <a:lnB w="6350" cap="flat" cmpd="sng" algn="ctr">
                      <a:solidFill>
                        <a:srgbClr val="E2E8F0"/>
                      </a:solidFill>
                      <a:prstDash val="solid"/>
                      <a:round/>
                      <a:headEnd type="none" w="med" len="med"/>
                      <a:tailEnd type="none" w="med" len="med"/>
                    </a:lnB>
                    <a:solidFill>
                      <a:srgbClr val="0F172A"/>
                    </a:solidFill>
                  </a:tcPr>
                </a:tc>
                <a:extLst>
                  <a:ext uri="{0D108BD9-81ED-4DB2-BD59-A6C34878D82A}">
                    <a16:rowId xmlns:a16="http://schemas.microsoft.com/office/drawing/2014/main" val="10000"/>
                  </a:ext>
                </a:extLst>
              </a:tr>
              <a:tr h="475488">
                <a:tc>
                  <a:txBody>
                    <a:bodyPr/>
                    <a:lstStyle/>
                    <a:p>
                      <a:pPr marL="0" indent="0" algn="l">
                        <a:buNone/>
                      </a:pPr>
                      <a:r>
                        <a:rPr lang="en-US" sz="950" b="1" dirty="0">
                          <a:solidFill>
                            <a:srgbClr val="1E293B"/>
                          </a:solidFill>
                          <a:latin typeface="Calibri" pitchFamily="34" charset="0"/>
                          <a:ea typeface="Calibri" pitchFamily="34" charset="-122"/>
                          <a:cs typeface="Calibri" pitchFamily="34" charset="-120"/>
                        </a:rPr>
                        <a:t>Database</a:t>
                      </a:r>
                      <a:endParaRPr lang="en-US" sz="950" dirty="0">
                        <a:latin typeface="Calibri" charset="0"/>
                        <a:ea typeface="Calibri" charset="0"/>
                        <a:cs typeface="Calibri" charset="0"/>
                      </a:endParaRPr>
                    </a:p>
                  </a:txBody>
                  <a:tcPr>
                    <a:lnL w="6350" cap="flat" cmpd="sng" algn="ctr">
                      <a:solidFill>
                        <a:srgbClr val="E2E8F0"/>
                      </a:solidFill>
                      <a:prstDash val="solid"/>
                      <a:round/>
                      <a:headEnd type="none" w="med" len="med"/>
                      <a:tailEnd type="none" w="med" len="med"/>
                    </a:lnL>
                    <a:lnR w="6350" cap="flat" cmpd="sng" algn="ctr">
                      <a:solidFill>
                        <a:srgbClr val="E2E8F0"/>
                      </a:solidFill>
                      <a:prstDash val="solid"/>
                      <a:round/>
                      <a:headEnd type="none" w="med" len="med"/>
                      <a:tailEnd type="none" w="med" len="med"/>
                    </a:lnR>
                    <a:lnT w="6350" cap="flat" cmpd="sng" algn="ctr">
                      <a:solidFill>
                        <a:srgbClr val="E2E8F0"/>
                      </a:solidFill>
                      <a:prstDash val="solid"/>
                      <a:round/>
                      <a:headEnd type="none" w="med" len="med"/>
                      <a:tailEnd type="none" w="med" len="med"/>
                    </a:lnT>
                    <a:lnB w="6350" cap="flat" cmpd="sng" algn="ctr">
                      <a:solidFill>
                        <a:srgbClr val="E2E8F0"/>
                      </a:solidFill>
                      <a:prstDash val="solid"/>
                      <a:round/>
                      <a:headEnd type="none" w="med" len="med"/>
                      <a:tailEnd type="none" w="med" len="med"/>
                    </a:lnB>
                  </a:tcPr>
                </a:tc>
                <a:tc>
                  <a:txBody>
                    <a:bodyPr/>
                    <a:lstStyle/>
                    <a:p>
                      <a:pPr marL="0" indent="0" algn="l">
                        <a:buNone/>
                      </a:pPr>
                      <a:r>
                        <a:rPr lang="en-US" sz="950" b="1" dirty="0">
                          <a:solidFill>
                            <a:srgbClr val="0369A1"/>
                          </a:solidFill>
                          <a:latin typeface="Calibri" pitchFamily="34" charset="0"/>
                          <a:ea typeface="Calibri" pitchFamily="34" charset="-122"/>
                          <a:cs typeface="Calibri" pitchFamily="34" charset="-120"/>
                        </a:rPr>
                        <a:t>Firebase Firestore</a:t>
                      </a:r>
                      <a:endParaRPr lang="en-US" sz="950" dirty="0">
                        <a:latin typeface="Calibri" charset="0"/>
                        <a:ea typeface="Calibri" charset="0"/>
                        <a:cs typeface="Calibri" charset="0"/>
                      </a:endParaRPr>
                    </a:p>
                  </a:txBody>
                  <a:tcPr>
                    <a:lnL w="6350" cap="flat" cmpd="sng" algn="ctr">
                      <a:solidFill>
                        <a:srgbClr val="E2E8F0"/>
                      </a:solidFill>
                      <a:prstDash val="solid"/>
                      <a:round/>
                      <a:headEnd type="none" w="med" len="med"/>
                      <a:tailEnd type="none" w="med" len="med"/>
                    </a:lnL>
                    <a:lnR w="6350" cap="flat" cmpd="sng" algn="ctr">
                      <a:solidFill>
                        <a:srgbClr val="E2E8F0"/>
                      </a:solidFill>
                      <a:prstDash val="solid"/>
                      <a:round/>
                      <a:headEnd type="none" w="med" len="med"/>
                      <a:tailEnd type="none" w="med" len="med"/>
                    </a:lnR>
                    <a:lnT w="6350" cap="flat" cmpd="sng" algn="ctr">
                      <a:solidFill>
                        <a:srgbClr val="E2E8F0"/>
                      </a:solidFill>
                      <a:prstDash val="solid"/>
                      <a:round/>
                      <a:headEnd type="none" w="med" len="med"/>
                      <a:tailEnd type="none" w="med" len="med"/>
                    </a:lnT>
                    <a:lnB w="6350" cap="flat" cmpd="sng" algn="ctr">
                      <a:solidFill>
                        <a:srgbClr val="E2E8F0"/>
                      </a:solidFill>
                      <a:prstDash val="solid"/>
                      <a:round/>
                      <a:headEnd type="none" w="med" len="med"/>
                      <a:tailEnd type="none" w="med" len="med"/>
                    </a:lnB>
                  </a:tcPr>
                </a:tc>
                <a:tc>
                  <a:txBody>
                    <a:bodyPr/>
                    <a:lstStyle/>
                    <a:p>
                      <a:pPr marL="0" indent="0" algn="l">
                        <a:buNone/>
                      </a:pPr>
                      <a:r>
                        <a:rPr lang="en-US" sz="950" dirty="0">
                          <a:solidFill>
                            <a:srgbClr val="64748B"/>
                          </a:solidFill>
                          <a:latin typeface="Calibri" pitchFamily="34" charset="0"/>
                          <a:ea typeface="Calibri" pitchFamily="34" charset="-122"/>
                          <a:cs typeface="Calibri" pitchFamily="34" charset="-120"/>
                        </a:rPr>
                        <a:t>PostgreSQL (original plan)</a:t>
                      </a:r>
                      <a:endParaRPr lang="en-US" sz="950" dirty="0">
                        <a:latin typeface="Calibri" charset="0"/>
                        <a:ea typeface="Calibri" charset="0"/>
                        <a:cs typeface="Calibri" charset="0"/>
                      </a:endParaRPr>
                    </a:p>
                  </a:txBody>
                  <a:tcPr>
                    <a:lnL w="6350" cap="flat" cmpd="sng" algn="ctr">
                      <a:solidFill>
                        <a:srgbClr val="E2E8F0"/>
                      </a:solidFill>
                      <a:prstDash val="solid"/>
                      <a:round/>
                      <a:headEnd type="none" w="med" len="med"/>
                      <a:tailEnd type="none" w="med" len="med"/>
                    </a:lnL>
                    <a:lnR w="6350" cap="flat" cmpd="sng" algn="ctr">
                      <a:solidFill>
                        <a:srgbClr val="E2E8F0"/>
                      </a:solidFill>
                      <a:prstDash val="solid"/>
                      <a:round/>
                      <a:headEnd type="none" w="med" len="med"/>
                      <a:tailEnd type="none" w="med" len="med"/>
                    </a:lnR>
                    <a:lnT w="6350" cap="flat" cmpd="sng" algn="ctr">
                      <a:solidFill>
                        <a:srgbClr val="E2E8F0"/>
                      </a:solidFill>
                      <a:prstDash val="solid"/>
                      <a:round/>
                      <a:headEnd type="none" w="med" len="med"/>
                      <a:tailEnd type="none" w="med" len="med"/>
                    </a:lnT>
                    <a:lnB w="6350" cap="flat" cmpd="sng" algn="ctr">
                      <a:solidFill>
                        <a:srgbClr val="E2E8F0"/>
                      </a:solidFill>
                      <a:prstDash val="solid"/>
                      <a:round/>
                      <a:headEnd type="none" w="med" len="med"/>
                      <a:tailEnd type="none" w="med" len="med"/>
                    </a:lnB>
                  </a:tcPr>
                </a:tc>
                <a:tc>
                  <a:txBody>
                    <a:bodyPr/>
                    <a:lstStyle/>
                    <a:p>
                      <a:pPr marL="0" indent="0" algn="l">
                        <a:buNone/>
                      </a:pPr>
                      <a:r>
                        <a:rPr lang="en-US" sz="950" dirty="0">
                          <a:solidFill>
                            <a:srgbClr val="1E293B"/>
                          </a:solidFill>
                          <a:latin typeface="Calibri" pitchFamily="34" charset="0"/>
                          <a:ea typeface="Calibri" pitchFamily="34" charset="-122"/>
                          <a:cs typeface="Calibri" pitchFamily="34" charset="-120"/>
                        </a:rPr>
                        <a:t>Built-in on_snapshot real-time listeners — avoids building a custom WebSocket server entirely. PostgreSQL was dropped to reduce infrastructure complexity</a:t>
                      </a:r>
                      <a:endParaRPr lang="en-US" sz="950" dirty="0">
                        <a:latin typeface="Calibri" charset="0"/>
                        <a:ea typeface="Calibri" charset="0"/>
                        <a:cs typeface="Calibri" charset="0"/>
                      </a:endParaRPr>
                    </a:p>
                  </a:txBody>
                  <a:tcPr>
                    <a:lnL w="6350" cap="flat" cmpd="sng" algn="ctr">
                      <a:solidFill>
                        <a:srgbClr val="E2E8F0"/>
                      </a:solidFill>
                      <a:prstDash val="solid"/>
                      <a:round/>
                      <a:headEnd type="none" w="med" len="med"/>
                      <a:tailEnd type="none" w="med" len="med"/>
                    </a:lnL>
                    <a:lnR w="6350" cap="flat" cmpd="sng" algn="ctr">
                      <a:solidFill>
                        <a:srgbClr val="E2E8F0"/>
                      </a:solidFill>
                      <a:prstDash val="solid"/>
                      <a:round/>
                      <a:headEnd type="none" w="med" len="med"/>
                      <a:tailEnd type="none" w="med" len="med"/>
                    </a:lnR>
                    <a:lnT w="6350" cap="flat" cmpd="sng" algn="ctr">
                      <a:solidFill>
                        <a:srgbClr val="E2E8F0"/>
                      </a:solidFill>
                      <a:prstDash val="solid"/>
                      <a:round/>
                      <a:headEnd type="none" w="med" len="med"/>
                      <a:tailEnd type="none" w="med" len="med"/>
                    </a:lnT>
                    <a:lnB w="6350" cap="flat" cmpd="sng" algn="ctr">
                      <a:solidFill>
                        <a:srgbClr val="E2E8F0"/>
                      </a:solidFill>
                      <a:prstDash val="solid"/>
                      <a:round/>
                      <a:headEnd type="none" w="med" len="med"/>
                      <a:tailEnd type="none" w="med" len="med"/>
                    </a:lnB>
                  </a:tcPr>
                </a:tc>
                <a:tc>
                  <a:txBody>
                    <a:bodyPr/>
                    <a:lstStyle/>
                    <a:p>
                      <a:pPr marL="0" indent="0" algn="l">
                        <a:buNone/>
                      </a:pPr>
                      <a:r>
                        <a:rPr lang="en-US" sz="950" i="1" dirty="0">
                          <a:solidFill>
                            <a:srgbClr val="EF4444"/>
                          </a:solidFill>
                          <a:latin typeface="Calibri" pitchFamily="34" charset="0"/>
                          <a:ea typeface="Calibri" pitchFamily="34" charset="-122"/>
                          <a:cs typeface="Calibri" pitchFamily="34" charset="-120"/>
                        </a:rPr>
                        <a:t>NoSQL makes complex relational queries very hard (e.g. filter by subnet + analyst). Would migrate for v2.</a:t>
                      </a:r>
                      <a:endParaRPr lang="en-US" sz="950" dirty="0">
                        <a:latin typeface="Calibri" charset="0"/>
                        <a:ea typeface="Calibri" charset="0"/>
                        <a:cs typeface="Calibri" charset="0"/>
                      </a:endParaRPr>
                    </a:p>
                  </a:txBody>
                  <a:tcPr>
                    <a:lnL w="6350" cap="flat" cmpd="sng" algn="ctr">
                      <a:solidFill>
                        <a:srgbClr val="E2E8F0"/>
                      </a:solidFill>
                      <a:prstDash val="solid"/>
                      <a:round/>
                      <a:headEnd type="none" w="med" len="med"/>
                      <a:tailEnd type="none" w="med" len="med"/>
                    </a:lnL>
                    <a:lnR w="6350" cap="flat" cmpd="sng" algn="ctr">
                      <a:solidFill>
                        <a:srgbClr val="E2E8F0"/>
                      </a:solidFill>
                      <a:prstDash val="solid"/>
                      <a:round/>
                      <a:headEnd type="none" w="med" len="med"/>
                      <a:tailEnd type="none" w="med" len="med"/>
                    </a:lnR>
                    <a:lnT w="6350" cap="flat" cmpd="sng" algn="ctr">
                      <a:solidFill>
                        <a:srgbClr val="E2E8F0"/>
                      </a:solidFill>
                      <a:prstDash val="solid"/>
                      <a:round/>
                      <a:headEnd type="none" w="med" len="med"/>
                      <a:tailEnd type="none" w="med" len="med"/>
                    </a:lnT>
                    <a:lnB w="6350" cap="flat" cmpd="sng" algn="ctr">
                      <a:solidFill>
                        <a:srgbClr val="E2E8F0"/>
                      </a:solidFill>
                      <a:prstDash val="solid"/>
                      <a:round/>
                      <a:headEnd type="none" w="med" len="med"/>
                      <a:tailEnd type="none" w="med" len="med"/>
                    </a:lnB>
                  </a:tcPr>
                </a:tc>
                <a:extLst>
                  <a:ext uri="{0D108BD9-81ED-4DB2-BD59-A6C34878D82A}">
                    <a16:rowId xmlns:a16="http://schemas.microsoft.com/office/drawing/2014/main" val="10001"/>
                  </a:ext>
                </a:extLst>
              </a:tr>
              <a:tr h="475488">
                <a:tc>
                  <a:txBody>
                    <a:bodyPr/>
                    <a:lstStyle/>
                    <a:p>
                      <a:pPr marL="0" indent="0" algn="l">
                        <a:buNone/>
                      </a:pPr>
                      <a:r>
                        <a:rPr lang="en-US" sz="950" b="1" dirty="0">
                          <a:solidFill>
                            <a:srgbClr val="1E293B"/>
                          </a:solidFill>
                          <a:latin typeface="Calibri" pitchFamily="34" charset="0"/>
                          <a:ea typeface="Calibri" pitchFamily="34" charset="-122"/>
                          <a:cs typeface="Calibri" pitchFamily="34" charset="-120"/>
                        </a:rPr>
                        <a:t>Backend</a:t>
                      </a:r>
                      <a:endParaRPr lang="en-US" sz="950" dirty="0">
                        <a:latin typeface="Calibri" charset="0"/>
                        <a:ea typeface="Calibri" charset="0"/>
                        <a:cs typeface="Calibri" charset="0"/>
                      </a:endParaRPr>
                    </a:p>
                  </a:txBody>
                  <a:tcPr>
                    <a:lnL w="6350" cap="flat" cmpd="sng" algn="ctr">
                      <a:solidFill>
                        <a:srgbClr val="E2E8F0"/>
                      </a:solidFill>
                      <a:prstDash val="solid"/>
                      <a:round/>
                      <a:headEnd type="none" w="med" len="med"/>
                      <a:tailEnd type="none" w="med" len="med"/>
                    </a:lnL>
                    <a:lnR w="6350" cap="flat" cmpd="sng" algn="ctr">
                      <a:solidFill>
                        <a:srgbClr val="E2E8F0"/>
                      </a:solidFill>
                      <a:prstDash val="solid"/>
                      <a:round/>
                      <a:headEnd type="none" w="med" len="med"/>
                      <a:tailEnd type="none" w="med" len="med"/>
                    </a:lnR>
                    <a:lnT w="6350" cap="flat" cmpd="sng" algn="ctr">
                      <a:solidFill>
                        <a:srgbClr val="E2E8F0"/>
                      </a:solidFill>
                      <a:prstDash val="solid"/>
                      <a:round/>
                      <a:headEnd type="none" w="med" len="med"/>
                      <a:tailEnd type="none" w="med" len="med"/>
                    </a:lnT>
                    <a:lnB w="6350" cap="flat" cmpd="sng" algn="ctr">
                      <a:solidFill>
                        <a:srgbClr val="E2E8F0"/>
                      </a:solidFill>
                      <a:prstDash val="solid"/>
                      <a:round/>
                      <a:headEnd type="none" w="med" len="med"/>
                      <a:tailEnd type="none" w="med" len="med"/>
                    </a:lnB>
                  </a:tcPr>
                </a:tc>
                <a:tc>
                  <a:txBody>
                    <a:bodyPr/>
                    <a:lstStyle/>
                    <a:p>
                      <a:pPr marL="0" indent="0" algn="l">
                        <a:buNone/>
                      </a:pPr>
                      <a:r>
                        <a:rPr lang="en-US" sz="950" b="1" dirty="0">
                          <a:solidFill>
                            <a:srgbClr val="0369A1"/>
                          </a:solidFill>
                          <a:latin typeface="Calibri" pitchFamily="34" charset="0"/>
                          <a:ea typeface="Calibri" pitchFamily="34" charset="-122"/>
                          <a:cs typeface="Calibri" pitchFamily="34" charset="-120"/>
                        </a:rPr>
                        <a:t>FastAPI</a:t>
                      </a:r>
                      <a:endParaRPr lang="en-US" sz="950" dirty="0">
                        <a:latin typeface="Calibri" charset="0"/>
                        <a:ea typeface="Calibri" charset="0"/>
                        <a:cs typeface="Calibri" charset="0"/>
                      </a:endParaRPr>
                    </a:p>
                  </a:txBody>
                  <a:tcPr>
                    <a:lnL w="6350" cap="flat" cmpd="sng" algn="ctr">
                      <a:solidFill>
                        <a:srgbClr val="E2E8F0"/>
                      </a:solidFill>
                      <a:prstDash val="solid"/>
                      <a:round/>
                      <a:headEnd type="none" w="med" len="med"/>
                      <a:tailEnd type="none" w="med" len="med"/>
                    </a:lnL>
                    <a:lnR w="6350" cap="flat" cmpd="sng" algn="ctr">
                      <a:solidFill>
                        <a:srgbClr val="E2E8F0"/>
                      </a:solidFill>
                      <a:prstDash val="solid"/>
                      <a:round/>
                      <a:headEnd type="none" w="med" len="med"/>
                      <a:tailEnd type="none" w="med" len="med"/>
                    </a:lnR>
                    <a:lnT w="6350" cap="flat" cmpd="sng" algn="ctr">
                      <a:solidFill>
                        <a:srgbClr val="E2E8F0"/>
                      </a:solidFill>
                      <a:prstDash val="solid"/>
                      <a:round/>
                      <a:headEnd type="none" w="med" len="med"/>
                      <a:tailEnd type="none" w="med" len="med"/>
                    </a:lnT>
                    <a:lnB w="6350" cap="flat" cmpd="sng" algn="ctr">
                      <a:solidFill>
                        <a:srgbClr val="E2E8F0"/>
                      </a:solidFill>
                      <a:prstDash val="solid"/>
                      <a:round/>
                      <a:headEnd type="none" w="med" len="med"/>
                      <a:tailEnd type="none" w="med" len="med"/>
                    </a:lnB>
                  </a:tcPr>
                </a:tc>
                <a:tc>
                  <a:txBody>
                    <a:bodyPr/>
                    <a:lstStyle/>
                    <a:p>
                      <a:pPr marL="0" indent="0" algn="l">
                        <a:buNone/>
                      </a:pPr>
                      <a:r>
                        <a:rPr lang="en-US" sz="950" dirty="0">
                          <a:solidFill>
                            <a:srgbClr val="64748B"/>
                          </a:solidFill>
                          <a:latin typeface="Calibri" pitchFamily="34" charset="0"/>
                          <a:ea typeface="Calibri" pitchFamily="34" charset="-122"/>
                          <a:cs typeface="Calibri" pitchFamily="34" charset="-120"/>
                        </a:rPr>
                        <a:t>Flask / Django</a:t>
                      </a:r>
                      <a:endParaRPr lang="en-US" sz="950" dirty="0">
                        <a:latin typeface="Calibri" charset="0"/>
                        <a:ea typeface="Calibri" charset="0"/>
                        <a:cs typeface="Calibri" charset="0"/>
                      </a:endParaRPr>
                    </a:p>
                  </a:txBody>
                  <a:tcPr>
                    <a:lnL w="6350" cap="flat" cmpd="sng" algn="ctr">
                      <a:solidFill>
                        <a:srgbClr val="E2E8F0"/>
                      </a:solidFill>
                      <a:prstDash val="solid"/>
                      <a:round/>
                      <a:headEnd type="none" w="med" len="med"/>
                      <a:tailEnd type="none" w="med" len="med"/>
                    </a:lnL>
                    <a:lnR w="6350" cap="flat" cmpd="sng" algn="ctr">
                      <a:solidFill>
                        <a:srgbClr val="E2E8F0"/>
                      </a:solidFill>
                      <a:prstDash val="solid"/>
                      <a:round/>
                      <a:headEnd type="none" w="med" len="med"/>
                      <a:tailEnd type="none" w="med" len="med"/>
                    </a:lnR>
                    <a:lnT w="6350" cap="flat" cmpd="sng" algn="ctr">
                      <a:solidFill>
                        <a:srgbClr val="E2E8F0"/>
                      </a:solidFill>
                      <a:prstDash val="solid"/>
                      <a:round/>
                      <a:headEnd type="none" w="med" len="med"/>
                      <a:tailEnd type="none" w="med" len="med"/>
                    </a:lnT>
                    <a:lnB w="6350" cap="flat" cmpd="sng" algn="ctr">
                      <a:solidFill>
                        <a:srgbClr val="E2E8F0"/>
                      </a:solidFill>
                      <a:prstDash val="solid"/>
                      <a:round/>
                      <a:headEnd type="none" w="med" len="med"/>
                      <a:tailEnd type="none" w="med" len="med"/>
                    </a:lnB>
                  </a:tcPr>
                </a:tc>
                <a:tc>
                  <a:txBody>
                    <a:bodyPr/>
                    <a:lstStyle/>
                    <a:p>
                      <a:pPr marL="0" indent="0" algn="l">
                        <a:buNone/>
                      </a:pPr>
                      <a:r>
                        <a:rPr lang="en-US" sz="950" dirty="0">
                          <a:solidFill>
                            <a:srgbClr val="1E293B"/>
                          </a:solidFill>
                          <a:latin typeface="Calibri" pitchFamily="34" charset="0"/>
                          <a:ea typeface="Calibri" pitchFamily="34" charset="-122"/>
                          <a:cs typeface="Calibri" pitchFamily="34" charset="-120"/>
                        </a:rPr>
                        <a:t>Native async, automatic OpenAPI docs, Pydantic validation — faster to build secure APIs</a:t>
                      </a:r>
                      <a:endParaRPr lang="en-US" sz="950" dirty="0">
                        <a:latin typeface="Calibri" charset="0"/>
                        <a:ea typeface="Calibri" charset="0"/>
                        <a:cs typeface="Calibri" charset="0"/>
                      </a:endParaRPr>
                    </a:p>
                  </a:txBody>
                  <a:tcPr>
                    <a:lnL w="6350" cap="flat" cmpd="sng" algn="ctr">
                      <a:solidFill>
                        <a:srgbClr val="E2E8F0"/>
                      </a:solidFill>
                      <a:prstDash val="solid"/>
                      <a:round/>
                      <a:headEnd type="none" w="med" len="med"/>
                      <a:tailEnd type="none" w="med" len="med"/>
                    </a:lnL>
                    <a:lnR w="6350" cap="flat" cmpd="sng" algn="ctr">
                      <a:solidFill>
                        <a:srgbClr val="E2E8F0"/>
                      </a:solidFill>
                      <a:prstDash val="solid"/>
                      <a:round/>
                      <a:headEnd type="none" w="med" len="med"/>
                      <a:tailEnd type="none" w="med" len="med"/>
                    </a:lnR>
                    <a:lnT w="6350" cap="flat" cmpd="sng" algn="ctr">
                      <a:solidFill>
                        <a:srgbClr val="E2E8F0"/>
                      </a:solidFill>
                      <a:prstDash val="solid"/>
                      <a:round/>
                      <a:headEnd type="none" w="med" len="med"/>
                      <a:tailEnd type="none" w="med" len="med"/>
                    </a:lnT>
                    <a:lnB w="6350" cap="flat" cmpd="sng" algn="ctr">
                      <a:solidFill>
                        <a:srgbClr val="E2E8F0"/>
                      </a:solidFill>
                      <a:prstDash val="solid"/>
                      <a:round/>
                      <a:headEnd type="none" w="med" len="med"/>
                      <a:tailEnd type="none" w="med" len="med"/>
                    </a:lnB>
                  </a:tcPr>
                </a:tc>
                <a:tc>
                  <a:txBody>
                    <a:bodyPr/>
                    <a:lstStyle/>
                    <a:p>
                      <a:pPr marL="0" indent="0" algn="l">
                        <a:buNone/>
                      </a:pPr>
                      <a:r>
                        <a:rPr lang="en-US" sz="950" i="1" dirty="0">
                          <a:solidFill>
                            <a:srgbClr val="64748B"/>
                          </a:solidFill>
                          <a:latin typeface="Calibri" pitchFamily="34" charset="0"/>
                          <a:ea typeface="Calibri" pitchFamily="34" charset="-122"/>
                          <a:cs typeface="Calibri" pitchFamily="34" charset="-120"/>
                        </a:rPr>
                        <a:t>Overkill for a prototype, but pays off as the codebase scales.</a:t>
                      </a:r>
                      <a:endParaRPr lang="en-US" sz="950" dirty="0">
                        <a:latin typeface="Calibri" charset="0"/>
                        <a:ea typeface="Calibri" charset="0"/>
                        <a:cs typeface="Calibri" charset="0"/>
                      </a:endParaRPr>
                    </a:p>
                  </a:txBody>
                  <a:tcPr>
                    <a:lnL w="6350" cap="flat" cmpd="sng" algn="ctr">
                      <a:solidFill>
                        <a:srgbClr val="E2E8F0"/>
                      </a:solidFill>
                      <a:prstDash val="solid"/>
                      <a:round/>
                      <a:headEnd type="none" w="med" len="med"/>
                      <a:tailEnd type="none" w="med" len="med"/>
                    </a:lnL>
                    <a:lnR w="6350" cap="flat" cmpd="sng" algn="ctr">
                      <a:solidFill>
                        <a:srgbClr val="E2E8F0"/>
                      </a:solidFill>
                      <a:prstDash val="solid"/>
                      <a:round/>
                      <a:headEnd type="none" w="med" len="med"/>
                      <a:tailEnd type="none" w="med" len="med"/>
                    </a:lnR>
                    <a:lnT w="6350" cap="flat" cmpd="sng" algn="ctr">
                      <a:solidFill>
                        <a:srgbClr val="E2E8F0"/>
                      </a:solidFill>
                      <a:prstDash val="solid"/>
                      <a:round/>
                      <a:headEnd type="none" w="med" len="med"/>
                      <a:tailEnd type="none" w="med" len="med"/>
                    </a:lnT>
                    <a:lnB w="6350" cap="flat" cmpd="sng" algn="ctr">
                      <a:solidFill>
                        <a:srgbClr val="E2E8F0"/>
                      </a:solidFill>
                      <a:prstDash val="solid"/>
                      <a:round/>
                      <a:headEnd type="none" w="med" len="med"/>
                      <a:tailEnd type="none" w="med" len="med"/>
                    </a:lnB>
                  </a:tcPr>
                </a:tc>
                <a:extLst>
                  <a:ext uri="{0D108BD9-81ED-4DB2-BD59-A6C34878D82A}">
                    <a16:rowId xmlns:a16="http://schemas.microsoft.com/office/drawing/2014/main" val="10002"/>
                  </a:ext>
                </a:extLst>
              </a:tr>
              <a:tr h="475488">
                <a:tc>
                  <a:txBody>
                    <a:bodyPr/>
                    <a:lstStyle/>
                    <a:p>
                      <a:pPr marL="0" indent="0" algn="l">
                        <a:buNone/>
                      </a:pPr>
                      <a:r>
                        <a:rPr lang="en-US" sz="950" b="1" dirty="0">
                          <a:solidFill>
                            <a:srgbClr val="1E293B"/>
                          </a:solidFill>
                          <a:latin typeface="Calibri" pitchFamily="34" charset="0"/>
                          <a:ea typeface="Calibri" pitchFamily="34" charset="-122"/>
                          <a:cs typeface="Calibri" pitchFamily="34" charset="-120"/>
                        </a:rPr>
                        <a:t>Frontend</a:t>
                      </a:r>
                      <a:endParaRPr lang="en-US" sz="950" dirty="0">
                        <a:latin typeface="Calibri" charset="0"/>
                        <a:ea typeface="Calibri" charset="0"/>
                        <a:cs typeface="Calibri" charset="0"/>
                      </a:endParaRPr>
                    </a:p>
                  </a:txBody>
                  <a:tcPr>
                    <a:lnL w="6350" cap="flat" cmpd="sng" algn="ctr">
                      <a:solidFill>
                        <a:srgbClr val="E2E8F0"/>
                      </a:solidFill>
                      <a:prstDash val="solid"/>
                      <a:round/>
                      <a:headEnd type="none" w="med" len="med"/>
                      <a:tailEnd type="none" w="med" len="med"/>
                    </a:lnL>
                    <a:lnR w="6350" cap="flat" cmpd="sng" algn="ctr">
                      <a:solidFill>
                        <a:srgbClr val="E2E8F0"/>
                      </a:solidFill>
                      <a:prstDash val="solid"/>
                      <a:round/>
                      <a:headEnd type="none" w="med" len="med"/>
                      <a:tailEnd type="none" w="med" len="med"/>
                    </a:lnR>
                    <a:lnT w="6350" cap="flat" cmpd="sng" algn="ctr">
                      <a:solidFill>
                        <a:srgbClr val="E2E8F0"/>
                      </a:solidFill>
                      <a:prstDash val="solid"/>
                      <a:round/>
                      <a:headEnd type="none" w="med" len="med"/>
                      <a:tailEnd type="none" w="med" len="med"/>
                    </a:lnT>
                    <a:lnB w="6350" cap="flat" cmpd="sng" algn="ctr">
                      <a:solidFill>
                        <a:srgbClr val="E2E8F0"/>
                      </a:solidFill>
                      <a:prstDash val="solid"/>
                      <a:round/>
                      <a:headEnd type="none" w="med" len="med"/>
                      <a:tailEnd type="none" w="med" len="med"/>
                    </a:lnB>
                  </a:tcPr>
                </a:tc>
                <a:tc>
                  <a:txBody>
                    <a:bodyPr/>
                    <a:lstStyle/>
                    <a:p>
                      <a:pPr marL="0" indent="0" algn="l">
                        <a:buNone/>
                      </a:pPr>
                      <a:r>
                        <a:rPr lang="en-US" sz="950" b="1" dirty="0">
                          <a:solidFill>
                            <a:srgbClr val="0369A1"/>
                          </a:solidFill>
                          <a:latin typeface="Calibri" pitchFamily="34" charset="0"/>
                          <a:ea typeface="Calibri" pitchFamily="34" charset="-122"/>
                          <a:cs typeface="Calibri" pitchFamily="34" charset="-120"/>
                        </a:rPr>
                        <a:t>React + TypeScript</a:t>
                      </a:r>
                      <a:endParaRPr lang="en-US" sz="950" dirty="0">
                        <a:latin typeface="Calibri" charset="0"/>
                        <a:ea typeface="Calibri" charset="0"/>
                        <a:cs typeface="Calibri" charset="0"/>
                      </a:endParaRPr>
                    </a:p>
                  </a:txBody>
                  <a:tcPr>
                    <a:lnL w="6350" cap="flat" cmpd="sng" algn="ctr">
                      <a:solidFill>
                        <a:srgbClr val="E2E8F0"/>
                      </a:solidFill>
                      <a:prstDash val="solid"/>
                      <a:round/>
                      <a:headEnd type="none" w="med" len="med"/>
                      <a:tailEnd type="none" w="med" len="med"/>
                    </a:lnL>
                    <a:lnR w="6350" cap="flat" cmpd="sng" algn="ctr">
                      <a:solidFill>
                        <a:srgbClr val="E2E8F0"/>
                      </a:solidFill>
                      <a:prstDash val="solid"/>
                      <a:round/>
                      <a:headEnd type="none" w="med" len="med"/>
                      <a:tailEnd type="none" w="med" len="med"/>
                    </a:lnR>
                    <a:lnT w="6350" cap="flat" cmpd="sng" algn="ctr">
                      <a:solidFill>
                        <a:srgbClr val="E2E8F0"/>
                      </a:solidFill>
                      <a:prstDash val="solid"/>
                      <a:round/>
                      <a:headEnd type="none" w="med" len="med"/>
                      <a:tailEnd type="none" w="med" len="med"/>
                    </a:lnT>
                    <a:lnB w="6350" cap="flat" cmpd="sng" algn="ctr">
                      <a:solidFill>
                        <a:srgbClr val="E2E8F0"/>
                      </a:solidFill>
                      <a:prstDash val="solid"/>
                      <a:round/>
                      <a:headEnd type="none" w="med" len="med"/>
                      <a:tailEnd type="none" w="med" len="med"/>
                    </a:lnB>
                  </a:tcPr>
                </a:tc>
                <a:tc>
                  <a:txBody>
                    <a:bodyPr/>
                    <a:lstStyle/>
                    <a:p>
                      <a:pPr marL="0" indent="0" algn="l">
                        <a:buNone/>
                      </a:pPr>
                      <a:r>
                        <a:rPr lang="en-US" sz="950" dirty="0">
                          <a:solidFill>
                            <a:srgbClr val="64748B"/>
                          </a:solidFill>
                          <a:latin typeface="Calibri" pitchFamily="34" charset="0"/>
                          <a:ea typeface="Calibri" pitchFamily="34" charset="-122"/>
                          <a:cs typeface="Calibri" pitchFamily="34" charset="-120"/>
                        </a:rPr>
                        <a:t>Plain HTML/JS</a:t>
                      </a:r>
                      <a:endParaRPr lang="en-US" sz="950" dirty="0">
                        <a:latin typeface="Calibri" charset="0"/>
                        <a:ea typeface="Calibri" charset="0"/>
                        <a:cs typeface="Calibri" charset="0"/>
                      </a:endParaRPr>
                    </a:p>
                  </a:txBody>
                  <a:tcPr>
                    <a:lnL w="6350" cap="flat" cmpd="sng" algn="ctr">
                      <a:solidFill>
                        <a:srgbClr val="E2E8F0"/>
                      </a:solidFill>
                      <a:prstDash val="solid"/>
                      <a:round/>
                      <a:headEnd type="none" w="med" len="med"/>
                      <a:tailEnd type="none" w="med" len="med"/>
                    </a:lnL>
                    <a:lnR w="6350" cap="flat" cmpd="sng" algn="ctr">
                      <a:solidFill>
                        <a:srgbClr val="E2E8F0"/>
                      </a:solidFill>
                      <a:prstDash val="solid"/>
                      <a:round/>
                      <a:headEnd type="none" w="med" len="med"/>
                      <a:tailEnd type="none" w="med" len="med"/>
                    </a:lnR>
                    <a:lnT w="6350" cap="flat" cmpd="sng" algn="ctr">
                      <a:solidFill>
                        <a:srgbClr val="E2E8F0"/>
                      </a:solidFill>
                      <a:prstDash val="solid"/>
                      <a:round/>
                      <a:headEnd type="none" w="med" len="med"/>
                      <a:tailEnd type="none" w="med" len="med"/>
                    </a:lnT>
                    <a:lnB w="6350" cap="flat" cmpd="sng" algn="ctr">
                      <a:solidFill>
                        <a:srgbClr val="E2E8F0"/>
                      </a:solidFill>
                      <a:prstDash val="solid"/>
                      <a:round/>
                      <a:headEnd type="none" w="med" len="med"/>
                      <a:tailEnd type="none" w="med" len="med"/>
                    </a:lnB>
                  </a:tcPr>
                </a:tc>
                <a:tc>
                  <a:txBody>
                    <a:bodyPr/>
                    <a:lstStyle/>
                    <a:p>
                      <a:pPr marL="0" indent="0" algn="l">
                        <a:buNone/>
                      </a:pPr>
                      <a:r>
                        <a:rPr lang="en-US" sz="950" dirty="0">
                          <a:solidFill>
                            <a:srgbClr val="1E293B"/>
                          </a:solidFill>
                          <a:latin typeface="Calibri" pitchFamily="34" charset="0"/>
                          <a:ea typeface="Calibri" pitchFamily="34" charset="-122"/>
                          <a:cs typeface="Calibri" pitchFamily="34" charset="-120"/>
                        </a:rPr>
                        <a:t>Component reuse (</a:t>
                      </a:r>
                      <a:r>
                        <a:rPr lang="en-US" sz="950" dirty="0" err="1">
                          <a:solidFill>
                            <a:srgbClr val="1E293B"/>
                          </a:solidFill>
                          <a:latin typeface="Calibri" pitchFamily="34" charset="0"/>
                          <a:ea typeface="Calibri" pitchFamily="34" charset="-122"/>
                          <a:cs typeface="Calibri" pitchFamily="34" charset="-120"/>
                        </a:rPr>
                        <a:t>StatCard</a:t>
                      </a:r>
                      <a:r>
                        <a:rPr lang="en-US" sz="950" dirty="0">
                          <a:solidFill>
                            <a:srgbClr val="1E293B"/>
                          </a:solidFill>
                          <a:latin typeface="Calibri" pitchFamily="34" charset="0"/>
                          <a:ea typeface="Calibri" pitchFamily="34" charset="-122"/>
                          <a:cs typeface="Calibri" pitchFamily="34" charset="-120"/>
                        </a:rPr>
                        <a:t>), Recharts integration, and type safety across large codebase</a:t>
                      </a:r>
                      <a:endParaRPr lang="en-US" sz="950" dirty="0">
                        <a:latin typeface="Calibri" charset="0"/>
                        <a:ea typeface="Calibri" charset="0"/>
                        <a:cs typeface="Calibri" charset="0"/>
                      </a:endParaRPr>
                    </a:p>
                  </a:txBody>
                  <a:tcPr>
                    <a:lnL w="6350" cap="flat" cmpd="sng" algn="ctr">
                      <a:solidFill>
                        <a:srgbClr val="E2E8F0"/>
                      </a:solidFill>
                      <a:prstDash val="solid"/>
                      <a:round/>
                      <a:headEnd type="none" w="med" len="med"/>
                      <a:tailEnd type="none" w="med" len="med"/>
                    </a:lnL>
                    <a:lnR w="6350" cap="flat" cmpd="sng" algn="ctr">
                      <a:solidFill>
                        <a:srgbClr val="E2E8F0"/>
                      </a:solidFill>
                      <a:prstDash val="solid"/>
                      <a:round/>
                      <a:headEnd type="none" w="med" len="med"/>
                      <a:tailEnd type="none" w="med" len="med"/>
                    </a:lnR>
                    <a:lnT w="6350" cap="flat" cmpd="sng" algn="ctr">
                      <a:solidFill>
                        <a:srgbClr val="E2E8F0"/>
                      </a:solidFill>
                      <a:prstDash val="solid"/>
                      <a:round/>
                      <a:headEnd type="none" w="med" len="med"/>
                      <a:tailEnd type="none" w="med" len="med"/>
                    </a:lnT>
                    <a:lnB w="6350" cap="flat" cmpd="sng" algn="ctr">
                      <a:solidFill>
                        <a:srgbClr val="E2E8F0"/>
                      </a:solidFill>
                      <a:prstDash val="solid"/>
                      <a:round/>
                      <a:headEnd type="none" w="med" len="med"/>
                      <a:tailEnd type="none" w="med" len="med"/>
                    </a:lnB>
                  </a:tcPr>
                </a:tc>
                <a:tc>
                  <a:txBody>
                    <a:bodyPr/>
                    <a:lstStyle/>
                    <a:p>
                      <a:pPr marL="0" indent="0" algn="l">
                        <a:buNone/>
                      </a:pPr>
                      <a:r>
                        <a:rPr lang="en-US" sz="950" i="1" dirty="0">
                          <a:solidFill>
                            <a:srgbClr val="64748B"/>
                          </a:solidFill>
                          <a:latin typeface="Calibri" pitchFamily="34" charset="0"/>
                          <a:ea typeface="Calibri" pitchFamily="34" charset="-122"/>
                          <a:cs typeface="Calibri" pitchFamily="34" charset="-120"/>
                        </a:rPr>
                        <a:t>Adds build complexity — not needed for a simple static page, but essential here.</a:t>
                      </a:r>
                      <a:endParaRPr lang="en-US" sz="950" dirty="0">
                        <a:latin typeface="Calibri" charset="0"/>
                        <a:ea typeface="Calibri" charset="0"/>
                        <a:cs typeface="Calibri" charset="0"/>
                      </a:endParaRPr>
                    </a:p>
                  </a:txBody>
                  <a:tcPr>
                    <a:lnL w="6350" cap="flat" cmpd="sng" algn="ctr">
                      <a:solidFill>
                        <a:srgbClr val="E2E8F0"/>
                      </a:solidFill>
                      <a:prstDash val="solid"/>
                      <a:round/>
                      <a:headEnd type="none" w="med" len="med"/>
                      <a:tailEnd type="none" w="med" len="med"/>
                    </a:lnL>
                    <a:lnR w="6350" cap="flat" cmpd="sng" algn="ctr">
                      <a:solidFill>
                        <a:srgbClr val="E2E8F0"/>
                      </a:solidFill>
                      <a:prstDash val="solid"/>
                      <a:round/>
                      <a:headEnd type="none" w="med" len="med"/>
                      <a:tailEnd type="none" w="med" len="med"/>
                    </a:lnR>
                    <a:lnT w="6350" cap="flat" cmpd="sng" algn="ctr">
                      <a:solidFill>
                        <a:srgbClr val="E2E8F0"/>
                      </a:solidFill>
                      <a:prstDash val="solid"/>
                      <a:round/>
                      <a:headEnd type="none" w="med" len="med"/>
                      <a:tailEnd type="none" w="med" len="med"/>
                    </a:lnT>
                    <a:lnB w="6350" cap="flat" cmpd="sng" algn="ctr">
                      <a:solidFill>
                        <a:srgbClr val="E2E8F0"/>
                      </a:solidFill>
                      <a:prstDash val="solid"/>
                      <a:round/>
                      <a:headEnd type="none" w="med" len="med"/>
                      <a:tailEnd type="none" w="med" len="med"/>
                    </a:lnB>
                  </a:tcPr>
                </a:tc>
                <a:extLst>
                  <a:ext uri="{0D108BD9-81ED-4DB2-BD59-A6C34878D82A}">
                    <a16:rowId xmlns:a16="http://schemas.microsoft.com/office/drawing/2014/main" val="10003"/>
                  </a:ext>
                </a:extLst>
              </a:tr>
              <a:tr h="475488">
                <a:tc>
                  <a:txBody>
                    <a:bodyPr/>
                    <a:lstStyle/>
                    <a:p>
                      <a:pPr marL="0" indent="0" algn="l">
                        <a:buNone/>
                      </a:pPr>
                      <a:r>
                        <a:rPr lang="en-US" sz="950" b="1" dirty="0">
                          <a:solidFill>
                            <a:srgbClr val="1E293B"/>
                          </a:solidFill>
                          <a:latin typeface="Calibri" pitchFamily="34" charset="0"/>
                          <a:ea typeface="Calibri" pitchFamily="34" charset="-122"/>
                          <a:cs typeface="Calibri" pitchFamily="34" charset="-120"/>
                        </a:rPr>
                        <a:t>AI Model</a:t>
                      </a:r>
                      <a:endParaRPr lang="en-US" sz="950" dirty="0">
                        <a:latin typeface="Calibri" charset="0"/>
                        <a:ea typeface="Calibri" charset="0"/>
                        <a:cs typeface="Calibri" charset="0"/>
                      </a:endParaRPr>
                    </a:p>
                  </a:txBody>
                  <a:tcPr>
                    <a:lnL w="6350" cap="flat" cmpd="sng" algn="ctr">
                      <a:solidFill>
                        <a:srgbClr val="E2E8F0"/>
                      </a:solidFill>
                      <a:prstDash val="solid"/>
                      <a:round/>
                      <a:headEnd type="none" w="med" len="med"/>
                      <a:tailEnd type="none" w="med" len="med"/>
                    </a:lnL>
                    <a:lnR w="6350" cap="flat" cmpd="sng" algn="ctr">
                      <a:solidFill>
                        <a:srgbClr val="E2E8F0"/>
                      </a:solidFill>
                      <a:prstDash val="solid"/>
                      <a:round/>
                      <a:headEnd type="none" w="med" len="med"/>
                      <a:tailEnd type="none" w="med" len="med"/>
                    </a:lnR>
                    <a:lnT w="6350" cap="flat" cmpd="sng" algn="ctr">
                      <a:solidFill>
                        <a:srgbClr val="E2E8F0"/>
                      </a:solidFill>
                      <a:prstDash val="solid"/>
                      <a:round/>
                      <a:headEnd type="none" w="med" len="med"/>
                      <a:tailEnd type="none" w="med" len="med"/>
                    </a:lnT>
                    <a:lnB w="6350" cap="flat" cmpd="sng" algn="ctr">
                      <a:solidFill>
                        <a:srgbClr val="E2E8F0"/>
                      </a:solidFill>
                      <a:prstDash val="solid"/>
                      <a:round/>
                      <a:headEnd type="none" w="med" len="med"/>
                      <a:tailEnd type="none" w="med" len="med"/>
                    </a:lnB>
                  </a:tcPr>
                </a:tc>
                <a:tc>
                  <a:txBody>
                    <a:bodyPr/>
                    <a:lstStyle/>
                    <a:p>
                      <a:pPr marL="0" indent="0" algn="l">
                        <a:buNone/>
                      </a:pPr>
                      <a:r>
                        <a:rPr lang="en-US" sz="950" b="1" dirty="0">
                          <a:solidFill>
                            <a:srgbClr val="0369A1"/>
                          </a:solidFill>
                          <a:latin typeface="Calibri" pitchFamily="34" charset="0"/>
                          <a:ea typeface="Calibri" pitchFamily="34" charset="-122"/>
                          <a:cs typeface="Calibri" pitchFamily="34" charset="-120"/>
                        </a:rPr>
                        <a:t>Gemini 1.5 Flash-Lite</a:t>
                      </a:r>
                      <a:endParaRPr lang="en-US" sz="950" dirty="0">
                        <a:latin typeface="Calibri" charset="0"/>
                        <a:ea typeface="Calibri" charset="0"/>
                        <a:cs typeface="Calibri" charset="0"/>
                      </a:endParaRPr>
                    </a:p>
                  </a:txBody>
                  <a:tcPr>
                    <a:lnL w="6350" cap="flat" cmpd="sng" algn="ctr">
                      <a:solidFill>
                        <a:srgbClr val="E2E8F0"/>
                      </a:solidFill>
                      <a:prstDash val="solid"/>
                      <a:round/>
                      <a:headEnd type="none" w="med" len="med"/>
                      <a:tailEnd type="none" w="med" len="med"/>
                    </a:lnL>
                    <a:lnR w="6350" cap="flat" cmpd="sng" algn="ctr">
                      <a:solidFill>
                        <a:srgbClr val="E2E8F0"/>
                      </a:solidFill>
                      <a:prstDash val="solid"/>
                      <a:round/>
                      <a:headEnd type="none" w="med" len="med"/>
                      <a:tailEnd type="none" w="med" len="med"/>
                    </a:lnR>
                    <a:lnT w="6350" cap="flat" cmpd="sng" algn="ctr">
                      <a:solidFill>
                        <a:srgbClr val="E2E8F0"/>
                      </a:solidFill>
                      <a:prstDash val="solid"/>
                      <a:round/>
                      <a:headEnd type="none" w="med" len="med"/>
                      <a:tailEnd type="none" w="med" len="med"/>
                    </a:lnT>
                    <a:lnB w="6350" cap="flat" cmpd="sng" algn="ctr">
                      <a:solidFill>
                        <a:srgbClr val="E2E8F0"/>
                      </a:solidFill>
                      <a:prstDash val="solid"/>
                      <a:round/>
                      <a:headEnd type="none" w="med" len="med"/>
                      <a:tailEnd type="none" w="med" len="med"/>
                    </a:lnB>
                  </a:tcPr>
                </a:tc>
                <a:tc>
                  <a:txBody>
                    <a:bodyPr/>
                    <a:lstStyle/>
                    <a:p>
                      <a:pPr marL="0" indent="0" algn="l">
                        <a:buNone/>
                      </a:pPr>
                      <a:r>
                        <a:rPr lang="en-US" sz="950" dirty="0">
                          <a:solidFill>
                            <a:srgbClr val="64748B"/>
                          </a:solidFill>
                          <a:latin typeface="Calibri" pitchFamily="34" charset="0"/>
                          <a:ea typeface="Calibri" pitchFamily="34" charset="-122"/>
                          <a:cs typeface="Calibri" pitchFamily="34" charset="-120"/>
                        </a:rPr>
                        <a:t>Llama 3 (local) / GPT-4</a:t>
                      </a:r>
                      <a:endParaRPr lang="en-US" sz="950" dirty="0">
                        <a:latin typeface="Calibri" charset="0"/>
                        <a:ea typeface="Calibri" charset="0"/>
                        <a:cs typeface="Calibri" charset="0"/>
                      </a:endParaRPr>
                    </a:p>
                  </a:txBody>
                  <a:tcPr>
                    <a:lnL w="6350" cap="flat" cmpd="sng" algn="ctr">
                      <a:solidFill>
                        <a:srgbClr val="E2E8F0"/>
                      </a:solidFill>
                      <a:prstDash val="solid"/>
                      <a:round/>
                      <a:headEnd type="none" w="med" len="med"/>
                      <a:tailEnd type="none" w="med" len="med"/>
                    </a:lnL>
                    <a:lnR w="6350" cap="flat" cmpd="sng" algn="ctr">
                      <a:solidFill>
                        <a:srgbClr val="E2E8F0"/>
                      </a:solidFill>
                      <a:prstDash val="solid"/>
                      <a:round/>
                      <a:headEnd type="none" w="med" len="med"/>
                      <a:tailEnd type="none" w="med" len="med"/>
                    </a:lnR>
                    <a:lnT w="6350" cap="flat" cmpd="sng" algn="ctr">
                      <a:solidFill>
                        <a:srgbClr val="E2E8F0"/>
                      </a:solidFill>
                      <a:prstDash val="solid"/>
                      <a:round/>
                      <a:headEnd type="none" w="med" len="med"/>
                      <a:tailEnd type="none" w="med" len="med"/>
                    </a:lnT>
                    <a:lnB w="6350" cap="flat" cmpd="sng" algn="ctr">
                      <a:solidFill>
                        <a:srgbClr val="E2E8F0"/>
                      </a:solidFill>
                      <a:prstDash val="solid"/>
                      <a:round/>
                      <a:headEnd type="none" w="med" len="med"/>
                      <a:tailEnd type="none" w="med" len="med"/>
                    </a:lnB>
                  </a:tcPr>
                </a:tc>
                <a:tc>
                  <a:txBody>
                    <a:bodyPr/>
                    <a:lstStyle/>
                    <a:p>
                      <a:pPr marL="0" indent="0" algn="l">
                        <a:buNone/>
                      </a:pPr>
                      <a:r>
                        <a:rPr lang="en-US" sz="950" dirty="0">
                          <a:solidFill>
                            <a:srgbClr val="1E293B"/>
                          </a:solidFill>
                          <a:latin typeface="Calibri" pitchFamily="34" charset="0"/>
                          <a:ea typeface="Calibri" pitchFamily="34" charset="-122"/>
                          <a:cs typeface="Calibri" pitchFamily="34" charset="-120"/>
                        </a:rPr>
                        <a:t>Free tier sufficient for the prototype; abstracts all hardware overhead — local Llama 3 was ruled out due to SME hardware constraints</a:t>
                      </a:r>
                      <a:endParaRPr lang="en-US" sz="950" dirty="0">
                        <a:latin typeface="Calibri" charset="0"/>
                        <a:ea typeface="Calibri" charset="0"/>
                        <a:cs typeface="Calibri" charset="0"/>
                      </a:endParaRPr>
                    </a:p>
                  </a:txBody>
                  <a:tcPr>
                    <a:lnL w="6350" cap="flat" cmpd="sng" algn="ctr">
                      <a:solidFill>
                        <a:srgbClr val="E2E8F0"/>
                      </a:solidFill>
                      <a:prstDash val="solid"/>
                      <a:round/>
                      <a:headEnd type="none" w="med" len="med"/>
                      <a:tailEnd type="none" w="med" len="med"/>
                    </a:lnL>
                    <a:lnR w="6350" cap="flat" cmpd="sng" algn="ctr">
                      <a:solidFill>
                        <a:srgbClr val="E2E8F0"/>
                      </a:solidFill>
                      <a:prstDash val="solid"/>
                      <a:round/>
                      <a:headEnd type="none" w="med" len="med"/>
                      <a:tailEnd type="none" w="med" len="med"/>
                    </a:lnR>
                    <a:lnT w="6350" cap="flat" cmpd="sng" algn="ctr">
                      <a:solidFill>
                        <a:srgbClr val="E2E8F0"/>
                      </a:solidFill>
                      <a:prstDash val="solid"/>
                      <a:round/>
                      <a:headEnd type="none" w="med" len="med"/>
                      <a:tailEnd type="none" w="med" len="med"/>
                    </a:lnT>
                    <a:lnB w="6350" cap="flat" cmpd="sng" algn="ctr">
                      <a:solidFill>
                        <a:srgbClr val="E2E8F0"/>
                      </a:solidFill>
                      <a:prstDash val="solid"/>
                      <a:round/>
                      <a:headEnd type="none" w="med" len="med"/>
                      <a:tailEnd type="none" w="med" len="med"/>
                    </a:lnB>
                  </a:tcPr>
                </a:tc>
                <a:tc>
                  <a:txBody>
                    <a:bodyPr/>
                    <a:lstStyle/>
                    <a:p>
                      <a:pPr marL="0" indent="0" algn="l">
                        <a:buNone/>
                      </a:pPr>
                      <a:r>
                        <a:rPr lang="en-US" sz="950" i="1" dirty="0">
                          <a:solidFill>
                            <a:srgbClr val="EF4444"/>
                          </a:solidFill>
                          <a:latin typeface="Calibri" pitchFamily="34" charset="0"/>
                          <a:ea typeface="Calibri" pitchFamily="34" charset="-122"/>
                          <a:cs typeface="Calibri" pitchFamily="34" charset="-120"/>
                        </a:rPr>
                        <a:t>GPT-4 likely produces stronger summaries; would re-evaluate at scale.</a:t>
                      </a:r>
                      <a:endParaRPr lang="en-US" sz="950" dirty="0">
                        <a:latin typeface="Calibri" charset="0"/>
                        <a:ea typeface="Calibri" charset="0"/>
                        <a:cs typeface="Calibri" charset="0"/>
                      </a:endParaRPr>
                    </a:p>
                  </a:txBody>
                  <a:tcPr>
                    <a:lnL w="6350" cap="flat" cmpd="sng" algn="ctr">
                      <a:solidFill>
                        <a:srgbClr val="E2E8F0"/>
                      </a:solidFill>
                      <a:prstDash val="solid"/>
                      <a:round/>
                      <a:headEnd type="none" w="med" len="med"/>
                      <a:tailEnd type="none" w="med" len="med"/>
                    </a:lnL>
                    <a:lnR w="6350" cap="flat" cmpd="sng" algn="ctr">
                      <a:solidFill>
                        <a:srgbClr val="E2E8F0"/>
                      </a:solidFill>
                      <a:prstDash val="solid"/>
                      <a:round/>
                      <a:headEnd type="none" w="med" len="med"/>
                      <a:tailEnd type="none" w="med" len="med"/>
                    </a:lnR>
                    <a:lnT w="6350" cap="flat" cmpd="sng" algn="ctr">
                      <a:solidFill>
                        <a:srgbClr val="E2E8F0"/>
                      </a:solidFill>
                      <a:prstDash val="solid"/>
                      <a:round/>
                      <a:headEnd type="none" w="med" len="med"/>
                      <a:tailEnd type="none" w="med" len="med"/>
                    </a:lnT>
                    <a:lnB w="6350" cap="flat" cmpd="sng" algn="ctr">
                      <a:solidFill>
                        <a:srgbClr val="E2E8F0"/>
                      </a:solidFill>
                      <a:prstDash val="solid"/>
                      <a:round/>
                      <a:headEnd type="none" w="med" len="med"/>
                      <a:tailEnd type="none" w="med" len="med"/>
                    </a:lnB>
                  </a:tcPr>
                </a:tc>
                <a:extLst>
                  <a:ext uri="{0D108BD9-81ED-4DB2-BD59-A6C34878D82A}">
                    <a16:rowId xmlns:a16="http://schemas.microsoft.com/office/drawing/2014/main" val="10004"/>
                  </a:ext>
                </a:extLst>
              </a:tr>
              <a:tr h="475488">
                <a:tc>
                  <a:txBody>
                    <a:bodyPr/>
                    <a:lstStyle/>
                    <a:p>
                      <a:pPr marL="0" indent="0" algn="l">
                        <a:buNone/>
                      </a:pPr>
                      <a:r>
                        <a:rPr lang="en-US" sz="950" b="1" dirty="0">
                          <a:solidFill>
                            <a:srgbClr val="1E293B"/>
                          </a:solidFill>
                          <a:latin typeface="Calibri" pitchFamily="34" charset="0"/>
                          <a:ea typeface="Calibri" pitchFamily="34" charset="-122"/>
                          <a:cs typeface="Calibri" pitchFamily="34" charset="-120"/>
                        </a:rPr>
                        <a:t>Encryption</a:t>
                      </a:r>
                      <a:endParaRPr lang="en-US" sz="950" dirty="0">
                        <a:latin typeface="Calibri" charset="0"/>
                        <a:ea typeface="Calibri" charset="0"/>
                        <a:cs typeface="Calibri" charset="0"/>
                      </a:endParaRPr>
                    </a:p>
                  </a:txBody>
                  <a:tcPr>
                    <a:lnL w="6350" cap="flat" cmpd="sng" algn="ctr">
                      <a:solidFill>
                        <a:srgbClr val="E2E8F0"/>
                      </a:solidFill>
                      <a:prstDash val="solid"/>
                      <a:round/>
                      <a:headEnd type="none" w="med" len="med"/>
                      <a:tailEnd type="none" w="med" len="med"/>
                    </a:lnL>
                    <a:lnR w="6350" cap="flat" cmpd="sng" algn="ctr">
                      <a:solidFill>
                        <a:srgbClr val="E2E8F0"/>
                      </a:solidFill>
                      <a:prstDash val="solid"/>
                      <a:round/>
                      <a:headEnd type="none" w="med" len="med"/>
                      <a:tailEnd type="none" w="med" len="med"/>
                    </a:lnR>
                    <a:lnT w="6350" cap="flat" cmpd="sng" algn="ctr">
                      <a:solidFill>
                        <a:srgbClr val="E2E8F0"/>
                      </a:solidFill>
                      <a:prstDash val="solid"/>
                      <a:round/>
                      <a:headEnd type="none" w="med" len="med"/>
                      <a:tailEnd type="none" w="med" len="med"/>
                    </a:lnT>
                    <a:lnB w="6350" cap="flat" cmpd="sng" algn="ctr">
                      <a:solidFill>
                        <a:srgbClr val="E2E8F0"/>
                      </a:solidFill>
                      <a:prstDash val="solid"/>
                      <a:round/>
                      <a:headEnd type="none" w="med" len="med"/>
                      <a:tailEnd type="none" w="med" len="med"/>
                    </a:lnB>
                  </a:tcPr>
                </a:tc>
                <a:tc>
                  <a:txBody>
                    <a:bodyPr/>
                    <a:lstStyle/>
                    <a:p>
                      <a:pPr marL="0" indent="0" algn="l">
                        <a:buNone/>
                      </a:pPr>
                      <a:r>
                        <a:rPr lang="en-US" sz="950" b="1" dirty="0">
                          <a:solidFill>
                            <a:srgbClr val="0369A1"/>
                          </a:solidFill>
                          <a:latin typeface="Calibri" pitchFamily="34" charset="0"/>
                          <a:ea typeface="Calibri" pitchFamily="34" charset="-122"/>
                          <a:cs typeface="Calibri" pitchFamily="34" charset="-120"/>
                        </a:rPr>
                        <a:t>Fernet (AES-128)</a:t>
                      </a:r>
                      <a:endParaRPr lang="en-US" sz="950" dirty="0">
                        <a:latin typeface="Calibri" charset="0"/>
                        <a:ea typeface="Calibri" charset="0"/>
                        <a:cs typeface="Calibri" charset="0"/>
                      </a:endParaRPr>
                    </a:p>
                  </a:txBody>
                  <a:tcPr>
                    <a:lnL w="6350" cap="flat" cmpd="sng" algn="ctr">
                      <a:solidFill>
                        <a:srgbClr val="E2E8F0"/>
                      </a:solidFill>
                      <a:prstDash val="solid"/>
                      <a:round/>
                      <a:headEnd type="none" w="med" len="med"/>
                      <a:tailEnd type="none" w="med" len="med"/>
                    </a:lnL>
                    <a:lnR w="6350" cap="flat" cmpd="sng" algn="ctr">
                      <a:solidFill>
                        <a:srgbClr val="E2E8F0"/>
                      </a:solidFill>
                      <a:prstDash val="solid"/>
                      <a:round/>
                      <a:headEnd type="none" w="med" len="med"/>
                      <a:tailEnd type="none" w="med" len="med"/>
                    </a:lnR>
                    <a:lnT w="6350" cap="flat" cmpd="sng" algn="ctr">
                      <a:solidFill>
                        <a:srgbClr val="E2E8F0"/>
                      </a:solidFill>
                      <a:prstDash val="solid"/>
                      <a:round/>
                      <a:headEnd type="none" w="med" len="med"/>
                      <a:tailEnd type="none" w="med" len="med"/>
                    </a:lnT>
                    <a:lnB w="6350" cap="flat" cmpd="sng" algn="ctr">
                      <a:solidFill>
                        <a:srgbClr val="E2E8F0"/>
                      </a:solidFill>
                      <a:prstDash val="solid"/>
                      <a:round/>
                      <a:headEnd type="none" w="med" len="med"/>
                      <a:tailEnd type="none" w="med" len="med"/>
                    </a:lnB>
                  </a:tcPr>
                </a:tc>
                <a:tc>
                  <a:txBody>
                    <a:bodyPr/>
                    <a:lstStyle/>
                    <a:p>
                      <a:pPr marL="0" indent="0" algn="l">
                        <a:buNone/>
                      </a:pPr>
                      <a:r>
                        <a:rPr lang="en-US" sz="950" dirty="0">
                          <a:solidFill>
                            <a:srgbClr val="64748B"/>
                          </a:solidFill>
                          <a:latin typeface="Calibri" pitchFamily="34" charset="0"/>
                          <a:ea typeface="Calibri" pitchFamily="34" charset="-122"/>
                          <a:cs typeface="Calibri" pitchFamily="34" charset="-120"/>
                        </a:rPr>
                        <a:t>bcrypt / no encrypt</a:t>
                      </a:r>
                      <a:endParaRPr lang="en-US" sz="950" dirty="0">
                        <a:latin typeface="Calibri" charset="0"/>
                        <a:ea typeface="Calibri" charset="0"/>
                        <a:cs typeface="Calibri" charset="0"/>
                      </a:endParaRPr>
                    </a:p>
                  </a:txBody>
                  <a:tcPr>
                    <a:lnL w="6350" cap="flat" cmpd="sng" algn="ctr">
                      <a:solidFill>
                        <a:srgbClr val="E2E8F0"/>
                      </a:solidFill>
                      <a:prstDash val="solid"/>
                      <a:round/>
                      <a:headEnd type="none" w="med" len="med"/>
                      <a:tailEnd type="none" w="med" len="med"/>
                    </a:lnL>
                    <a:lnR w="6350" cap="flat" cmpd="sng" algn="ctr">
                      <a:solidFill>
                        <a:srgbClr val="E2E8F0"/>
                      </a:solidFill>
                      <a:prstDash val="solid"/>
                      <a:round/>
                      <a:headEnd type="none" w="med" len="med"/>
                      <a:tailEnd type="none" w="med" len="med"/>
                    </a:lnR>
                    <a:lnT w="6350" cap="flat" cmpd="sng" algn="ctr">
                      <a:solidFill>
                        <a:srgbClr val="E2E8F0"/>
                      </a:solidFill>
                      <a:prstDash val="solid"/>
                      <a:round/>
                      <a:headEnd type="none" w="med" len="med"/>
                      <a:tailEnd type="none" w="med" len="med"/>
                    </a:lnT>
                    <a:lnB w="6350" cap="flat" cmpd="sng" algn="ctr">
                      <a:solidFill>
                        <a:srgbClr val="E2E8F0"/>
                      </a:solidFill>
                      <a:prstDash val="solid"/>
                      <a:round/>
                      <a:headEnd type="none" w="med" len="med"/>
                      <a:tailEnd type="none" w="med" len="med"/>
                    </a:lnB>
                  </a:tcPr>
                </a:tc>
                <a:tc>
                  <a:txBody>
                    <a:bodyPr/>
                    <a:lstStyle/>
                    <a:p>
                      <a:pPr marL="0" indent="0" algn="l">
                        <a:buNone/>
                      </a:pPr>
                      <a:r>
                        <a:rPr lang="en-US" sz="950" dirty="0">
                          <a:solidFill>
                            <a:srgbClr val="1E293B"/>
                          </a:solidFill>
                          <a:latin typeface="Calibri" pitchFamily="34" charset="0"/>
                          <a:ea typeface="Calibri" pitchFamily="34" charset="-122"/>
                          <a:cs typeface="Calibri" pitchFamily="34" charset="-120"/>
                        </a:rPr>
                        <a:t>AES-128 provides authenticated encryption — data cannot be tampered with silently</a:t>
                      </a:r>
                      <a:endParaRPr lang="en-US" sz="950" dirty="0">
                        <a:latin typeface="Calibri" charset="0"/>
                        <a:ea typeface="Calibri" charset="0"/>
                        <a:cs typeface="Calibri" charset="0"/>
                      </a:endParaRPr>
                    </a:p>
                  </a:txBody>
                  <a:tcPr>
                    <a:lnL w="6350" cap="flat" cmpd="sng" algn="ctr">
                      <a:solidFill>
                        <a:srgbClr val="E2E8F0"/>
                      </a:solidFill>
                      <a:prstDash val="solid"/>
                      <a:round/>
                      <a:headEnd type="none" w="med" len="med"/>
                      <a:tailEnd type="none" w="med" len="med"/>
                    </a:lnL>
                    <a:lnR w="6350" cap="flat" cmpd="sng" algn="ctr">
                      <a:solidFill>
                        <a:srgbClr val="E2E8F0"/>
                      </a:solidFill>
                      <a:prstDash val="solid"/>
                      <a:round/>
                      <a:headEnd type="none" w="med" len="med"/>
                      <a:tailEnd type="none" w="med" len="med"/>
                    </a:lnR>
                    <a:lnT w="6350" cap="flat" cmpd="sng" algn="ctr">
                      <a:solidFill>
                        <a:srgbClr val="E2E8F0"/>
                      </a:solidFill>
                      <a:prstDash val="solid"/>
                      <a:round/>
                      <a:headEnd type="none" w="med" len="med"/>
                      <a:tailEnd type="none" w="med" len="med"/>
                    </a:lnT>
                    <a:lnB w="6350" cap="flat" cmpd="sng" algn="ctr">
                      <a:solidFill>
                        <a:srgbClr val="E2E8F0"/>
                      </a:solidFill>
                      <a:prstDash val="solid"/>
                      <a:round/>
                      <a:headEnd type="none" w="med" len="med"/>
                      <a:tailEnd type="none" w="med" len="med"/>
                    </a:lnB>
                  </a:tcPr>
                </a:tc>
                <a:tc>
                  <a:txBody>
                    <a:bodyPr/>
                    <a:lstStyle/>
                    <a:p>
                      <a:pPr marL="0" indent="0" algn="l">
                        <a:buNone/>
                      </a:pPr>
                      <a:r>
                        <a:rPr lang="en-US" sz="950" i="1" dirty="0">
                          <a:solidFill>
                            <a:srgbClr val="EF4444"/>
                          </a:solidFill>
                          <a:latin typeface="Calibri" pitchFamily="34" charset="0"/>
                          <a:ea typeface="Calibri" pitchFamily="34" charset="-122"/>
                          <a:cs typeface="Calibri" pitchFamily="34" charset="-120"/>
                        </a:rPr>
                        <a:t>Symmetric key stored in .env — a HSM or KMS would be needed in production.</a:t>
                      </a:r>
                      <a:endParaRPr lang="en-US" sz="950" dirty="0">
                        <a:latin typeface="Calibri" charset="0"/>
                        <a:ea typeface="Calibri" charset="0"/>
                        <a:cs typeface="Calibri" charset="0"/>
                      </a:endParaRPr>
                    </a:p>
                  </a:txBody>
                  <a:tcPr>
                    <a:lnL w="6350" cap="flat" cmpd="sng" algn="ctr">
                      <a:solidFill>
                        <a:srgbClr val="E2E8F0"/>
                      </a:solidFill>
                      <a:prstDash val="solid"/>
                      <a:round/>
                      <a:headEnd type="none" w="med" len="med"/>
                      <a:tailEnd type="none" w="med" len="med"/>
                    </a:lnL>
                    <a:lnR w="6350" cap="flat" cmpd="sng" algn="ctr">
                      <a:solidFill>
                        <a:srgbClr val="E2E8F0"/>
                      </a:solidFill>
                      <a:prstDash val="solid"/>
                      <a:round/>
                      <a:headEnd type="none" w="med" len="med"/>
                      <a:tailEnd type="none" w="med" len="med"/>
                    </a:lnR>
                    <a:lnT w="6350" cap="flat" cmpd="sng" algn="ctr">
                      <a:solidFill>
                        <a:srgbClr val="E2E8F0"/>
                      </a:solidFill>
                      <a:prstDash val="solid"/>
                      <a:round/>
                      <a:headEnd type="none" w="med" len="med"/>
                      <a:tailEnd type="none" w="med" len="med"/>
                    </a:lnT>
                    <a:lnB w="6350" cap="flat" cmpd="sng" algn="ctr">
                      <a:solidFill>
                        <a:srgbClr val="E2E8F0"/>
                      </a:solidFill>
                      <a:prstDash val="solid"/>
                      <a:round/>
                      <a:headEnd type="none" w="med" len="med"/>
                      <a:tailEnd type="none" w="med" len="med"/>
                    </a:lnB>
                  </a:tcPr>
                </a:tc>
                <a:extLst>
                  <a:ext uri="{0D108BD9-81ED-4DB2-BD59-A6C34878D82A}">
                    <a16:rowId xmlns:a16="http://schemas.microsoft.com/office/drawing/2014/main" val="10005"/>
                  </a:ext>
                </a:extLst>
              </a:tr>
            </a:tbl>
          </a:graphicData>
        </a:graphic>
      </p:graphicFrame>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bg>
      <p:bgPr>
        <a:solidFill>
          <a:srgbClr val="0F172A"/>
        </a:solidFill>
        <a:effectLst/>
      </p:bgPr>
    </p:bg>
    <p:spTree>
      <p:nvGrpSpPr>
        <p:cNvPr id="1" name=""/>
        <p:cNvGrpSpPr/>
        <p:nvPr/>
      </p:nvGrpSpPr>
      <p:grpSpPr>
        <a:xfrm>
          <a:off x="0" y="0"/>
          <a:ext cx="0" cy="0"/>
          <a:chOff x="0" y="0"/>
          <a:chExt cx="0" cy="0"/>
        </a:xfrm>
      </p:grpSpPr>
      <p:sp>
        <p:nvSpPr>
          <p:cNvPr id="2" name="Shape 0"/>
          <p:cNvSpPr/>
          <p:nvPr/>
        </p:nvSpPr>
        <p:spPr>
          <a:xfrm>
            <a:off x="0" y="0"/>
            <a:ext cx="9144000" cy="640080"/>
          </a:xfrm>
          <a:prstGeom prst="rect">
            <a:avLst/>
          </a:prstGeom>
          <a:solidFill>
            <a:srgbClr val="0A1020"/>
          </a:solidFill>
          <a:ln w="12700">
            <a:solidFill>
              <a:srgbClr val="0A1020"/>
            </a:solidFill>
            <a:prstDash val="solid"/>
          </a:ln>
        </p:spPr>
        <p:txBody>
          <a:bodyPr/>
          <a:lstStyle/>
          <a:p>
            <a:endParaRPr lang="en-GB"/>
          </a:p>
        </p:txBody>
      </p:sp>
      <p:sp>
        <p:nvSpPr>
          <p:cNvPr id="3" name="Text 1"/>
          <p:cNvSpPr/>
          <p:nvPr/>
        </p:nvSpPr>
        <p:spPr>
          <a:xfrm>
            <a:off x="365760" y="0"/>
            <a:ext cx="8229600" cy="640080"/>
          </a:xfrm>
          <a:prstGeom prst="rect">
            <a:avLst/>
          </a:prstGeom>
          <a:noFill/>
          <a:ln/>
        </p:spPr>
        <p:txBody>
          <a:bodyPr wrap="square" rtlCol="0" anchor="ctr"/>
          <a:lstStyle/>
          <a:p>
            <a:pPr marL="0" indent="0">
              <a:buNone/>
            </a:pPr>
            <a:r>
              <a:rPr lang="en-US" sz="1100" b="1" kern="0" spc="400" dirty="0">
                <a:solidFill>
                  <a:srgbClr val="06B6D4"/>
                </a:solidFill>
                <a:latin typeface="Calibri" pitchFamily="34" charset="0"/>
                <a:ea typeface="Calibri" pitchFamily="34" charset="-122"/>
                <a:cs typeface="Calibri" pitchFamily="34" charset="-120"/>
              </a:rPr>
              <a:t>ENGINEERING CHALLENGES</a:t>
            </a:r>
            <a:endParaRPr lang="en-US" sz="1100" dirty="0"/>
          </a:p>
        </p:txBody>
      </p:sp>
      <p:sp>
        <p:nvSpPr>
          <p:cNvPr id="4" name="Text 2"/>
          <p:cNvSpPr/>
          <p:nvPr/>
        </p:nvSpPr>
        <p:spPr>
          <a:xfrm>
            <a:off x="8412480" y="0"/>
            <a:ext cx="548640" cy="640080"/>
          </a:xfrm>
          <a:prstGeom prst="rect">
            <a:avLst/>
          </a:prstGeom>
          <a:noFill/>
          <a:ln/>
        </p:spPr>
        <p:txBody>
          <a:bodyPr wrap="square" rtlCol="0" anchor="ctr"/>
          <a:lstStyle/>
          <a:p>
            <a:pPr marL="0" indent="0" algn="r">
              <a:buNone/>
            </a:pPr>
            <a:r>
              <a:rPr lang="en-US" sz="1000" dirty="0">
                <a:solidFill>
                  <a:srgbClr val="64748B"/>
                </a:solidFill>
                <a:latin typeface="Calibri" pitchFamily="34" charset="0"/>
                <a:ea typeface="Calibri" pitchFamily="34" charset="-122"/>
                <a:cs typeface="Calibri" pitchFamily="34" charset="-120"/>
              </a:rPr>
              <a:t>06</a:t>
            </a:r>
            <a:endParaRPr lang="en-US" sz="1000" dirty="0"/>
          </a:p>
        </p:txBody>
      </p:sp>
      <p:sp>
        <p:nvSpPr>
          <p:cNvPr id="5" name="Text 3"/>
          <p:cNvSpPr/>
          <p:nvPr/>
        </p:nvSpPr>
        <p:spPr>
          <a:xfrm>
            <a:off x="365760" y="749808"/>
            <a:ext cx="8229600" cy="502920"/>
          </a:xfrm>
          <a:prstGeom prst="rect">
            <a:avLst/>
          </a:prstGeom>
          <a:noFill/>
          <a:ln/>
        </p:spPr>
        <p:txBody>
          <a:bodyPr wrap="square" lIns="0" tIns="0" rIns="0" bIns="0" rtlCol="0" anchor="ctr"/>
          <a:lstStyle/>
          <a:p>
            <a:pPr marL="0" indent="0">
              <a:buNone/>
            </a:pPr>
            <a:r>
              <a:rPr lang="en-US" sz="2700" b="1" dirty="0">
                <a:solidFill>
                  <a:srgbClr val="FFFFFF"/>
                </a:solidFill>
                <a:latin typeface="Arial Black" pitchFamily="34" charset="0"/>
                <a:ea typeface="Arial Black" pitchFamily="34" charset="-122"/>
                <a:cs typeface="Arial Black" pitchFamily="34" charset="-120"/>
              </a:rPr>
              <a:t>Problems I Discovered &amp; How I Solved Them</a:t>
            </a:r>
            <a:endParaRPr lang="en-US" sz="2700" dirty="0"/>
          </a:p>
        </p:txBody>
      </p:sp>
      <p:sp>
        <p:nvSpPr>
          <p:cNvPr id="6" name="Shape 4"/>
          <p:cNvSpPr/>
          <p:nvPr/>
        </p:nvSpPr>
        <p:spPr>
          <a:xfrm>
            <a:off x="320040" y="1417320"/>
            <a:ext cx="4023360" cy="3429000"/>
          </a:xfrm>
          <a:prstGeom prst="rect">
            <a:avLst/>
          </a:prstGeom>
          <a:solidFill>
            <a:srgbClr val="1E293B"/>
          </a:solidFill>
          <a:ln w="12700">
            <a:solidFill>
              <a:srgbClr val="334155"/>
            </a:solidFill>
            <a:prstDash val="solid"/>
          </a:ln>
          <a:effectLst>
            <a:outerShdw blurRad="101600" dist="38100" dir="8100000" algn="bl" rotWithShape="0">
              <a:srgbClr val="000000">
                <a:alpha val="8000"/>
              </a:srgbClr>
            </a:outerShdw>
          </a:effectLst>
        </p:spPr>
        <p:txBody>
          <a:bodyPr/>
          <a:lstStyle/>
          <a:p>
            <a:endParaRPr lang="en-GB"/>
          </a:p>
        </p:txBody>
      </p:sp>
      <p:sp>
        <p:nvSpPr>
          <p:cNvPr id="7" name="Shape 5"/>
          <p:cNvSpPr/>
          <p:nvPr/>
        </p:nvSpPr>
        <p:spPr>
          <a:xfrm>
            <a:off x="320040" y="1417320"/>
            <a:ext cx="4023360" cy="54864"/>
          </a:xfrm>
          <a:prstGeom prst="rect">
            <a:avLst/>
          </a:prstGeom>
          <a:solidFill>
            <a:srgbClr val="06B6D4"/>
          </a:solidFill>
          <a:ln w="12700">
            <a:solidFill>
              <a:srgbClr val="06B6D4"/>
            </a:solidFill>
            <a:prstDash val="solid"/>
          </a:ln>
        </p:spPr>
        <p:txBody>
          <a:bodyPr/>
          <a:lstStyle/>
          <a:p>
            <a:endParaRPr lang="en-GB"/>
          </a:p>
        </p:txBody>
      </p:sp>
      <p:pic>
        <p:nvPicPr>
          <p:cNvPr id="8" name="Image 0" descr="preencoded.png"/>
          <p:cNvPicPr>
            <a:picLocks noChangeAspect="1"/>
          </p:cNvPicPr>
          <p:nvPr/>
        </p:nvPicPr>
        <p:blipFill>
          <a:blip r:embed="rId3"/>
          <a:stretch>
            <a:fillRect/>
          </a:stretch>
        </p:blipFill>
        <p:spPr>
          <a:xfrm>
            <a:off x="502920" y="1554480"/>
            <a:ext cx="411480" cy="411480"/>
          </a:xfrm>
          <a:prstGeom prst="rect">
            <a:avLst/>
          </a:prstGeom>
        </p:spPr>
      </p:pic>
      <p:sp>
        <p:nvSpPr>
          <p:cNvPr id="9" name="Text 6"/>
          <p:cNvSpPr/>
          <p:nvPr/>
        </p:nvSpPr>
        <p:spPr>
          <a:xfrm>
            <a:off x="1005840" y="1554480"/>
            <a:ext cx="3200400" cy="457200"/>
          </a:xfrm>
          <a:prstGeom prst="rect">
            <a:avLst/>
          </a:prstGeom>
          <a:noFill/>
          <a:ln/>
        </p:spPr>
        <p:txBody>
          <a:bodyPr wrap="square" lIns="0" tIns="0" rIns="0" bIns="0" rtlCol="0" anchor="ctr"/>
          <a:lstStyle/>
          <a:p>
            <a:pPr marL="0" indent="0">
              <a:buNone/>
            </a:pPr>
            <a:r>
              <a:rPr lang="en-US" sz="1200" b="1" dirty="0">
                <a:solidFill>
                  <a:srgbClr val="FFFFFF"/>
                </a:solidFill>
                <a:latin typeface="Calibri" pitchFamily="34" charset="0"/>
                <a:ea typeface="Calibri" pitchFamily="34" charset="-122"/>
                <a:cs typeface="Calibri" pitchFamily="34" charset="-120"/>
              </a:rPr>
              <a:t>Challenge 1: Firebase Read Quota Exhaustion</a:t>
            </a:r>
            <a:endParaRPr lang="en-US" sz="1200" dirty="0"/>
          </a:p>
        </p:txBody>
      </p:sp>
      <p:sp>
        <p:nvSpPr>
          <p:cNvPr id="10" name="Text 7"/>
          <p:cNvSpPr/>
          <p:nvPr/>
        </p:nvSpPr>
        <p:spPr>
          <a:xfrm>
            <a:off x="502920" y="2148840"/>
            <a:ext cx="3657600" cy="2514600"/>
          </a:xfrm>
          <a:prstGeom prst="rect">
            <a:avLst/>
          </a:prstGeom>
          <a:noFill/>
          <a:ln/>
        </p:spPr>
        <p:txBody>
          <a:bodyPr wrap="square" lIns="0" tIns="0" rIns="0" bIns="0" rtlCol="0" anchor="ctr"/>
          <a:lstStyle/>
          <a:p>
            <a:pPr marL="0" indent="0">
              <a:buNone/>
            </a:pPr>
            <a:r>
              <a:rPr lang="en-US" sz="1050" b="1" dirty="0">
                <a:solidFill>
                  <a:srgbClr val="06B6D4"/>
                </a:solidFill>
                <a:latin typeface="Calibri" pitchFamily="34" charset="0"/>
                <a:ea typeface="Calibri" pitchFamily="34" charset="-122"/>
                <a:cs typeface="Calibri" pitchFamily="34" charset="-120"/>
              </a:rPr>
              <a:t>Problem: </a:t>
            </a:r>
            <a:r>
              <a:rPr lang="en-US" sz="1050" dirty="0">
                <a:solidFill>
                  <a:srgbClr val="94A3B8"/>
                </a:solidFill>
                <a:latin typeface="Calibri" pitchFamily="34" charset="0"/>
                <a:ea typeface="Calibri" pitchFamily="34" charset="-122"/>
                <a:cs typeface="Calibri" pitchFamily="34" charset="-120"/>
              </a:rPr>
              <a:t>With real-time data, every page load and polling refresh was hitting Firestore directly. The free-tier quota (50,000 reads/day) was exhausted within hours during testing.
</a:t>
            </a:r>
            <a:r>
              <a:rPr lang="en-US" sz="1050" b="1" dirty="0">
                <a:solidFill>
                  <a:srgbClr val="FFFFFF"/>
                </a:solidFill>
                <a:latin typeface="Calibri" pitchFamily="34" charset="0"/>
                <a:ea typeface="Calibri" pitchFamily="34" charset="-122"/>
                <a:cs typeface="Calibri" pitchFamily="34" charset="-120"/>
              </a:rPr>
              <a:t>Solution: PyCache (0-Read Mode)
</a:t>
            </a:r>
            <a:r>
              <a:rPr lang="en-US" sz="1050" dirty="0">
                <a:solidFill>
                  <a:srgbClr val="94A3B8"/>
                </a:solidFill>
                <a:latin typeface="Calibri" pitchFamily="34" charset="0"/>
                <a:ea typeface="Calibri" pitchFamily="34" charset="-122"/>
                <a:cs typeface="Calibri" pitchFamily="34" charset="-120"/>
              </a:rPr>
              <a:t>Replaced all GET queries with a Python in-memory RAM cache (GLOBAL_INCIDENTS_CACHE). A single Firestore on_snapshot listener keeps the cache updated in real-time. The React frontend now reads from Python RAM — zero Firestore reads per request.
</a:t>
            </a:r>
            <a:r>
              <a:rPr lang="en-US" sz="1050" b="1" dirty="0">
                <a:solidFill>
                  <a:srgbClr val="10B981"/>
                </a:solidFill>
                <a:latin typeface="Calibri" pitchFamily="34" charset="0"/>
                <a:ea typeface="Calibri" pitchFamily="34" charset="-122"/>
                <a:cs typeface="Calibri" pitchFamily="34" charset="-120"/>
              </a:rPr>
              <a:t>Result: </a:t>
            </a:r>
            <a:r>
              <a:rPr lang="en-US" sz="1050" dirty="0">
                <a:solidFill>
                  <a:srgbClr val="94A3B8"/>
                </a:solidFill>
                <a:latin typeface="Calibri" pitchFamily="34" charset="0"/>
                <a:ea typeface="Calibri" pitchFamily="34" charset="-122"/>
                <a:cs typeface="Calibri" pitchFamily="34" charset="-120"/>
              </a:rPr>
              <a:t>Free-tier quota: ~50,000 reads/day → effectively 0. Latency also improved significantly.</a:t>
            </a:r>
            <a:endParaRPr lang="en-US" sz="1050" dirty="0"/>
          </a:p>
        </p:txBody>
      </p:sp>
      <p:sp>
        <p:nvSpPr>
          <p:cNvPr id="11" name="Shape 8"/>
          <p:cNvSpPr/>
          <p:nvPr/>
        </p:nvSpPr>
        <p:spPr>
          <a:xfrm>
            <a:off x="4800600" y="1417320"/>
            <a:ext cx="4023360" cy="3429000"/>
          </a:xfrm>
          <a:prstGeom prst="rect">
            <a:avLst/>
          </a:prstGeom>
          <a:solidFill>
            <a:srgbClr val="1E293B"/>
          </a:solidFill>
          <a:ln w="12700">
            <a:solidFill>
              <a:srgbClr val="334155"/>
            </a:solidFill>
            <a:prstDash val="solid"/>
          </a:ln>
          <a:effectLst>
            <a:outerShdw blurRad="101600" dist="38100" dir="8100000" algn="bl" rotWithShape="0">
              <a:srgbClr val="000000">
                <a:alpha val="8000"/>
              </a:srgbClr>
            </a:outerShdw>
          </a:effectLst>
        </p:spPr>
        <p:txBody>
          <a:bodyPr/>
          <a:lstStyle/>
          <a:p>
            <a:endParaRPr lang="en-GB"/>
          </a:p>
        </p:txBody>
      </p:sp>
      <p:sp>
        <p:nvSpPr>
          <p:cNvPr id="12" name="Shape 9"/>
          <p:cNvSpPr/>
          <p:nvPr/>
        </p:nvSpPr>
        <p:spPr>
          <a:xfrm>
            <a:off x="4800600" y="1417320"/>
            <a:ext cx="4023360" cy="54864"/>
          </a:xfrm>
          <a:prstGeom prst="rect">
            <a:avLst/>
          </a:prstGeom>
          <a:solidFill>
            <a:srgbClr val="6366F1"/>
          </a:solidFill>
          <a:ln w="12700">
            <a:solidFill>
              <a:srgbClr val="6366F1"/>
            </a:solidFill>
            <a:prstDash val="solid"/>
          </a:ln>
        </p:spPr>
        <p:txBody>
          <a:bodyPr/>
          <a:lstStyle/>
          <a:p>
            <a:endParaRPr lang="en-GB"/>
          </a:p>
        </p:txBody>
      </p:sp>
      <p:pic>
        <p:nvPicPr>
          <p:cNvPr id="13" name="Image 1" descr="preencoded.png"/>
          <p:cNvPicPr>
            <a:picLocks noChangeAspect="1"/>
          </p:cNvPicPr>
          <p:nvPr/>
        </p:nvPicPr>
        <p:blipFill>
          <a:blip r:embed="rId4"/>
          <a:stretch>
            <a:fillRect/>
          </a:stretch>
        </p:blipFill>
        <p:spPr>
          <a:xfrm>
            <a:off x="4983480" y="1554480"/>
            <a:ext cx="411480" cy="411480"/>
          </a:xfrm>
          <a:prstGeom prst="rect">
            <a:avLst/>
          </a:prstGeom>
        </p:spPr>
      </p:pic>
      <p:sp>
        <p:nvSpPr>
          <p:cNvPr id="14" name="Text 10"/>
          <p:cNvSpPr/>
          <p:nvPr/>
        </p:nvSpPr>
        <p:spPr>
          <a:xfrm>
            <a:off x="5486400" y="1554480"/>
            <a:ext cx="3200400" cy="457200"/>
          </a:xfrm>
          <a:prstGeom prst="rect">
            <a:avLst/>
          </a:prstGeom>
          <a:noFill/>
          <a:ln/>
        </p:spPr>
        <p:txBody>
          <a:bodyPr wrap="square" lIns="0" tIns="0" rIns="0" bIns="0" rtlCol="0" anchor="ctr"/>
          <a:lstStyle/>
          <a:p>
            <a:pPr marL="0" indent="0">
              <a:buNone/>
            </a:pPr>
            <a:r>
              <a:rPr lang="en-US" sz="1200" b="1" dirty="0">
                <a:solidFill>
                  <a:srgbClr val="FFFFFF"/>
                </a:solidFill>
                <a:latin typeface="Calibri" pitchFamily="34" charset="0"/>
                <a:ea typeface="Calibri" pitchFamily="34" charset="-122"/>
                <a:cs typeface="Calibri" pitchFamily="34" charset="-120"/>
              </a:rPr>
              <a:t>Challenge 2: AI API Rate Limiting &amp; Batching</a:t>
            </a:r>
            <a:endParaRPr lang="en-US" sz="1200" dirty="0"/>
          </a:p>
        </p:txBody>
      </p:sp>
      <p:sp>
        <p:nvSpPr>
          <p:cNvPr id="15" name="Text 11"/>
          <p:cNvSpPr/>
          <p:nvPr/>
        </p:nvSpPr>
        <p:spPr>
          <a:xfrm>
            <a:off x="4983480" y="2148840"/>
            <a:ext cx="3657600" cy="2514600"/>
          </a:xfrm>
          <a:prstGeom prst="rect">
            <a:avLst/>
          </a:prstGeom>
          <a:noFill/>
          <a:ln/>
        </p:spPr>
        <p:txBody>
          <a:bodyPr wrap="square" lIns="0" tIns="0" rIns="0" bIns="0" rtlCol="0" anchor="ctr"/>
          <a:lstStyle/>
          <a:p>
            <a:pPr marL="0" indent="0">
              <a:buNone/>
            </a:pPr>
            <a:r>
              <a:rPr lang="en-US" sz="1050" b="1" dirty="0">
                <a:solidFill>
                  <a:srgbClr val="6366F1"/>
                </a:solidFill>
                <a:latin typeface="Calibri" pitchFamily="34" charset="0"/>
                <a:ea typeface="Calibri" pitchFamily="34" charset="-122"/>
                <a:cs typeface="Calibri" pitchFamily="34" charset="-120"/>
              </a:rPr>
              <a:t>Problem: </a:t>
            </a:r>
            <a:r>
              <a:rPr lang="en-US" sz="1050" dirty="0">
                <a:solidFill>
                  <a:srgbClr val="94A3B8"/>
                </a:solidFill>
                <a:latin typeface="Calibri" pitchFamily="34" charset="0"/>
                <a:ea typeface="Calibri" pitchFamily="34" charset="-122"/>
                <a:cs typeface="Calibri" pitchFamily="34" charset="-120"/>
              </a:rPr>
              <a:t>Calling Gemini once per log line was unsustainable — it hammered the API rate limit (HTTP 429) and cost too much. A 500-event burst fired 500 individual API calls, crashing the system.
</a:t>
            </a:r>
            <a:r>
              <a:rPr lang="en-US" sz="1050" b="1" dirty="0">
                <a:solidFill>
                  <a:srgbClr val="FFFFFF"/>
                </a:solidFill>
                <a:latin typeface="Calibri" pitchFamily="34" charset="0"/>
                <a:ea typeface="Calibri" pitchFamily="34" charset="-122"/>
                <a:cs typeface="Calibri" pitchFamily="34" charset="-120"/>
              </a:rPr>
              <a:t>Solution: UUID Batch Queue
</a:t>
            </a:r>
            <a:r>
              <a:rPr lang="en-US" sz="1050" dirty="0">
                <a:solidFill>
                  <a:srgbClr val="94A3B8"/>
                </a:solidFill>
                <a:latin typeface="Calibri" pitchFamily="34" charset="0"/>
                <a:ea typeface="Calibri" pitchFamily="34" charset="-122"/>
                <a:cs typeface="Calibri" pitchFamily="34" charset="-120"/>
              </a:rPr>
              <a:t>Logs buffer in-memory up to a cap of 50 lines per batch. A single Gemini call analyses the entire batch, returning a structured JSON object keyed by UUID, then un-mapped to individual incidents. A 60-second delay between calls prevents RPM exhaustion.
</a:t>
            </a:r>
            <a:r>
              <a:rPr lang="en-US" sz="1050" b="1" dirty="0">
                <a:solidFill>
                  <a:srgbClr val="10B981"/>
                </a:solidFill>
                <a:latin typeface="Calibri" pitchFamily="34" charset="0"/>
                <a:ea typeface="Calibri" pitchFamily="34" charset="-122"/>
                <a:cs typeface="Calibri" pitchFamily="34" charset="-120"/>
              </a:rPr>
              <a:t>Result: </a:t>
            </a:r>
            <a:r>
              <a:rPr lang="en-US" sz="1050" dirty="0">
                <a:solidFill>
                  <a:srgbClr val="94A3B8"/>
                </a:solidFill>
                <a:latin typeface="Calibri" pitchFamily="34" charset="0"/>
                <a:ea typeface="Calibri" pitchFamily="34" charset="-122"/>
                <a:cs typeface="Calibri" pitchFamily="34" charset="-120"/>
              </a:rPr>
              <a:t>API calls: N → ~1 per batch. Zero rejected requests. 100% data retention confirmed in stress testing.</a:t>
            </a:r>
            <a:endParaRPr lang="en-US" sz="1050" dirty="0"/>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bg>
      <p:bgPr>
        <a:solidFill>
          <a:srgbClr val="F1F5F9"/>
        </a:solidFill>
        <a:effectLst/>
      </p:bgPr>
    </p:bg>
    <p:spTree>
      <p:nvGrpSpPr>
        <p:cNvPr id="1" name=""/>
        <p:cNvGrpSpPr/>
        <p:nvPr/>
      </p:nvGrpSpPr>
      <p:grpSpPr>
        <a:xfrm>
          <a:off x="0" y="0"/>
          <a:ext cx="0" cy="0"/>
          <a:chOff x="0" y="0"/>
          <a:chExt cx="0" cy="0"/>
        </a:xfrm>
      </p:grpSpPr>
      <p:sp>
        <p:nvSpPr>
          <p:cNvPr id="2" name="Shape 0"/>
          <p:cNvSpPr/>
          <p:nvPr/>
        </p:nvSpPr>
        <p:spPr>
          <a:xfrm>
            <a:off x="0" y="0"/>
            <a:ext cx="9144000" cy="640080"/>
          </a:xfrm>
          <a:prstGeom prst="rect">
            <a:avLst/>
          </a:prstGeom>
          <a:solidFill>
            <a:srgbClr val="0F172A"/>
          </a:solidFill>
          <a:ln w="12700">
            <a:solidFill>
              <a:srgbClr val="0F172A"/>
            </a:solidFill>
            <a:prstDash val="solid"/>
          </a:ln>
        </p:spPr>
        <p:txBody>
          <a:bodyPr/>
          <a:lstStyle/>
          <a:p>
            <a:endParaRPr lang="en-GB"/>
          </a:p>
        </p:txBody>
      </p:sp>
      <p:sp>
        <p:nvSpPr>
          <p:cNvPr id="3" name="Text 1"/>
          <p:cNvSpPr/>
          <p:nvPr/>
        </p:nvSpPr>
        <p:spPr>
          <a:xfrm>
            <a:off x="365760" y="0"/>
            <a:ext cx="8229600" cy="640080"/>
          </a:xfrm>
          <a:prstGeom prst="rect">
            <a:avLst/>
          </a:prstGeom>
          <a:noFill/>
          <a:ln/>
        </p:spPr>
        <p:txBody>
          <a:bodyPr wrap="square" rtlCol="0" anchor="ctr"/>
          <a:lstStyle/>
          <a:p>
            <a:pPr marL="0" indent="0">
              <a:buNone/>
            </a:pPr>
            <a:r>
              <a:rPr lang="en-US" sz="1100" b="1" kern="0" spc="400" dirty="0">
                <a:solidFill>
                  <a:srgbClr val="06B6D4"/>
                </a:solidFill>
                <a:latin typeface="Calibri" pitchFamily="34" charset="0"/>
                <a:ea typeface="Calibri" pitchFamily="34" charset="-122"/>
                <a:cs typeface="Calibri" pitchFamily="34" charset="-120"/>
              </a:rPr>
              <a:t>CRITICAL EVALUATION</a:t>
            </a:r>
            <a:endParaRPr lang="en-US" sz="1100" dirty="0"/>
          </a:p>
        </p:txBody>
      </p:sp>
      <p:sp>
        <p:nvSpPr>
          <p:cNvPr id="4" name="Text 2"/>
          <p:cNvSpPr/>
          <p:nvPr/>
        </p:nvSpPr>
        <p:spPr>
          <a:xfrm>
            <a:off x="8412480" y="0"/>
            <a:ext cx="548640" cy="640080"/>
          </a:xfrm>
          <a:prstGeom prst="rect">
            <a:avLst/>
          </a:prstGeom>
          <a:noFill/>
          <a:ln/>
        </p:spPr>
        <p:txBody>
          <a:bodyPr wrap="square" rtlCol="0" anchor="ctr"/>
          <a:lstStyle/>
          <a:p>
            <a:pPr marL="0" indent="0" algn="r">
              <a:buNone/>
            </a:pPr>
            <a:r>
              <a:rPr lang="en-US" sz="1000" dirty="0">
                <a:solidFill>
                  <a:srgbClr val="64748B"/>
                </a:solidFill>
                <a:latin typeface="Calibri" pitchFamily="34" charset="0"/>
                <a:ea typeface="Calibri" pitchFamily="34" charset="-122"/>
                <a:cs typeface="Calibri" pitchFamily="34" charset="-120"/>
              </a:rPr>
              <a:t>07</a:t>
            </a:r>
            <a:endParaRPr lang="en-US" sz="1000" dirty="0"/>
          </a:p>
        </p:txBody>
      </p:sp>
      <p:sp>
        <p:nvSpPr>
          <p:cNvPr id="5" name="Text 3"/>
          <p:cNvSpPr/>
          <p:nvPr/>
        </p:nvSpPr>
        <p:spPr>
          <a:xfrm>
            <a:off x="365760" y="731520"/>
            <a:ext cx="8229600" cy="457200"/>
          </a:xfrm>
          <a:prstGeom prst="rect">
            <a:avLst/>
          </a:prstGeom>
          <a:noFill/>
          <a:ln/>
        </p:spPr>
        <p:txBody>
          <a:bodyPr wrap="square" lIns="0" tIns="0" rIns="0" bIns="0" rtlCol="0" anchor="ctr"/>
          <a:lstStyle/>
          <a:p>
            <a:pPr marL="0" indent="0">
              <a:buNone/>
            </a:pPr>
            <a:r>
              <a:rPr lang="en-US" sz="2600" b="1" dirty="0">
                <a:solidFill>
                  <a:srgbClr val="1E293B"/>
                </a:solidFill>
                <a:latin typeface="Arial Black" pitchFamily="34" charset="0"/>
                <a:ea typeface="Arial Black" pitchFamily="34" charset="-122"/>
                <a:cs typeface="Arial Black" pitchFamily="34" charset="-120"/>
              </a:rPr>
              <a:t>What I Built vs. What I'd Do Next</a:t>
            </a:r>
            <a:endParaRPr lang="en-US" sz="2600" dirty="0"/>
          </a:p>
        </p:txBody>
      </p:sp>
      <p:sp>
        <p:nvSpPr>
          <p:cNvPr id="6" name="Shape 4"/>
          <p:cNvSpPr/>
          <p:nvPr/>
        </p:nvSpPr>
        <p:spPr>
          <a:xfrm>
            <a:off x="320040" y="1325880"/>
            <a:ext cx="4023360" cy="384048"/>
          </a:xfrm>
          <a:prstGeom prst="rect">
            <a:avLst/>
          </a:prstGeom>
          <a:solidFill>
            <a:srgbClr val="EF4444"/>
          </a:solidFill>
          <a:ln w="12700">
            <a:solidFill>
              <a:srgbClr val="EF4444"/>
            </a:solidFill>
            <a:prstDash val="solid"/>
          </a:ln>
        </p:spPr>
        <p:txBody>
          <a:bodyPr/>
          <a:lstStyle/>
          <a:p>
            <a:endParaRPr lang="en-GB"/>
          </a:p>
        </p:txBody>
      </p:sp>
      <p:sp>
        <p:nvSpPr>
          <p:cNvPr id="7" name="Text 5"/>
          <p:cNvSpPr/>
          <p:nvPr/>
        </p:nvSpPr>
        <p:spPr>
          <a:xfrm>
            <a:off x="320040" y="1325880"/>
            <a:ext cx="4023360" cy="384048"/>
          </a:xfrm>
          <a:prstGeom prst="rect">
            <a:avLst/>
          </a:prstGeom>
          <a:noFill/>
          <a:ln/>
        </p:spPr>
        <p:txBody>
          <a:bodyPr wrap="square" rtlCol="0" anchor="ctr"/>
          <a:lstStyle/>
          <a:p>
            <a:pPr marL="0" indent="0" algn="ctr">
              <a:buNone/>
            </a:pPr>
            <a:r>
              <a:rPr lang="en-US" sz="1200" b="1" dirty="0">
                <a:solidFill>
                  <a:srgbClr val="FFFFFF"/>
                </a:solidFill>
                <a:latin typeface="Calibri" pitchFamily="34" charset="0"/>
                <a:ea typeface="Calibri" pitchFamily="34" charset="-122"/>
                <a:cs typeface="Calibri" pitchFamily="34" charset="-120"/>
              </a:rPr>
              <a:t>⚠  Current Limitations</a:t>
            </a:r>
            <a:endParaRPr lang="en-US" sz="1200" dirty="0"/>
          </a:p>
        </p:txBody>
      </p:sp>
      <p:sp>
        <p:nvSpPr>
          <p:cNvPr id="8" name="Shape 6"/>
          <p:cNvSpPr/>
          <p:nvPr/>
        </p:nvSpPr>
        <p:spPr>
          <a:xfrm>
            <a:off x="320040" y="1801368"/>
            <a:ext cx="4023360" cy="914400"/>
          </a:xfrm>
          <a:prstGeom prst="rect">
            <a:avLst/>
          </a:prstGeom>
          <a:solidFill>
            <a:srgbClr val="FFFFFF"/>
          </a:solidFill>
          <a:ln w="12700">
            <a:solidFill>
              <a:srgbClr val="FECACA"/>
            </a:solidFill>
            <a:prstDash val="solid"/>
          </a:ln>
          <a:effectLst>
            <a:outerShdw blurRad="101600" dist="38100" dir="8100000" algn="bl" rotWithShape="0">
              <a:srgbClr val="000000">
                <a:alpha val="8000"/>
              </a:srgbClr>
            </a:outerShdw>
          </a:effectLst>
        </p:spPr>
        <p:txBody>
          <a:bodyPr/>
          <a:lstStyle/>
          <a:p>
            <a:endParaRPr lang="en-GB"/>
          </a:p>
        </p:txBody>
      </p:sp>
      <p:sp>
        <p:nvSpPr>
          <p:cNvPr id="9" name="Shape 7"/>
          <p:cNvSpPr/>
          <p:nvPr/>
        </p:nvSpPr>
        <p:spPr>
          <a:xfrm>
            <a:off x="320040" y="1801368"/>
            <a:ext cx="54864" cy="914400"/>
          </a:xfrm>
          <a:prstGeom prst="rect">
            <a:avLst/>
          </a:prstGeom>
          <a:solidFill>
            <a:srgbClr val="EF4444"/>
          </a:solidFill>
          <a:ln w="12700">
            <a:solidFill>
              <a:srgbClr val="EF4444"/>
            </a:solidFill>
            <a:prstDash val="solid"/>
          </a:ln>
        </p:spPr>
        <p:txBody>
          <a:bodyPr/>
          <a:lstStyle/>
          <a:p>
            <a:endParaRPr lang="en-GB"/>
          </a:p>
        </p:txBody>
      </p:sp>
      <p:sp>
        <p:nvSpPr>
          <p:cNvPr id="10" name="Text 8"/>
          <p:cNvSpPr/>
          <p:nvPr/>
        </p:nvSpPr>
        <p:spPr>
          <a:xfrm>
            <a:off x="502920" y="1847088"/>
            <a:ext cx="3657600" cy="274320"/>
          </a:xfrm>
          <a:prstGeom prst="rect">
            <a:avLst/>
          </a:prstGeom>
          <a:noFill/>
          <a:ln/>
        </p:spPr>
        <p:txBody>
          <a:bodyPr wrap="square" lIns="0" tIns="0" rIns="0" bIns="0" rtlCol="0" anchor="ctr"/>
          <a:lstStyle/>
          <a:p>
            <a:pPr marL="0" indent="0">
              <a:buNone/>
            </a:pPr>
            <a:r>
              <a:rPr lang="en-US" sz="1100" b="1" dirty="0">
                <a:solidFill>
                  <a:srgbClr val="1E293B"/>
                </a:solidFill>
                <a:latin typeface="Calibri" pitchFamily="34" charset="0"/>
                <a:ea typeface="Calibri" pitchFamily="34" charset="-122"/>
                <a:cs typeface="Calibri" pitchFamily="34" charset="-120"/>
              </a:rPr>
              <a:t>Security: Firebase Key Exposure</a:t>
            </a:r>
            <a:endParaRPr lang="en-US" sz="1100" dirty="0"/>
          </a:p>
        </p:txBody>
      </p:sp>
      <p:sp>
        <p:nvSpPr>
          <p:cNvPr id="11" name="Text 9"/>
          <p:cNvSpPr/>
          <p:nvPr/>
        </p:nvSpPr>
        <p:spPr>
          <a:xfrm>
            <a:off x="502920" y="2148840"/>
            <a:ext cx="3657600" cy="502920"/>
          </a:xfrm>
          <a:prstGeom prst="rect">
            <a:avLst/>
          </a:prstGeom>
          <a:noFill/>
          <a:ln/>
        </p:spPr>
        <p:txBody>
          <a:bodyPr wrap="square" lIns="0" tIns="0" rIns="0" bIns="0" rtlCol="0" anchor="ctr"/>
          <a:lstStyle/>
          <a:p>
            <a:pPr marL="0" indent="0">
              <a:buNone/>
            </a:pPr>
            <a:r>
              <a:rPr lang="en-US" sz="950" dirty="0">
                <a:solidFill>
                  <a:srgbClr val="64748B"/>
                </a:solidFill>
                <a:latin typeface="Calibri" pitchFamily="34" charset="0"/>
                <a:ea typeface="Calibri" pitchFamily="34" charset="-122"/>
                <a:cs typeface="Calibri" pitchFamily="34" charset="-120"/>
              </a:rPr>
              <a:t>Network inspection during integration testing revealed the Firebase VITE_API_KEY is inadvertently exposed in frontend authentication headers. Would need a secure backend proxy in production.</a:t>
            </a:r>
            <a:endParaRPr lang="en-US" sz="950" dirty="0"/>
          </a:p>
        </p:txBody>
      </p:sp>
      <p:sp>
        <p:nvSpPr>
          <p:cNvPr id="12" name="Shape 10"/>
          <p:cNvSpPr/>
          <p:nvPr/>
        </p:nvSpPr>
        <p:spPr>
          <a:xfrm>
            <a:off x="320040" y="2807208"/>
            <a:ext cx="4023360" cy="914400"/>
          </a:xfrm>
          <a:prstGeom prst="rect">
            <a:avLst/>
          </a:prstGeom>
          <a:solidFill>
            <a:srgbClr val="FFFFFF"/>
          </a:solidFill>
          <a:ln w="12700">
            <a:solidFill>
              <a:srgbClr val="FECACA"/>
            </a:solidFill>
            <a:prstDash val="solid"/>
          </a:ln>
          <a:effectLst>
            <a:outerShdw blurRad="101600" dist="38100" dir="8100000" algn="bl" rotWithShape="0">
              <a:srgbClr val="000000">
                <a:alpha val="8000"/>
              </a:srgbClr>
            </a:outerShdw>
          </a:effectLst>
        </p:spPr>
        <p:txBody>
          <a:bodyPr/>
          <a:lstStyle/>
          <a:p>
            <a:endParaRPr lang="en-GB"/>
          </a:p>
        </p:txBody>
      </p:sp>
      <p:sp>
        <p:nvSpPr>
          <p:cNvPr id="13" name="Shape 11"/>
          <p:cNvSpPr/>
          <p:nvPr/>
        </p:nvSpPr>
        <p:spPr>
          <a:xfrm>
            <a:off x="320040" y="2807208"/>
            <a:ext cx="54864" cy="914400"/>
          </a:xfrm>
          <a:prstGeom prst="rect">
            <a:avLst/>
          </a:prstGeom>
          <a:solidFill>
            <a:srgbClr val="EF4444"/>
          </a:solidFill>
          <a:ln w="12700">
            <a:solidFill>
              <a:srgbClr val="EF4444"/>
            </a:solidFill>
            <a:prstDash val="solid"/>
          </a:ln>
        </p:spPr>
        <p:txBody>
          <a:bodyPr/>
          <a:lstStyle/>
          <a:p>
            <a:endParaRPr lang="en-GB"/>
          </a:p>
        </p:txBody>
      </p:sp>
      <p:sp>
        <p:nvSpPr>
          <p:cNvPr id="14" name="Text 12"/>
          <p:cNvSpPr/>
          <p:nvPr/>
        </p:nvSpPr>
        <p:spPr>
          <a:xfrm>
            <a:off x="502920" y="2852928"/>
            <a:ext cx="3657600" cy="274320"/>
          </a:xfrm>
          <a:prstGeom prst="rect">
            <a:avLst/>
          </a:prstGeom>
          <a:noFill/>
          <a:ln/>
        </p:spPr>
        <p:txBody>
          <a:bodyPr wrap="square" lIns="0" tIns="0" rIns="0" bIns="0" rtlCol="0" anchor="ctr"/>
          <a:lstStyle/>
          <a:p>
            <a:pPr marL="0" indent="0">
              <a:buNone/>
            </a:pPr>
            <a:r>
              <a:rPr lang="en-US" sz="1100" b="1" dirty="0">
                <a:solidFill>
                  <a:srgbClr val="1E293B"/>
                </a:solidFill>
                <a:latin typeface="Calibri" pitchFamily="34" charset="0"/>
                <a:ea typeface="Calibri" pitchFamily="34" charset="-122"/>
                <a:cs typeface="Calibri" pitchFamily="34" charset="-120"/>
              </a:rPr>
              <a:t>Manual Execution + Crash State Loss</a:t>
            </a:r>
            <a:endParaRPr lang="en-US" sz="1100" dirty="0"/>
          </a:p>
        </p:txBody>
      </p:sp>
      <p:sp>
        <p:nvSpPr>
          <p:cNvPr id="15" name="Text 13"/>
          <p:cNvSpPr/>
          <p:nvPr/>
        </p:nvSpPr>
        <p:spPr>
          <a:xfrm>
            <a:off x="502920" y="3154680"/>
            <a:ext cx="3657600" cy="502920"/>
          </a:xfrm>
          <a:prstGeom prst="rect">
            <a:avLst/>
          </a:prstGeom>
          <a:noFill/>
          <a:ln/>
        </p:spPr>
        <p:txBody>
          <a:bodyPr wrap="square" lIns="0" tIns="0" rIns="0" bIns="0" rtlCol="0" anchor="ctr"/>
          <a:lstStyle/>
          <a:p>
            <a:pPr marL="0" indent="0">
              <a:buNone/>
            </a:pPr>
            <a:r>
              <a:rPr lang="en-US" sz="950" dirty="0">
                <a:solidFill>
                  <a:srgbClr val="64748B"/>
                </a:solidFill>
                <a:latin typeface="Calibri" pitchFamily="34" charset="0"/>
                <a:ea typeface="Calibri" pitchFamily="34" charset="-122"/>
                <a:cs typeface="Calibri" pitchFamily="34" charset="-120"/>
              </a:rPr>
              <a:t>The Python ingestion script requires a terminal to stay open — it has no background service mode. If it crashes, unprocessed logs lose their read-state and restart from line one, risking duplicates.</a:t>
            </a:r>
            <a:endParaRPr lang="en-US" sz="950" dirty="0"/>
          </a:p>
        </p:txBody>
      </p:sp>
      <p:sp>
        <p:nvSpPr>
          <p:cNvPr id="16" name="Shape 14"/>
          <p:cNvSpPr/>
          <p:nvPr/>
        </p:nvSpPr>
        <p:spPr>
          <a:xfrm>
            <a:off x="320040" y="3813048"/>
            <a:ext cx="4023360" cy="914400"/>
          </a:xfrm>
          <a:prstGeom prst="rect">
            <a:avLst/>
          </a:prstGeom>
          <a:solidFill>
            <a:srgbClr val="FFFFFF"/>
          </a:solidFill>
          <a:ln w="12700">
            <a:solidFill>
              <a:srgbClr val="FECACA"/>
            </a:solidFill>
            <a:prstDash val="solid"/>
          </a:ln>
          <a:effectLst>
            <a:outerShdw blurRad="101600" dist="38100" dir="8100000" algn="bl" rotWithShape="0">
              <a:srgbClr val="000000">
                <a:alpha val="8000"/>
              </a:srgbClr>
            </a:outerShdw>
          </a:effectLst>
        </p:spPr>
        <p:txBody>
          <a:bodyPr/>
          <a:lstStyle/>
          <a:p>
            <a:endParaRPr lang="en-GB"/>
          </a:p>
        </p:txBody>
      </p:sp>
      <p:sp>
        <p:nvSpPr>
          <p:cNvPr id="17" name="Shape 15"/>
          <p:cNvSpPr/>
          <p:nvPr/>
        </p:nvSpPr>
        <p:spPr>
          <a:xfrm>
            <a:off x="320040" y="3813048"/>
            <a:ext cx="54864" cy="914400"/>
          </a:xfrm>
          <a:prstGeom prst="rect">
            <a:avLst/>
          </a:prstGeom>
          <a:solidFill>
            <a:srgbClr val="EF4444"/>
          </a:solidFill>
          <a:ln w="12700">
            <a:solidFill>
              <a:srgbClr val="EF4444"/>
            </a:solidFill>
            <a:prstDash val="solid"/>
          </a:ln>
        </p:spPr>
        <p:txBody>
          <a:bodyPr/>
          <a:lstStyle/>
          <a:p>
            <a:endParaRPr lang="en-GB"/>
          </a:p>
        </p:txBody>
      </p:sp>
      <p:sp>
        <p:nvSpPr>
          <p:cNvPr id="18" name="Text 16"/>
          <p:cNvSpPr/>
          <p:nvPr/>
        </p:nvSpPr>
        <p:spPr>
          <a:xfrm>
            <a:off x="502920" y="3858768"/>
            <a:ext cx="3657600" cy="274320"/>
          </a:xfrm>
          <a:prstGeom prst="rect">
            <a:avLst/>
          </a:prstGeom>
          <a:noFill/>
          <a:ln/>
        </p:spPr>
        <p:txBody>
          <a:bodyPr wrap="square" lIns="0" tIns="0" rIns="0" bIns="0" rtlCol="0" anchor="ctr"/>
          <a:lstStyle/>
          <a:p>
            <a:pPr marL="0" indent="0">
              <a:buNone/>
            </a:pPr>
            <a:r>
              <a:rPr lang="en-US" sz="1100" b="1" dirty="0">
                <a:solidFill>
                  <a:srgbClr val="1E293B"/>
                </a:solidFill>
                <a:latin typeface="Calibri" pitchFamily="34" charset="0"/>
                <a:ea typeface="Calibri" pitchFamily="34" charset="-122"/>
                <a:cs typeface="Calibri" pitchFamily="34" charset="-120"/>
              </a:rPr>
              <a:t>AI Persona Flaw (Business Owner)</a:t>
            </a:r>
            <a:endParaRPr lang="en-US" sz="1100" dirty="0"/>
          </a:p>
        </p:txBody>
      </p:sp>
      <p:sp>
        <p:nvSpPr>
          <p:cNvPr id="19" name="Text 17"/>
          <p:cNvSpPr/>
          <p:nvPr/>
        </p:nvSpPr>
        <p:spPr>
          <a:xfrm>
            <a:off x="502920" y="4160520"/>
            <a:ext cx="3657600" cy="502920"/>
          </a:xfrm>
          <a:prstGeom prst="rect">
            <a:avLst/>
          </a:prstGeom>
          <a:noFill/>
          <a:ln/>
        </p:spPr>
        <p:txBody>
          <a:bodyPr wrap="square" lIns="0" tIns="0" rIns="0" bIns="0" rtlCol="0" anchor="ctr"/>
          <a:lstStyle/>
          <a:p>
            <a:pPr marL="0" indent="0">
              <a:buNone/>
            </a:pPr>
            <a:r>
              <a:rPr lang="en-US" sz="950" dirty="0">
                <a:solidFill>
                  <a:srgbClr val="64748B"/>
                </a:solidFill>
                <a:latin typeface="Calibri" pitchFamily="34" charset="0"/>
                <a:ea typeface="Calibri" pitchFamily="34" charset="-122"/>
                <a:cs typeface="Calibri" pitchFamily="34" charset="-120"/>
              </a:rPr>
              <a:t>UAT revealed the 'Business Owner' persona occasionally tells users to 'escalate to an IT team' — directly contradicting the reality of micro-SMEs with no IT staff. Prompt may need further tuning.</a:t>
            </a:r>
            <a:endParaRPr lang="en-US" sz="950" dirty="0"/>
          </a:p>
        </p:txBody>
      </p:sp>
      <p:sp>
        <p:nvSpPr>
          <p:cNvPr id="20" name="Shape 18"/>
          <p:cNvSpPr/>
          <p:nvPr/>
        </p:nvSpPr>
        <p:spPr>
          <a:xfrm>
            <a:off x="4800600" y="1325880"/>
            <a:ext cx="4023360" cy="384048"/>
          </a:xfrm>
          <a:prstGeom prst="rect">
            <a:avLst/>
          </a:prstGeom>
          <a:solidFill>
            <a:srgbClr val="10B981"/>
          </a:solidFill>
          <a:ln w="12700">
            <a:solidFill>
              <a:srgbClr val="10B981"/>
            </a:solidFill>
            <a:prstDash val="solid"/>
          </a:ln>
        </p:spPr>
        <p:txBody>
          <a:bodyPr/>
          <a:lstStyle/>
          <a:p>
            <a:endParaRPr lang="en-GB"/>
          </a:p>
        </p:txBody>
      </p:sp>
      <p:sp>
        <p:nvSpPr>
          <p:cNvPr id="21" name="Text 19"/>
          <p:cNvSpPr/>
          <p:nvPr/>
        </p:nvSpPr>
        <p:spPr>
          <a:xfrm>
            <a:off x="4800600" y="1325880"/>
            <a:ext cx="4023360" cy="384048"/>
          </a:xfrm>
          <a:prstGeom prst="rect">
            <a:avLst/>
          </a:prstGeom>
          <a:noFill/>
          <a:ln/>
        </p:spPr>
        <p:txBody>
          <a:bodyPr wrap="square" rtlCol="0" anchor="ctr"/>
          <a:lstStyle/>
          <a:p>
            <a:pPr marL="0" indent="0" algn="ctr">
              <a:buNone/>
            </a:pPr>
            <a:r>
              <a:rPr lang="en-US" sz="1200" b="1" dirty="0">
                <a:solidFill>
                  <a:srgbClr val="FFFFFF"/>
                </a:solidFill>
                <a:latin typeface="Calibri" pitchFamily="34" charset="0"/>
                <a:ea typeface="Calibri" pitchFamily="34" charset="-122"/>
                <a:cs typeface="Calibri" pitchFamily="34" charset="-120"/>
              </a:rPr>
              <a:t>✓  Future Architectural Evolution</a:t>
            </a:r>
            <a:endParaRPr lang="en-US" sz="1200" dirty="0"/>
          </a:p>
        </p:txBody>
      </p:sp>
      <p:sp>
        <p:nvSpPr>
          <p:cNvPr id="22" name="Shape 20"/>
          <p:cNvSpPr/>
          <p:nvPr/>
        </p:nvSpPr>
        <p:spPr>
          <a:xfrm>
            <a:off x="4800600" y="1801368"/>
            <a:ext cx="4023360" cy="914400"/>
          </a:xfrm>
          <a:prstGeom prst="rect">
            <a:avLst/>
          </a:prstGeom>
          <a:solidFill>
            <a:srgbClr val="FFFFFF"/>
          </a:solidFill>
          <a:ln w="12700">
            <a:solidFill>
              <a:srgbClr val="BBF7D0"/>
            </a:solidFill>
            <a:prstDash val="solid"/>
          </a:ln>
          <a:effectLst>
            <a:outerShdw blurRad="101600" dist="38100" dir="8100000" algn="bl" rotWithShape="0">
              <a:srgbClr val="000000">
                <a:alpha val="8000"/>
              </a:srgbClr>
            </a:outerShdw>
          </a:effectLst>
        </p:spPr>
        <p:txBody>
          <a:bodyPr/>
          <a:lstStyle/>
          <a:p>
            <a:endParaRPr lang="en-GB"/>
          </a:p>
        </p:txBody>
      </p:sp>
      <p:sp>
        <p:nvSpPr>
          <p:cNvPr id="23" name="Shape 21"/>
          <p:cNvSpPr/>
          <p:nvPr/>
        </p:nvSpPr>
        <p:spPr>
          <a:xfrm>
            <a:off x="4800600" y="1801368"/>
            <a:ext cx="54864" cy="914400"/>
          </a:xfrm>
          <a:prstGeom prst="rect">
            <a:avLst/>
          </a:prstGeom>
          <a:solidFill>
            <a:srgbClr val="10B981"/>
          </a:solidFill>
          <a:ln w="12700">
            <a:solidFill>
              <a:srgbClr val="10B981"/>
            </a:solidFill>
            <a:prstDash val="solid"/>
          </a:ln>
        </p:spPr>
        <p:txBody>
          <a:bodyPr/>
          <a:lstStyle/>
          <a:p>
            <a:endParaRPr lang="en-GB"/>
          </a:p>
        </p:txBody>
      </p:sp>
      <p:sp>
        <p:nvSpPr>
          <p:cNvPr id="24" name="Text 22"/>
          <p:cNvSpPr/>
          <p:nvPr/>
        </p:nvSpPr>
        <p:spPr>
          <a:xfrm>
            <a:off x="4983480" y="1847088"/>
            <a:ext cx="3657600" cy="274320"/>
          </a:xfrm>
          <a:prstGeom prst="rect">
            <a:avLst/>
          </a:prstGeom>
          <a:noFill/>
          <a:ln/>
        </p:spPr>
        <p:txBody>
          <a:bodyPr wrap="square" lIns="0" tIns="0" rIns="0" bIns="0" rtlCol="0" anchor="ctr"/>
          <a:lstStyle/>
          <a:p>
            <a:pPr marL="0" indent="0">
              <a:buNone/>
            </a:pPr>
            <a:r>
              <a:rPr lang="en-US" sz="1050" b="1" dirty="0">
                <a:solidFill>
                  <a:srgbClr val="1E293B"/>
                </a:solidFill>
                <a:latin typeface="Calibri" pitchFamily="34" charset="0"/>
                <a:ea typeface="Calibri" pitchFamily="34" charset="-122"/>
                <a:cs typeface="Calibri" pitchFamily="34" charset="-120"/>
              </a:rPr>
              <a:t>Route Auth via Backend Proxy + JWT Zero-Trust</a:t>
            </a:r>
            <a:endParaRPr lang="en-US" sz="1050" dirty="0"/>
          </a:p>
        </p:txBody>
      </p:sp>
      <p:sp>
        <p:nvSpPr>
          <p:cNvPr id="25" name="Text 23"/>
          <p:cNvSpPr/>
          <p:nvPr/>
        </p:nvSpPr>
        <p:spPr>
          <a:xfrm>
            <a:off x="4983480" y="2148840"/>
            <a:ext cx="3657600" cy="502920"/>
          </a:xfrm>
          <a:prstGeom prst="rect">
            <a:avLst/>
          </a:prstGeom>
          <a:noFill/>
          <a:ln/>
        </p:spPr>
        <p:txBody>
          <a:bodyPr wrap="square" lIns="0" tIns="0" rIns="0" bIns="0" rtlCol="0" anchor="ctr"/>
          <a:lstStyle/>
          <a:p>
            <a:pPr marL="0" indent="0">
              <a:buNone/>
            </a:pPr>
            <a:r>
              <a:rPr lang="en-US" sz="950" dirty="0">
                <a:solidFill>
                  <a:srgbClr val="64748B"/>
                </a:solidFill>
                <a:latin typeface="Calibri" pitchFamily="34" charset="0"/>
                <a:ea typeface="Calibri" pitchFamily="34" charset="-122"/>
                <a:cs typeface="Calibri" pitchFamily="34" charset="-120"/>
              </a:rPr>
              <a:t>Fix the key exposure by routing all Firebase auth requests through the FastAPI backend, and implement Firebase JWT for true zero-trust session management.</a:t>
            </a:r>
            <a:endParaRPr lang="en-US" sz="950" dirty="0"/>
          </a:p>
        </p:txBody>
      </p:sp>
      <p:sp>
        <p:nvSpPr>
          <p:cNvPr id="26" name="Shape 24"/>
          <p:cNvSpPr/>
          <p:nvPr/>
        </p:nvSpPr>
        <p:spPr>
          <a:xfrm>
            <a:off x="4800600" y="2807208"/>
            <a:ext cx="4023360" cy="914400"/>
          </a:xfrm>
          <a:prstGeom prst="rect">
            <a:avLst/>
          </a:prstGeom>
          <a:solidFill>
            <a:srgbClr val="FFFFFF"/>
          </a:solidFill>
          <a:ln w="12700">
            <a:solidFill>
              <a:srgbClr val="BBF7D0"/>
            </a:solidFill>
            <a:prstDash val="solid"/>
          </a:ln>
          <a:effectLst>
            <a:outerShdw blurRad="101600" dist="38100" dir="8100000" algn="bl" rotWithShape="0">
              <a:srgbClr val="000000">
                <a:alpha val="8000"/>
              </a:srgbClr>
            </a:outerShdw>
          </a:effectLst>
        </p:spPr>
        <p:txBody>
          <a:bodyPr/>
          <a:lstStyle/>
          <a:p>
            <a:endParaRPr lang="en-GB"/>
          </a:p>
        </p:txBody>
      </p:sp>
      <p:sp>
        <p:nvSpPr>
          <p:cNvPr id="27" name="Shape 25"/>
          <p:cNvSpPr/>
          <p:nvPr/>
        </p:nvSpPr>
        <p:spPr>
          <a:xfrm>
            <a:off x="4800600" y="2807208"/>
            <a:ext cx="54864" cy="914400"/>
          </a:xfrm>
          <a:prstGeom prst="rect">
            <a:avLst/>
          </a:prstGeom>
          <a:solidFill>
            <a:srgbClr val="10B981"/>
          </a:solidFill>
          <a:ln w="12700">
            <a:solidFill>
              <a:srgbClr val="10B981"/>
            </a:solidFill>
            <a:prstDash val="solid"/>
          </a:ln>
        </p:spPr>
        <p:txBody>
          <a:bodyPr/>
          <a:lstStyle/>
          <a:p>
            <a:endParaRPr lang="en-GB"/>
          </a:p>
        </p:txBody>
      </p:sp>
      <p:sp>
        <p:nvSpPr>
          <p:cNvPr id="28" name="Text 26"/>
          <p:cNvSpPr/>
          <p:nvPr/>
        </p:nvSpPr>
        <p:spPr>
          <a:xfrm>
            <a:off x="4983480" y="2852928"/>
            <a:ext cx="3657600" cy="274320"/>
          </a:xfrm>
          <a:prstGeom prst="rect">
            <a:avLst/>
          </a:prstGeom>
          <a:noFill/>
          <a:ln/>
        </p:spPr>
        <p:txBody>
          <a:bodyPr wrap="square" lIns="0" tIns="0" rIns="0" bIns="0" rtlCol="0" anchor="ctr"/>
          <a:lstStyle/>
          <a:p>
            <a:pPr marL="0" indent="0">
              <a:buNone/>
            </a:pPr>
            <a:r>
              <a:rPr lang="en-US" sz="1050" b="1" dirty="0">
                <a:solidFill>
                  <a:srgbClr val="1E293B"/>
                </a:solidFill>
                <a:latin typeface="Calibri" pitchFamily="34" charset="0"/>
                <a:ea typeface="Calibri" pitchFamily="34" charset="-122"/>
                <a:cs typeface="Calibri" pitchFamily="34" charset="-120"/>
              </a:rPr>
              <a:t>Convert to Background Service + AWS / PostgreSQL</a:t>
            </a:r>
            <a:endParaRPr lang="en-US" sz="1050" dirty="0"/>
          </a:p>
        </p:txBody>
      </p:sp>
      <p:sp>
        <p:nvSpPr>
          <p:cNvPr id="29" name="Text 27"/>
          <p:cNvSpPr/>
          <p:nvPr/>
        </p:nvSpPr>
        <p:spPr>
          <a:xfrm>
            <a:off x="4983480" y="3154680"/>
            <a:ext cx="3657600" cy="502920"/>
          </a:xfrm>
          <a:prstGeom prst="rect">
            <a:avLst/>
          </a:prstGeom>
          <a:noFill/>
          <a:ln/>
        </p:spPr>
        <p:txBody>
          <a:bodyPr wrap="square" lIns="0" tIns="0" rIns="0" bIns="0" rtlCol="0" anchor="ctr"/>
          <a:lstStyle/>
          <a:p>
            <a:pPr marL="0" indent="0">
              <a:buNone/>
            </a:pPr>
            <a:r>
              <a:rPr lang="en-US" sz="950" dirty="0">
                <a:solidFill>
                  <a:srgbClr val="64748B"/>
                </a:solidFill>
                <a:latin typeface="Calibri" pitchFamily="34" charset="0"/>
                <a:ea typeface="Calibri" pitchFamily="34" charset="-122"/>
                <a:cs typeface="Calibri" pitchFamily="34" charset="-120"/>
              </a:rPr>
              <a:t>Package the Python script as a proper Windows/Linux service for always-on monitoring. Migrate to AWS Lambda + RDS (PostgreSQL) for enterprise SQL querying and scalability.</a:t>
            </a:r>
            <a:endParaRPr lang="en-US" sz="950" dirty="0"/>
          </a:p>
        </p:txBody>
      </p:sp>
      <p:sp>
        <p:nvSpPr>
          <p:cNvPr id="30" name="Shape 28"/>
          <p:cNvSpPr/>
          <p:nvPr/>
        </p:nvSpPr>
        <p:spPr>
          <a:xfrm>
            <a:off x="4800600" y="3813048"/>
            <a:ext cx="4023360" cy="914400"/>
          </a:xfrm>
          <a:prstGeom prst="rect">
            <a:avLst/>
          </a:prstGeom>
          <a:solidFill>
            <a:srgbClr val="FFFFFF"/>
          </a:solidFill>
          <a:ln w="12700">
            <a:solidFill>
              <a:srgbClr val="BBF7D0"/>
            </a:solidFill>
            <a:prstDash val="solid"/>
          </a:ln>
          <a:effectLst>
            <a:outerShdw blurRad="101600" dist="38100" dir="8100000" algn="bl" rotWithShape="0">
              <a:srgbClr val="000000">
                <a:alpha val="8000"/>
              </a:srgbClr>
            </a:outerShdw>
          </a:effectLst>
        </p:spPr>
        <p:txBody>
          <a:bodyPr/>
          <a:lstStyle/>
          <a:p>
            <a:endParaRPr lang="en-GB"/>
          </a:p>
        </p:txBody>
      </p:sp>
      <p:sp>
        <p:nvSpPr>
          <p:cNvPr id="31" name="Shape 29"/>
          <p:cNvSpPr/>
          <p:nvPr/>
        </p:nvSpPr>
        <p:spPr>
          <a:xfrm>
            <a:off x="4800600" y="3813048"/>
            <a:ext cx="54864" cy="914400"/>
          </a:xfrm>
          <a:prstGeom prst="rect">
            <a:avLst/>
          </a:prstGeom>
          <a:solidFill>
            <a:srgbClr val="10B981"/>
          </a:solidFill>
          <a:ln w="12700">
            <a:solidFill>
              <a:srgbClr val="10B981"/>
            </a:solidFill>
            <a:prstDash val="solid"/>
          </a:ln>
        </p:spPr>
        <p:txBody>
          <a:bodyPr/>
          <a:lstStyle/>
          <a:p>
            <a:endParaRPr lang="en-GB"/>
          </a:p>
        </p:txBody>
      </p:sp>
      <p:sp>
        <p:nvSpPr>
          <p:cNvPr id="32" name="Text 30"/>
          <p:cNvSpPr/>
          <p:nvPr/>
        </p:nvSpPr>
        <p:spPr>
          <a:xfrm>
            <a:off x="4983480" y="3858768"/>
            <a:ext cx="3657600" cy="274320"/>
          </a:xfrm>
          <a:prstGeom prst="rect">
            <a:avLst/>
          </a:prstGeom>
          <a:noFill/>
          <a:ln/>
        </p:spPr>
        <p:txBody>
          <a:bodyPr wrap="square" lIns="0" tIns="0" rIns="0" bIns="0" rtlCol="0" anchor="ctr"/>
          <a:lstStyle/>
          <a:p>
            <a:pPr marL="0" indent="0">
              <a:buNone/>
            </a:pPr>
            <a:r>
              <a:rPr lang="en-US" sz="1050" b="1" dirty="0">
                <a:solidFill>
                  <a:srgbClr val="1E293B"/>
                </a:solidFill>
                <a:latin typeface="Calibri" pitchFamily="34" charset="0"/>
                <a:ea typeface="Calibri" pitchFamily="34" charset="-122"/>
                <a:cs typeface="Calibri" pitchFamily="34" charset="-120"/>
              </a:rPr>
              <a:t>MITRE ATT&amp;CK Mapping + Macro Analytics</a:t>
            </a:r>
            <a:endParaRPr lang="en-US" sz="1050" dirty="0"/>
          </a:p>
        </p:txBody>
      </p:sp>
      <p:sp>
        <p:nvSpPr>
          <p:cNvPr id="33" name="Text 31"/>
          <p:cNvSpPr/>
          <p:nvPr/>
        </p:nvSpPr>
        <p:spPr>
          <a:xfrm>
            <a:off x="4983480" y="4160520"/>
            <a:ext cx="3657600" cy="502920"/>
          </a:xfrm>
          <a:prstGeom prst="rect">
            <a:avLst/>
          </a:prstGeom>
          <a:noFill/>
          <a:ln/>
        </p:spPr>
        <p:txBody>
          <a:bodyPr wrap="square" lIns="0" tIns="0" rIns="0" bIns="0" rtlCol="0" anchor="ctr"/>
          <a:lstStyle/>
          <a:p>
            <a:pPr marL="0" indent="0">
              <a:buNone/>
            </a:pPr>
            <a:r>
              <a:rPr lang="en-US" sz="950" dirty="0">
                <a:solidFill>
                  <a:srgbClr val="64748B"/>
                </a:solidFill>
                <a:latin typeface="Calibri" pitchFamily="34" charset="0"/>
                <a:ea typeface="Calibri" pitchFamily="34" charset="-122"/>
                <a:cs typeface="Calibri" pitchFamily="34" charset="-120"/>
              </a:rPr>
              <a:t>Map AI summaries to ATT&amp;CK framework techniques. Feed long-term aggregated data back to the LLM to generate weekly security posture reports — a direct UAT request.</a:t>
            </a:r>
            <a:endParaRPr lang="en-US" sz="950" dirty="0"/>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bg>
      <p:bgPr>
        <a:solidFill>
          <a:srgbClr val="0F172A"/>
        </a:solidFill>
        <a:effectLst/>
      </p:bgPr>
    </p:bg>
    <p:spTree>
      <p:nvGrpSpPr>
        <p:cNvPr id="1" name=""/>
        <p:cNvGrpSpPr/>
        <p:nvPr/>
      </p:nvGrpSpPr>
      <p:grpSpPr>
        <a:xfrm>
          <a:off x="0" y="0"/>
          <a:ext cx="0" cy="0"/>
          <a:chOff x="0" y="0"/>
          <a:chExt cx="0" cy="0"/>
        </a:xfrm>
      </p:grpSpPr>
      <p:sp>
        <p:nvSpPr>
          <p:cNvPr id="2" name="Shape 0"/>
          <p:cNvSpPr/>
          <p:nvPr/>
        </p:nvSpPr>
        <p:spPr>
          <a:xfrm>
            <a:off x="365760" y="274320"/>
            <a:ext cx="45720" cy="45720"/>
          </a:xfrm>
          <a:prstGeom prst="ellipse">
            <a:avLst/>
          </a:prstGeom>
          <a:solidFill>
            <a:srgbClr val="6366F1">
              <a:alpha val="25000"/>
            </a:srgbClr>
          </a:solidFill>
          <a:ln w="12700">
            <a:solidFill>
              <a:srgbClr val="6366F1">
                <a:alpha val="25000"/>
              </a:srgbClr>
            </a:solidFill>
            <a:prstDash val="solid"/>
          </a:ln>
        </p:spPr>
        <p:txBody>
          <a:bodyPr/>
          <a:lstStyle/>
          <a:p>
            <a:endParaRPr lang="en-GB"/>
          </a:p>
        </p:txBody>
      </p:sp>
      <p:sp>
        <p:nvSpPr>
          <p:cNvPr id="3" name="Shape 1"/>
          <p:cNvSpPr/>
          <p:nvPr/>
        </p:nvSpPr>
        <p:spPr>
          <a:xfrm>
            <a:off x="1115568" y="274320"/>
            <a:ext cx="45720" cy="45720"/>
          </a:xfrm>
          <a:prstGeom prst="ellipse">
            <a:avLst/>
          </a:prstGeom>
          <a:solidFill>
            <a:srgbClr val="6366F1">
              <a:alpha val="25000"/>
            </a:srgbClr>
          </a:solidFill>
          <a:ln w="12700">
            <a:solidFill>
              <a:srgbClr val="6366F1">
                <a:alpha val="25000"/>
              </a:srgbClr>
            </a:solidFill>
            <a:prstDash val="solid"/>
          </a:ln>
        </p:spPr>
        <p:txBody>
          <a:bodyPr/>
          <a:lstStyle/>
          <a:p>
            <a:endParaRPr lang="en-GB"/>
          </a:p>
        </p:txBody>
      </p:sp>
      <p:sp>
        <p:nvSpPr>
          <p:cNvPr id="4" name="Shape 2"/>
          <p:cNvSpPr/>
          <p:nvPr/>
        </p:nvSpPr>
        <p:spPr>
          <a:xfrm>
            <a:off x="1865376" y="274320"/>
            <a:ext cx="45720" cy="45720"/>
          </a:xfrm>
          <a:prstGeom prst="ellipse">
            <a:avLst/>
          </a:prstGeom>
          <a:solidFill>
            <a:srgbClr val="6366F1">
              <a:alpha val="25000"/>
            </a:srgbClr>
          </a:solidFill>
          <a:ln w="12700">
            <a:solidFill>
              <a:srgbClr val="6366F1">
                <a:alpha val="25000"/>
              </a:srgbClr>
            </a:solidFill>
            <a:prstDash val="solid"/>
          </a:ln>
        </p:spPr>
        <p:txBody>
          <a:bodyPr/>
          <a:lstStyle/>
          <a:p>
            <a:endParaRPr lang="en-GB"/>
          </a:p>
        </p:txBody>
      </p:sp>
      <p:sp>
        <p:nvSpPr>
          <p:cNvPr id="5" name="Shape 3"/>
          <p:cNvSpPr/>
          <p:nvPr/>
        </p:nvSpPr>
        <p:spPr>
          <a:xfrm>
            <a:off x="2615184" y="274320"/>
            <a:ext cx="45720" cy="45720"/>
          </a:xfrm>
          <a:prstGeom prst="ellipse">
            <a:avLst/>
          </a:prstGeom>
          <a:solidFill>
            <a:srgbClr val="6366F1">
              <a:alpha val="25000"/>
            </a:srgbClr>
          </a:solidFill>
          <a:ln w="12700">
            <a:solidFill>
              <a:srgbClr val="6366F1">
                <a:alpha val="25000"/>
              </a:srgbClr>
            </a:solidFill>
            <a:prstDash val="solid"/>
          </a:ln>
        </p:spPr>
        <p:txBody>
          <a:bodyPr/>
          <a:lstStyle/>
          <a:p>
            <a:endParaRPr lang="en-GB"/>
          </a:p>
        </p:txBody>
      </p:sp>
      <p:sp>
        <p:nvSpPr>
          <p:cNvPr id="6" name="Shape 4"/>
          <p:cNvSpPr/>
          <p:nvPr/>
        </p:nvSpPr>
        <p:spPr>
          <a:xfrm>
            <a:off x="3364992" y="274320"/>
            <a:ext cx="45720" cy="45720"/>
          </a:xfrm>
          <a:prstGeom prst="ellipse">
            <a:avLst/>
          </a:prstGeom>
          <a:solidFill>
            <a:srgbClr val="6366F1">
              <a:alpha val="25000"/>
            </a:srgbClr>
          </a:solidFill>
          <a:ln w="12700">
            <a:solidFill>
              <a:srgbClr val="6366F1">
                <a:alpha val="25000"/>
              </a:srgbClr>
            </a:solidFill>
            <a:prstDash val="solid"/>
          </a:ln>
        </p:spPr>
        <p:txBody>
          <a:bodyPr/>
          <a:lstStyle/>
          <a:p>
            <a:endParaRPr lang="en-GB"/>
          </a:p>
        </p:txBody>
      </p:sp>
      <p:sp>
        <p:nvSpPr>
          <p:cNvPr id="7" name="Shape 5"/>
          <p:cNvSpPr/>
          <p:nvPr/>
        </p:nvSpPr>
        <p:spPr>
          <a:xfrm>
            <a:off x="4114800" y="274320"/>
            <a:ext cx="45720" cy="45720"/>
          </a:xfrm>
          <a:prstGeom prst="ellipse">
            <a:avLst/>
          </a:prstGeom>
          <a:solidFill>
            <a:srgbClr val="6366F1">
              <a:alpha val="25000"/>
            </a:srgbClr>
          </a:solidFill>
          <a:ln w="12700">
            <a:solidFill>
              <a:srgbClr val="6366F1">
                <a:alpha val="25000"/>
              </a:srgbClr>
            </a:solidFill>
            <a:prstDash val="solid"/>
          </a:ln>
        </p:spPr>
        <p:txBody>
          <a:bodyPr/>
          <a:lstStyle/>
          <a:p>
            <a:endParaRPr lang="en-GB"/>
          </a:p>
        </p:txBody>
      </p:sp>
      <p:sp>
        <p:nvSpPr>
          <p:cNvPr id="8" name="Shape 6"/>
          <p:cNvSpPr/>
          <p:nvPr/>
        </p:nvSpPr>
        <p:spPr>
          <a:xfrm>
            <a:off x="4864608" y="274320"/>
            <a:ext cx="45720" cy="45720"/>
          </a:xfrm>
          <a:prstGeom prst="ellipse">
            <a:avLst/>
          </a:prstGeom>
          <a:solidFill>
            <a:srgbClr val="6366F1">
              <a:alpha val="25000"/>
            </a:srgbClr>
          </a:solidFill>
          <a:ln w="12700">
            <a:solidFill>
              <a:srgbClr val="6366F1">
                <a:alpha val="25000"/>
              </a:srgbClr>
            </a:solidFill>
            <a:prstDash val="solid"/>
          </a:ln>
        </p:spPr>
        <p:txBody>
          <a:bodyPr/>
          <a:lstStyle/>
          <a:p>
            <a:endParaRPr lang="en-GB"/>
          </a:p>
        </p:txBody>
      </p:sp>
      <p:sp>
        <p:nvSpPr>
          <p:cNvPr id="9" name="Shape 7"/>
          <p:cNvSpPr/>
          <p:nvPr/>
        </p:nvSpPr>
        <p:spPr>
          <a:xfrm>
            <a:off x="5614416" y="274320"/>
            <a:ext cx="45720" cy="45720"/>
          </a:xfrm>
          <a:prstGeom prst="ellipse">
            <a:avLst/>
          </a:prstGeom>
          <a:solidFill>
            <a:srgbClr val="6366F1">
              <a:alpha val="25000"/>
            </a:srgbClr>
          </a:solidFill>
          <a:ln w="12700">
            <a:solidFill>
              <a:srgbClr val="6366F1">
                <a:alpha val="25000"/>
              </a:srgbClr>
            </a:solidFill>
            <a:prstDash val="solid"/>
          </a:ln>
        </p:spPr>
        <p:txBody>
          <a:bodyPr/>
          <a:lstStyle/>
          <a:p>
            <a:endParaRPr lang="en-GB"/>
          </a:p>
        </p:txBody>
      </p:sp>
      <p:sp>
        <p:nvSpPr>
          <p:cNvPr id="10" name="Shape 8"/>
          <p:cNvSpPr/>
          <p:nvPr/>
        </p:nvSpPr>
        <p:spPr>
          <a:xfrm>
            <a:off x="6364224" y="274320"/>
            <a:ext cx="45720" cy="45720"/>
          </a:xfrm>
          <a:prstGeom prst="ellipse">
            <a:avLst/>
          </a:prstGeom>
          <a:solidFill>
            <a:srgbClr val="6366F1">
              <a:alpha val="25000"/>
            </a:srgbClr>
          </a:solidFill>
          <a:ln w="12700">
            <a:solidFill>
              <a:srgbClr val="6366F1">
                <a:alpha val="25000"/>
              </a:srgbClr>
            </a:solidFill>
            <a:prstDash val="solid"/>
          </a:ln>
        </p:spPr>
        <p:txBody>
          <a:bodyPr/>
          <a:lstStyle/>
          <a:p>
            <a:endParaRPr lang="en-GB"/>
          </a:p>
        </p:txBody>
      </p:sp>
      <p:sp>
        <p:nvSpPr>
          <p:cNvPr id="11" name="Shape 9"/>
          <p:cNvSpPr/>
          <p:nvPr/>
        </p:nvSpPr>
        <p:spPr>
          <a:xfrm>
            <a:off x="7114032" y="274320"/>
            <a:ext cx="45720" cy="45720"/>
          </a:xfrm>
          <a:prstGeom prst="ellipse">
            <a:avLst/>
          </a:prstGeom>
          <a:solidFill>
            <a:srgbClr val="6366F1">
              <a:alpha val="25000"/>
            </a:srgbClr>
          </a:solidFill>
          <a:ln w="12700">
            <a:solidFill>
              <a:srgbClr val="6366F1">
                <a:alpha val="25000"/>
              </a:srgbClr>
            </a:solidFill>
            <a:prstDash val="solid"/>
          </a:ln>
        </p:spPr>
        <p:txBody>
          <a:bodyPr/>
          <a:lstStyle/>
          <a:p>
            <a:endParaRPr lang="en-GB"/>
          </a:p>
        </p:txBody>
      </p:sp>
      <p:sp>
        <p:nvSpPr>
          <p:cNvPr id="12" name="Shape 10"/>
          <p:cNvSpPr/>
          <p:nvPr/>
        </p:nvSpPr>
        <p:spPr>
          <a:xfrm>
            <a:off x="7863840" y="274320"/>
            <a:ext cx="45720" cy="45720"/>
          </a:xfrm>
          <a:prstGeom prst="ellipse">
            <a:avLst/>
          </a:prstGeom>
          <a:solidFill>
            <a:srgbClr val="6366F1">
              <a:alpha val="25000"/>
            </a:srgbClr>
          </a:solidFill>
          <a:ln w="12700">
            <a:solidFill>
              <a:srgbClr val="6366F1">
                <a:alpha val="25000"/>
              </a:srgbClr>
            </a:solidFill>
            <a:prstDash val="solid"/>
          </a:ln>
        </p:spPr>
        <p:txBody>
          <a:bodyPr/>
          <a:lstStyle/>
          <a:p>
            <a:endParaRPr lang="en-GB"/>
          </a:p>
        </p:txBody>
      </p:sp>
      <p:sp>
        <p:nvSpPr>
          <p:cNvPr id="13" name="Shape 11"/>
          <p:cNvSpPr/>
          <p:nvPr/>
        </p:nvSpPr>
        <p:spPr>
          <a:xfrm>
            <a:off x="8613648" y="274320"/>
            <a:ext cx="45720" cy="45720"/>
          </a:xfrm>
          <a:prstGeom prst="ellipse">
            <a:avLst/>
          </a:prstGeom>
          <a:solidFill>
            <a:srgbClr val="6366F1">
              <a:alpha val="25000"/>
            </a:srgbClr>
          </a:solidFill>
          <a:ln w="12700">
            <a:solidFill>
              <a:srgbClr val="6366F1">
                <a:alpha val="25000"/>
              </a:srgbClr>
            </a:solidFill>
            <a:prstDash val="solid"/>
          </a:ln>
        </p:spPr>
        <p:txBody>
          <a:bodyPr/>
          <a:lstStyle/>
          <a:p>
            <a:endParaRPr lang="en-GB"/>
          </a:p>
        </p:txBody>
      </p:sp>
      <p:sp>
        <p:nvSpPr>
          <p:cNvPr id="14" name="Shape 12"/>
          <p:cNvSpPr/>
          <p:nvPr/>
        </p:nvSpPr>
        <p:spPr>
          <a:xfrm>
            <a:off x="365760" y="1078992"/>
            <a:ext cx="45720" cy="45720"/>
          </a:xfrm>
          <a:prstGeom prst="ellipse">
            <a:avLst/>
          </a:prstGeom>
          <a:solidFill>
            <a:srgbClr val="6366F1">
              <a:alpha val="25000"/>
            </a:srgbClr>
          </a:solidFill>
          <a:ln w="12700">
            <a:solidFill>
              <a:srgbClr val="6366F1">
                <a:alpha val="25000"/>
              </a:srgbClr>
            </a:solidFill>
            <a:prstDash val="solid"/>
          </a:ln>
        </p:spPr>
        <p:txBody>
          <a:bodyPr/>
          <a:lstStyle/>
          <a:p>
            <a:endParaRPr lang="en-GB"/>
          </a:p>
        </p:txBody>
      </p:sp>
      <p:sp>
        <p:nvSpPr>
          <p:cNvPr id="15" name="Shape 13"/>
          <p:cNvSpPr/>
          <p:nvPr/>
        </p:nvSpPr>
        <p:spPr>
          <a:xfrm>
            <a:off x="1115568" y="1078992"/>
            <a:ext cx="45720" cy="45720"/>
          </a:xfrm>
          <a:prstGeom prst="ellipse">
            <a:avLst/>
          </a:prstGeom>
          <a:solidFill>
            <a:srgbClr val="6366F1">
              <a:alpha val="25000"/>
            </a:srgbClr>
          </a:solidFill>
          <a:ln w="12700">
            <a:solidFill>
              <a:srgbClr val="6366F1">
                <a:alpha val="25000"/>
              </a:srgbClr>
            </a:solidFill>
            <a:prstDash val="solid"/>
          </a:ln>
        </p:spPr>
        <p:txBody>
          <a:bodyPr/>
          <a:lstStyle/>
          <a:p>
            <a:endParaRPr lang="en-GB"/>
          </a:p>
        </p:txBody>
      </p:sp>
      <p:sp>
        <p:nvSpPr>
          <p:cNvPr id="16" name="Shape 14"/>
          <p:cNvSpPr/>
          <p:nvPr/>
        </p:nvSpPr>
        <p:spPr>
          <a:xfrm>
            <a:off x="1865376" y="1078992"/>
            <a:ext cx="45720" cy="45720"/>
          </a:xfrm>
          <a:prstGeom prst="ellipse">
            <a:avLst/>
          </a:prstGeom>
          <a:solidFill>
            <a:srgbClr val="6366F1">
              <a:alpha val="25000"/>
            </a:srgbClr>
          </a:solidFill>
          <a:ln w="12700">
            <a:solidFill>
              <a:srgbClr val="6366F1">
                <a:alpha val="25000"/>
              </a:srgbClr>
            </a:solidFill>
            <a:prstDash val="solid"/>
          </a:ln>
        </p:spPr>
        <p:txBody>
          <a:bodyPr/>
          <a:lstStyle/>
          <a:p>
            <a:endParaRPr lang="en-GB"/>
          </a:p>
        </p:txBody>
      </p:sp>
      <p:sp>
        <p:nvSpPr>
          <p:cNvPr id="17" name="Shape 15"/>
          <p:cNvSpPr/>
          <p:nvPr/>
        </p:nvSpPr>
        <p:spPr>
          <a:xfrm>
            <a:off x="2615184" y="1078992"/>
            <a:ext cx="45720" cy="45720"/>
          </a:xfrm>
          <a:prstGeom prst="ellipse">
            <a:avLst/>
          </a:prstGeom>
          <a:solidFill>
            <a:srgbClr val="6366F1">
              <a:alpha val="25000"/>
            </a:srgbClr>
          </a:solidFill>
          <a:ln w="12700">
            <a:solidFill>
              <a:srgbClr val="6366F1">
                <a:alpha val="25000"/>
              </a:srgbClr>
            </a:solidFill>
            <a:prstDash val="solid"/>
          </a:ln>
        </p:spPr>
        <p:txBody>
          <a:bodyPr/>
          <a:lstStyle/>
          <a:p>
            <a:endParaRPr lang="en-GB"/>
          </a:p>
        </p:txBody>
      </p:sp>
      <p:sp>
        <p:nvSpPr>
          <p:cNvPr id="18" name="Shape 16"/>
          <p:cNvSpPr/>
          <p:nvPr/>
        </p:nvSpPr>
        <p:spPr>
          <a:xfrm>
            <a:off x="3364992" y="1078992"/>
            <a:ext cx="45720" cy="45720"/>
          </a:xfrm>
          <a:prstGeom prst="ellipse">
            <a:avLst/>
          </a:prstGeom>
          <a:solidFill>
            <a:srgbClr val="6366F1">
              <a:alpha val="25000"/>
            </a:srgbClr>
          </a:solidFill>
          <a:ln w="12700">
            <a:solidFill>
              <a:srgbClr val="6366F1">
                <a:alpha val="25000"/>
              </a:srgbClr>
            </a:solidFill>
            <a:prstDash val="solid"/>
          </a:ln>
        </p:spPr>
        <p:txBody>
          <a:bodyPr/>
          <a:lstStyle/>
          <a:p>
            <a:endParaRPr lang="en-GB"/>
          </a:p>
        </p:txBody>
      </p:sp>
      <p:sp>
        <p:nvSpPr>
          <p:cNvPr id="19" name="Shape 17"/>
          <p:cNvSpPr/>
          <p:nvPr/>
        </p:nvSpPr>
        <p:spPr>
          <a:xfrm>
            <a:off x="4114800" y="1078992"/>
            <a:ext cx="45720" cy="45720"/>
          </a:xfrm>
          <a:prstGeom prst="ellipse">
            <a:avLst/>
          </a:prstGeom>
          <a:solidFill>
            <a:srgbClr val="6366F1">
              <a:alpha val="25000"/>
            </a:srgbClr>
          </a:solidFill>
          <a:ln w="12700">
            <a:solidFill>
              <a:srgbClr val="6366F1">
                <a:alpha val="25000"/>
              </a:srgbClr>
            </a:solidFill>
            <a:prstDash val="solid"/>
          </a:ln>
        </p:spPr>
        <p:txBody>
          <a:bodyPr/>
          <a:lstStyle/>
          <a:p>
            <a:endParaRPr lang="en-GB"/>
          </a:p>
        </p:txBody>
      </p:sp>
      <p:sp>
        <p:nvSpPr>
          <p:cNvPr id="20" name="Shape 18"/>
          <p:cNvSpPr/>
          <p:nvPr/>
        </p:nvSpPr>
        <p:spPr>
          <a:xfrm>
            <a:off x="4864608" y="1078992"/>
            <a:ext cx="45720" cy="45720"/>
          </a:xfrm>
          <a:prstGeom prst="ellipse">
            <a:avLst/>
          </a:prstGeom>
          <a:solidFill>
            <a:srgbClr val="6366F1">
              <a:alpha val="25000"/>
            </a:srgbClr>
          </a:solidFill>
          <a:ln w="12700">
            <a:solidFill>
              <a:srgbClr val="6366F1">
                <a:alpha val="25000"/>
              </a:srgbClr>
            </a:solidFill>
            <a:prstDash val="solid"/>
          </a:ln>
        </p:spPr>
        <p:txBody>
          <a:bodyPr/>
          <a:lstStyle/>
          <a:p>
            <a:endParaRPr lang="en-GB"/>
          </a:p>
        </p:txBody>
      </p:sp>
      <p:sp>
        <p:nvSpPr>
          <p:cNvPr id="21" name="Shape 19"/>
          <p:cNvSpPr/>
          <p:nvPr/>
        </p:nvSpPr>
        <p:spPr>
          <a:xfrm>
            <a:off x="5614416" y="1078992"/>
            <a:ext cx="45720" cy="45720"/>
          </a:xfrm>
          <a:prstGeom prst="ellipse">
            <a:avLst/>
          </a:prstGeom>
          <a:solidFill>
            <a:srgbClr val="6366F1">
              <a:alpha val="25000"/>
            </a:srgbClr>
          </a:solidFill>
          <a:ln w="12700">
            <a:solidFill>
              <a:srgbClr val="6366F1">
                <a:alpha val="25000"/>
              </a:srgbClr>
            </a:solidFill>
            <a:prstDash val="solid"/>
          </a:ln>
        </p:spPr>
        <p:txBody>
          <a:bodyPr/>
          <a:lstStyle/>
          <a:p>
            <a:endParaRPr lang="en-GB"/>
          </a:p>
        </p:txBody>
      </p:sp>
      <p:sp>
        <p:nvSpPr>
          <p:cNvPr id="22" name="Shape 20"/>
          <p:cNvSpPr/>
          <p:nvPr/>
        </p:nvSpPr>
        <p:spPr>
          <a:xfrm>
            <a:off x="6364224" y="1078992"/>
            <a:ext cx="45720" cy="45720"/>
          </a:xfrm>
          <a:prstGeom prst="ellipse">
            <a:avLst/>
          </a:prstGeom>
          <a:solidFill>
            <a:srgbClr val="6366F1">
              <a:alpha val="25000"/>
            </a:srgbClr>
          </a:solidFill>
          <a:ln w="12700">
            <a:solidFill>
              <a:srgbClr val="6366F1">
                <a:alpha val="25000"/>
              </a:srgbClr>
            </a:solidFill>
            <a:prstDash val="solid"/>
          </a:ln>
        </p:spPr>
        <p:txBody>
          <a:bodyPr/>
          <a:lstStyle/>
          <a:p>
            <a:endParaRPr lang="en-GB"/>
          </a:p>
        </p:txBody>
      </p:sp>
      <p:sp>
        <p:nvSpPr>
          <p:cNvPr id="23" name="Shape 21"/>
          <p:cNvSpPr/>
          <p:nvPr/>
        </p:nvSpPr>
        <p:spPr>
          <a:xfrm>
            <a:off x="7114032" y="1078992"/>
            <a:ext cx="45720" cy="45720"/>
          </a:xfrm>
          <a:prstGeom prst="ellipse">
            <a:avLst/>
          </a:prstGeom>
          <a:solidFill>
            <a:srgbClr val="6366F1">
              <a:alpha val="25000"/>
            </a:srgbClr>
          </a:solidFill>
          <a:ln w="12700">
            <a:solidFill>
              <a:srgbClr val="6366F1">
                <a:alpha val="25000"/>
              </a:srgbClr>
            </a:solidFill>
            <a:prstDash val="solid"/>
          </a:ln>
        </p:spPr>
        <p:txBody>
          <a:bodyPr/>
          <a:lstStyle/>
          <a:p>
            <a:endParaRPr lang="en-GB"/>
          </a:p>
        </p:txBody>
      </p:sp>
      <p:sp>
        <p:nvSpPr>
          <p:cNvPr id="24" name="Shape 22"/>
          <p:cNvSpPr/>
          <p:nvPr/>
        </p:nvSpPr>
        <p:spPr>
          <a:xfrm>
            <a:off x="7863840" y="1078992"/>
            <a:ext cx="45720" cy="45720"/>
          </a:xfrm>
          <a:prstGeom prst="ellipse">
            <a:avLst/>
          </a:prstGeom>
          <a:solidFill>
            <a:srgbClr val="6366F1">
              <a:alpha val="25000"/>
            </a:srgbClr>
          </a:solidFill>
          <a:ln w="12700">
            <a:solidFill>
              <a:srgbClr val="6366F1">
                <a:alpha val="25000"/>
              </a:srgbClr>
            </a:solidFill>
            <a:prstDash val="solid"/>
          </a:ln>
        </p:spPr>
        <p:txBody>
          <a:bodyPr/>
          <a:lstStyle/>
          <a:p>
            <a:endParaRPr lang="en-GB"/>
          </a:p>
        </p:txBody>
      </p:sp>
      <p:sp>
        <p:nvSpPr>
          <p:cNvPr id="25" name="Shape 23"/>
          <p:cNvSpPr/>
          <p:nvPr/>
        </p:nvSpPr>
        <p:spPr>
          <a:xfrm>
            <a:off x="8613648" y="1078992"/>
            <a:ext cx="45720" cy="45720"/>
          </a:xfrm>
          <a:prstGeom prst="ellipse">
            <a:avLst/>
          </a:prstGeom>
          <a:solidFill>
            <a:srgbClr val="6366F1">
              <a:alpha val="25000"/>
            </a:srgbClr>
          </a:solidFill>
          <a:ln w="12700">
            <a:solidFill>
              <a:srgbClr val="6366F1">
                <a:alpha val="25000"/>
              </a:srgbClr>
            </a:solidFill>
            <a:prstDash val="solid"/>
          </a:ln>
        </p:spPr>
        <p:txBody>
          <a:bodyPr/>
          <a:lstStyle/>
          <a:p>
            <a:endParaRPr lang="en-GB"/>
          </a:p>
        </p:txBody>
      </p:sp>
      <p:sp>
        <p:nvSpPr>
          <p:cNvPr id="26" name="Shape 24"/>
          <p:cNvSpPr/>
          <p:nvPr/>
        </p:nvSpPr>
        <p:spPr>
          <a:xfrm>
            <a:off x="365760" y="1883664"/>
            <a:ext cx="45720" cy="45720"/>
          </a:xfrm>
          <a:prstGeom prst="ellipse">
            <a:avLst/>
          </a:prstGeom>
          <a:solidFill>
            <a:srgbClr val="6366F1">
              <a:alpha val="25000"/>
            </a:srgbClr>
          </a:solidFill>
          <a:ln w="12700">
            <a:solidFill>
              <a:srgbClr val="6366F1">
                <a:alpha val="25000"/>
              </a:srgbClr>
            </a:solidFill>
            <a:prstDash val="solid"/>
          </a:ln>
        </p:spPr>
        <p:txBody>
          <a:bodyPr/>
          <a:lstStyle/>
          <a:p>
            <a:endParaRPr lang="en-GB"/>
          </a:p>
        </p:txBody>
      </p:sp>
      <p:sp>
        <p:nvSpPr>
          <p:cNvPr id="27" name="Shape 25"/>
          <p:cNvSpPr/>
          <p:nvPr/>
        </p:nvSpPr>
        <p:spPr>
          <a:xfrm>
            <a:off x="1115568" y="1883664"/>
            <a:ext cx="45720" cy="45720"/>
          </a:xfrm>
          <a:prstGeom prst="ellipse">
            <a:avLst/>
          </a:prstGeom>
          <a:solidFill>
            <a:srgbClr val="6366F1">
              <a:alpha val="25000"/>
            </a:srgbClr>
          </a:solidFill>
          <a:ln w="12700">
            <a:solidFill>
              <a:srgbClr val="6366F1">
                <a:alpha val="25000"/>
              </a:srgbClr>
            </a:solidFill>
            <a:prstDash val="solid"/>
          </a:ln>
        </p:spPr>
        <p:txBody>
          <a:bodyPr/>
          <a:lstStyle/>
          <a:p>
            <a:endParaRPr lang="en-GB"/>
          </a:p>
        </p:txBody>
      </p:sp>
      <p:sp>
        <p:nvSpPr>
          <p:cNvPr id="28" name="Shape 26"/>
          <p:cNvSpPr/>
          <p:nvPr/>
        </p:nvSpPr>
        <p:spPr>
          <a:xfrm>
            <a:off x="1865376" y="1883664"/>
            <a:ext cx="45720" cy="45720"/>
          </a:xfrm>
          <a:prstGeom prst="ellipse">
            <a:avLst/>
          </a:prstGeom>
          <a:solidFill>
            <a:srgbClr val="6366F1">
              <a:alpha val="25000"/>
            </a:srgbClr>
          </a:solidFill>
          <a:ln w="12700">
            <a:solidFill>
              <a:srgbClr val="6366F1">
                <a:alpha val="25000"/>
              </a:srgbClr>
            </a:solidFill>
            <a:prstDash val="solid"/>
          </a:ln>
        </p:spPr>
        <p:txBody>
          <a:bodyPr/>
          <a:lstStyle/>
          <a:p>
            <a:endParaRPr lang="en-GB"/>
          </a:p>
        </p:txBody>
      </p:sp>
      <p:sp>
        <p:nvSpPr>
          <p:cNvPr id="29" name="Shape 27"/>
          <p:cNvSpPr/>
          <p:nvPr/>
        </p:nvSpPr>
        <p:spPr>
          <a:xfrm>
            <a:off x="2615184" y="1883664"/>
            <a:ext cx="45720" cy="45720"/>
          </a:xfrm>
          <a:prstGeom prst="ellipse">
            <a:avLst/>
          </a:prstGeom>
          <a:solidFill>
            <a:srgbClr val="6366F1">
              <a:alpha val="25000"/>
            </a:srgbClr>
          </a:solidFill>
          <a:ln w="12700">
            <a:solidFill>
              <a:srgbClr val="6366F1">
                <a:alpha val="25000"/>
              </a:srgbClr>
            </a:solidFill>
            <a:prstDash val="solid"/>
          </a:ln>
        </p:spPr>
        <p:txBody>
          <a:bodyPr/>
          <a:lstStyle/>
          <a:p>
            <a:endParaRPr lang="en-GB"/>
          </a:p>
        </p:txBody>
      </p:sp>
      <p:sp>
        <p:nvSpPr>
          <p:cNvPr id="30" name="Shape 28"/>
          <p:cNvSpPr/>
          <p:nvPr/>
        </p:nvSpPr>
        <p:spPr>
          <a:xfrm>
            <a:off x="3364992" y="1883664"/>
            <a:ext cx="45720" cy="45720"/>
          </a:xfrm>
          <a:prstGeom prst="ellipse">
            <a:avLst/>
          </a:prstGeom>
          <a:solidFill>
            <a:srgbClr val="6366F1">
              <a:alpha val="25000"/>
            </a:srgbClr>
          </a:solidFill>
          <a:ln w="12700">
            <a:solidFill>
              <a:srgbClr val="6366F1">
                <a:alpha val="25000"/>
              </a:srgbClr>
            </a:solidFill>
            <a:prstDash val="solid"/>
          </a:ln>
        </p:spPr>
        <p:txBody>
          <a:bodyPr/>
          <a:lstStyle/>
          <a:p>
            <a:endParaRPr lang="en-GB"/>
          </a:p>
        </p:txBody>
      </p:sp>
      <p:sp>
        <p:nvSpPr>
          <p:cNvPr id="31" name="Shape 29"/>
          <p:cNvSpPr/>
          <p:nvPr/>
        </p:nvSpPr>
        <p:spPr>
          <a:xfrm>
            <a:off x="4114800" y="1883664"/>
            <a:ext cx="45720" cy="45720"/>
          </a:xfrm>
          <a:prstGeom prst="ellipse">
            <a:avLst/>
          </a:prstGeom>
          <a:solidFill>
            <a:srgbClr val="6366F1">
              <a:alpha val="25000"/>
            </a:srgbClr>
          </a:solidFill>
          <a:ln w="12700">
            <a:solidFill>
              <a:srgbClr val="6366F1">
                <a:alpha val="25000"/>
              </a:srgbClr>
            </a:solidFill>
            <a:prstDash val="solid"/>
          </a:ln>
        </p:spPr>
        <p:txBody>
          <a:bodyPr/>
          <a:lstStyle/>
          <a:p>
            <a:endParaRPr lang="en-GB"/>
          </a:p>
        </p:txBody>
      </p:sp>
      <p:sp>
        <p:nvSpPr>
          <p:cNvPr id="32" name="Shape 30"/>
          <p:cNvSpPr/>
          <p:nvPr/>
        </p:nvSpPr>
        <p:spPr>
          <a:xfrm>
            <a:off x="4864608" y="1883664"/>
            <a:ext cx="45720" cy="45720"/>
          </a:xfrm>
          <a:prstGeom prst="ellipse">
            <a:avLst/>
          </a:prstGeom>
          <a:solidFill>
            <a:srgbClr val="6366F1">
              <a:alpha val="25000"/>
            </a:srgbClr>
          </a:solidFill>
          <a:ln w="12700">
            <a:solidFill>
              <a:srgbClr val="6366F1">
                <a:alpha val="25000"/>
              </a:srgbClr>
            </a:solidFill>
            <a:prstDash val="solid"/>
          </a:ln>
        </p:spPr>
        <p:txBody>
          <a:bodyPr/>
          <a:lstStyle/>
          <a:p>
            <a:endParaRPr lang="en-GB"/>
          </a:p>
        </p:txBody>
      </p:sp>
      <p:sp>
        <p:nvSpPr>
          <p:cNvPr id="33" name="Shape 31"/>
          <p:cNvSpPr/>
          <p:nvPr/>
        </p:nvSpPr>
        <p:spPr>
          <a:xfrm>
            <a:off x="5614416" y="1883664"/>
            <a:ext cx="45720" cy="45720"/>
          </a:xfrm>
          <a:prstGeom prst="ellipse">
            <a:avLst/>
          </a:prstGeom>
          <a:solidFill>
            <a:srgbClr val="6366F1">
              <a:alpha val="25000"/>
            </a:srgbClr>
          </a:solidFill>
          <a:ln w="12700">
            <a:solidFill>
              <a:srgbClr val="6366F1">
                <a:alpha val="25000"/>
              </a:srgbClr>
            </a:solidFill>
            <a:prstDash val="solid"/>
          </a:ln>
        </p:spPr>
        <p:txBody>
          <a:bodyPr/>
          <a:lstStyle/>
          <a:p>
            <a:endParaRPr lang="en-GB"/>
          </a:p>
        </p:txBody>
      </p:sp>
      <p:sp>
        <p:nvSpPr>
          <p:cNvPr id="34" name="Shape 32"/>
          <p:cNvSpPr/>
          <p:nvPr/>
        </p:nvSpPr>
        <p:spPr>
          <a:xfrm>
            <a:off x="6364224" y="1883664"/>
            <a:ext cx="45720" cy="45720"/>
          </a:xfrm>
          <a:prstGeom prst="ellipse">
            <a:avLst/>
          </a:prstGeom>
          <a:solidFill>
            <a:srgbClr val="6366F1">
              <a:alpha val="25000"/>
            </a:srgbClr>
          </a:solidFill>
          <a:ln w="12700">
            <a:solidFill>
              <a:srgbClr val="6366F1">
                <a:alpha val="25000"/>
              </a:srgbClr>
            </a:solidFill>
            <a:prstDash val="solid"/>
          </a:ln>
        </p:spPr>
        <p:txBody>
          <a:bodyPr/>
          <a:lstStyle/>
          <a:p>
            <a:endParaRPr lang="en-GB"/>
          </a:p>
        </p:txBody>
      </p:sp>
      <p:sp>
        <p:nvSpPr>
          <p:cNvPr id="35" name="Shape 33"/>
          <p:cNvSpPr/>
          <p:nvPr/>
        </p:nvSpPr>
        <p:spPr>
          <a:xfrm>
            <a:off x="7114032" y="1883664"/>
            <a:ext cx="45720" cy="45720"/>
          </a:xfrm>
          <a:prstGeom prst="ellipse">
            <a:avLst/>
          </a:prstGeom>
          <a:solidFill>
            <a:srgbClr val="6366F1">
              <a:alpha val="25000"/>
            </a:srgbClr>
          </a:solidFill>
          <a:ln w="12700">
            <a:solidFill>
              <a:srgbClr val="6366F1">
                <a:alpha val="25000"/>
              </a:srgbClr>
            </a:solidFill>
            <a:prstDash val="solid"/>
          </a:ln>
        </p:spPr>
        <p:txBody>
          <a:bodyPr/>
          <a:lstStyle/>
          <a:p>
            <a:endParaRPr lang="en-GB"/>
          </a:p>
        </p:txBody>
      </p:sp>
      <p:sp>
        <p:nvSpPr>
          <p:cNvPr id="36" name="Shape 34"/>
          <p:cNvSpPr/>
          <p:nvPr/>
        </p:nvSpPr>
        <p:spPr>
          <a:xfrm>
            <a:off x="7863840" y="1883664"/>
            <a:ext cx="45720" cy="45720"/>
          </a:xfrm>
          <a:prstGeom prst="ellipse">
            <a:avLst/>
          </a:prstGeom>
          <a:solidFill>
            <a:srgbClr val="6366F1">
              <a:alpha val="25000"/>
            </a:srgbClr>
          </a:solidFill>
          <a:ln w="12700">
            <a:solidFill>
              <a:srgbClr val="6366F1">
                <a:alpha val="25000"/>
              </a:srgbClr>
            </a:solidFill>
            <a:prstDash val="solid"/>
          </a:ln>
        </p:spPr>
        <p:txBody>
          <a:bodyPr/>
          <a:lstStyle/>
          <a:p>
            <a:endParaRPr lang="en-GB"/>
          </a:p>
        </p:txBody>
      </p:sp>
      <p:sp>
        <p:nvSpPr>
          <p:cNvPr id="37" name="Shape 35"/>
          <p:cNvSpPr/>
          <p:nvPr/>
        </p:nvSpPr>
        <p:spPr>
          <a:xfrm>
            <a:off x="8613648" y="1883664"/>
            <a:ext cx="45720" cy="45720"/>
          </a:xfrm>
          <a:prstGeom prst="ellipse">
            <a:avLst/>
          </a:prstGeom>
          <a:solidFill>
            <a:srgbClr val="6366F1">
              <a:alpha val="25000"/>
            </a:srgbClr>
          </a:solidFill>
          <a:ln w="12700">
            <a:solidFill>
              <a:srgbClr val="6366F1">
                <a:alpha val="25000"/>
              </a:srgbClr>
            </a:solidFill>
            <a:prstDash val="solid"/>
          </a:ln>
        </p:spPr>
        <p:txBody>
          <a:bodyPr/>
          <a:lstStyle/>
          <a:p>
            <a:endParaRPr lang="en-GB"/>
          </a:p>
        </p:txBody>
      </p:sp>
      <p:sp>
        <p:nvSpPr>
          <p:cNvPr id="38" name="Shape 36"/>
          <p:cNvSpPr/>
          <p:nvPr/>
        </p:nvSpPr>
        <p:spPr>
          <a:xfrm>
            <a:off x="365760" y="2688336"/>
            <a:ext cx="45720" cy="45720"/>
          </a:xfrm>
          <a:prstGeom prst="ellipse">
            <a:avLst/>
          </a:prstGeom>
          <a:solidFill>
            <a:srgbClr val="6366F1">
              <a:alpha val="25000"/>
            </a:srgbClr>
          </a:solidFill>
          <a:ln w="12700">
            <a:solidFill>
              <a:srgbClr val="6366F1">
                <a:alpha val="25000"/>
              </a:srgbClr>
            </a:solidFill>
            <a:prstDash val="solid"/>
          </a:ln>
        </p:spPr>
        <p:txBody>
          <a:bodyPr/>
          <a:lstStyle/>
          <a:p>
            <a:endParaRPr lang="en-GB"/>
          </a:p>
        </p:txBody>
      </p:sp>
      <p:sp>
        <p:nvSpPr>
          <p:cNvPr id="39" name="Shape 37"/>
          <p:cNvSpPr/>
          <p:nvPr/>
        </p:nvSpPr>
        <p:spPr>
          <a:xfrm>
            <a:off x="1115568" y="2688336"/>
            <a:ext cx="45720" cy="45720"/>
          </a:xfrm>
          <a:prstGeom prst="ellipse">
            <a:avLst/>
          </a:prstGeom>
          <a:solidFill>
            <a:srgbClr val="6366F1">
              <a:alpha val="25000"/>
            </a:srgbClr>
          </a:solidFill>
          <a:ln w="12700">
            <a:solidFill>
              <a:srgbClr val="6366F1">
                <a:alpha val="25000"/>
              </a:srgbClr>
            </a:solidFill>
            <a:prstDash val="solid"/>
          </a:ln>
        </p:spPr>
        <p:txBody>
          <a:bodyPr/>
          <a:lstStyle/>
          <a:p>
            <a:endParaRPr lang="en-GB"/>
          </a:p>
        </p:txBody>
      </p:sp>
      <p:sp>
        <p:nvSpPr>
          <p:cNvPr id="40" name="Shape 38"/>
          <p:cNvSpPr/>
          <p:nvPr/>
        </p:nvSpPr>
        <p:spPr>
          <a:xfrm>
            <a:off x="1865376" y="2688336"/>
            <a:ext cx="45720" cy="45720"/>
          </a:xfrm>
          <a:prstGeom prst="ellipse">
            <a:avLst/>
          </a:prstGeom>
          <a:solidFill>
            <a:srgbClr val="6366F1">
              <a:alpha val="25000"/>
            </a:srgbClr>
          </a:solidFill>
          <a:ln w="12700">
            <a:solidFill>
              <a:srgbClr val="6366F1">
                <a:alpha val="25000"/>
              </a:srgbClr>
            </a:solidFill>
            <a:prstDash val="solid"/>
          </a:ln>
        </p:spPr>
        <p:txBody>
          <a:bodyPr/>
          <a:lstStyle/>
          <a:p>
            <a:endParaRPr lang="en-GB"/>
          </a:p>
        </p:txBody>
      </p:sp>
      <p:sp>
        <p:nvSpPr>
          <p:cNvPr id="41" name="Shape 39"/>
          <p:cNvSpPr/>
          <p:nvPr/>
        </p:nvSpPr>
        <p:spPr>
          <a:xfrm>
            <a:off x="2615184" y="2688336"/>
            <a:ext cx="45720" cy="45720"/>
          </a:xfrm>
          <a:prstGeom prst="ellipse">
            <a:avLst/>
          </a:prstGeom>
          <a:solidFill>
            <a:srgbClr val="6366F1">
              <a:alpha val="25000"/>
            </a:srgbClr>
          </a:solidFill>
          <a:ln w="12700">
            <a:solidFill>
              <a:srgbClr val="6366F1">
                <a:alpha val="25000"/>
              </a:srgbClr>
            </a:solidFill>
            <a:prstDash val="solid"/>
          </a:ln>
        </p:spPr>
        <p:txBody>
          <a:bodyPr/>
          <a:lstStyle/>
          <a:p>
            <a:endParaRPr lang="en-GB"/>
          </a:p>
        </p:txBody>
      </p:sp>
      <p:sp>
        <p:nvSpPr>
          <p:cNvPr id="42" name="Shape 40"/>
          <p:cNvSpPr/>
          <p:nvPr/>
        </p:nvSpPr>
        <p:spPr>
          <a:xfrm>
            <a:off x="3364992" y="2688336"/>
            <a:ext cx="45720" cy="45720"/>
          </a:xfrm>
          <a:prstGeom prst="ellipse">
            <a:avLst/>
          </a:prstGeom>
          <a:solidFill>
            <a:srgbClr val="6366F1">
              <a:alpha val="25000"/>
            </a:srgbClr>
          </a:solidFill>
          <a:ln w="12700">
            <a:solidFill>
              <a:srgbClr val="6366F1">
                <a:alpha val="25000"/>
              </a:srgbClr>
            </a:solidFill>
            <a:prstDash val="solid"/>
          </a:ln>
        </p:spPr>
        <p:txBody>
          <a:bodyPr/>
          <a:lstStyle/>
          <a:p>
            <a:endParaRPr lang="en-GB"/>
          </a:p>
        </p:txBody>
      </p:sp>
      <p:sp>
        <p:nvSpPr>
          <p:cNvPr id="43" name="Shape 41"/>
          <p:cNvSpPr/>
          <p:nvPr/>
        </p:nvSpPr>
        <p:spPr>
          <a:xfrm>
            <a:off x="4114800" y="2688336"/>
            <a:ext cx="45720" cy="45720"/>
          </a:xfrm>
          <a:prstGeom prst="ellipse">
            <a:avLst/>
          </a:prstGeom>
          <a:solidFill>
            <a:srgbClr val="6366F1">
              <a:alpha val="25000"/>
            </a:srgbClr>
          </a:solidFill>
          <a:ln w="12700">
            <a:solidFill>
              <a:srgbClr val="6366F1">
                <a:alpha val="25000"/>
              </a:srgbClr>
            </a:solidFill>
            <a:prstDash val="solid"/>
          </a:ln>
        </p:spPr>
        <p:txBody>
          <a:bodyPr/>
          <a:lstStyle/>
          <a:p>
            <a:endParaRPr lang="en-GB"/>
          </a:p>
        </p:txBody>
      </p:sp>
      <p:sp>
        <p:nvSpPr>
          <p:cNvPr id="44" name="Shape 42"/>
          <p:cNvSpPr/>
          <p:nvPr/>
        </p:nvSpPr>
        <p:spPr>
          <a:xfrm>
            <a:off x="4864608" y="2688336"/>
            <a:ext cx="45720" cy="45720"/>
          </a:xfrm>
          <a:prstGeom prst="ellipse">
            <a:avLst/>
          </a:prstGeom>
          <a:solidFill>
            <a:srgbClr val="6366F1">
              <a:alpha val="25000"/>
            </a:srgbClr>
          </a:solidFill>
          <a:ln w="12700">
            <a:solidFill>
              <a:srgbClr val="6366F1">
                <a:alpha val="25000"/>
              </a:srgbClr>
            </a:solidFill>
            <a:prstDash val="solid"/>
          </a:ln>
        </p:spPr>
        <p:txBody>
          <a:bodyPr/>
          <a:lstStyle/>
          <a:p>
            <a:endParaRPr lang="en-GB"/>
          </a:p>
        </p:txBody>
      </p:sp>
      <p:sp>
        <p:nvSpPr>
          <p:cNvPr id="45" name="Shape 43"/>
          <p:cNvSpPr/>
          <p:nvPr/>
        </p:nvSpPr>
        <p:spPr>
          <a:xfrm>
            <a:off x="5614416" y="2688336"/>
            <a:ext cx="45720" cy="45720"/>
          </a:xfrm>
          <a:prstGeom prst="ellipse">
            <a:avLst/>
          </a:prstGeom>
          <a:solidFill>
            <a:srgbClr val="6366F1">
              <a:alpha val="25000"/>
            </a:srgbClr>
          </a:solidFill>
          <a:ln w="12700">
            <a:solidFill>
              <a:srgbClr val="6366F1">
                <a:alpha val="25000"/>
              </a:srgbClr>
            </a:solidFill>
            <a:prstDash val="solid"/>
          </a:ln>
        </p:spPr>
        <p:txBody>
          <a:bodyPr/>
          <a:lstStyle/>
          <a:p>
            <a:endParaRPr lang="en-GB"/>
          </a:p>
        </p:txBody>
      </p:sp>
      <p:sp>
        <p:nvSpPr>
          <p:cNvPr id="46" name="Shape 44"/>
          <p:cNvSpPr/>
          <p:nvPr/>
        </p:nvSpPr>
        <p:spPr>
          <a:xfrm>
            <a:off x="6364224" y="2688336"/>
            <a:ext cx="45720" cy="45720"/>
          </a:xfrm>
          <a:prstGeom prst="ellipse">
            <a:avLst/>
          </a:prstGeom>
          <a:solidFill>
            <a:srgbClr val="6366F1">
              <a:alpha val="25000"/>
            </a:srgbClr>
          </a:solidFill>
          <a:ln w="12700">
            <a:solidFill>
              <a:srgbClr val="6366F1">
                <a:alpha val="25000"/>
              </a:srgbClr>
            </a:solidFill>
            <a:prstDash val="solid"/>
          </a:ln>
        </p:spPr>
        <p:txBody>
          <a:bodyPr/>
          <a:lstStyle/>
          <a:p>
            <a:endParaRPr lang="en-GB"/>
          </a:p>
        </p:txBody>
      </p:sp>
      <p:sp>
        <p:nvSpPr>
          <p:cNvPr id="47" name="Shape 45"/>
          <p:cNvSpPr/>
          <p:nvPr/>
        </p:nvSpPr>
        <p:spPr>
          <a:xfrm>
            <a:off x="7114032" y="2688336"/>
            <a:ext cx="45720" cy="45720"/>
          </a:xfrm>
          <a:prstGeom prst="ellipse">
            <a:avLst/>
          </a:prstGeom>
          <a:solidFill>
            <a:srgbClr val="6366F1">
              <a:alpha val="25000"/>
            </a:srgbClr>
          </a:solidFill>
          <a:ln w="12700">
            <a:solidFill>
              <a:srgbClr val="6366F1">
                <a:alpha val="25000"/>
              </a:srgbClr>
            </a:solidFill>
            <a:prstDash val="solid"/>
          </a:ln>
        </p:spPr>
        <p:txBody>
          <a:bodyPr/>
          <a:lstStyle/>
          <a:p>
            <a:endParaRPr lang="en-GB"/>
          </a:p>
        </p:txBody>
      </p:sp>
      <p:sp>
        <p:nvSpPr>
          <p:cNvPr id="48" name="Shape 46"/>
          <p:cNvSpPr/>
          <p:nvPr/>
        </p:nvSpPr>
        <p:spPr>
          <a:xfrm>
            <a:off x="7863840" y="2688336"/>
            <a:ext cx="45720" cy="45720"/>
          </a:xfrm>
          <a:prstGeom prst="ellipse">
            <a:avLst/>
          </a:prstGeom>
          <a:solidFill>
            <a:srgbClr val="6366F1">
              <a:alpha val="25000"/>
            </a:srgbClr>
          </a:solidFill>
          <a:ln w="12700">
            <a:solidFill>
              <a:srgbClr val="6366F1">
                <a:alpha val="25000"/>
              </a:srgbClr>
            </a:solidFill>
            <a:prstDash val="solid"/>
          </a:ln>
        </p:spPr>
        <p:txBody>
          <a:bodyPr/>
          <a:lstStyle/>
          <a:p>
            <a:endParaRPr lang="en-GB"/>
          </a:p>
        </p:txBody>
      </p:sp>
      <p:sp>
        <p:nvSpPr>
          <p:cNvPr id="49" name="Shape 47"/>
          <p:cNvSpPr/>
          <p:nvPr/>
        </p:nvSpPr>
        <p:spPr>
          <a:xfrm>
            <a:off x="8613648" y="2688336"/>
            <a:ext cx="45720" cy="45720"/>
          </a:xfrm>
          <a:prstGeom prst="ellipse">
            <a:avLst/>
          </a:prstGeom>
          <a:solidFill>
            <a:srgbClr val="6366F1">
              <a:alpha val="25000"/>
            </a:srgbClr>
          </a:solidFill>
          <a:ln w="12700">
            <a:solidFill>
              <a:srgbClr val="6366F1">
                <a:alpha val="25000"/>
              </a:srgbClr>
            </a:solidFill>
            <a:prstDash val="solid"/>
          </a:ln>
        </p:spPr>
        <p:txBody>
          <a:bodyPr/>
          <a:lstStyle/>
          <a:p>
            <a:endParaRPr lang="en-GB"/>
          </a:p>
        </p:txBody>
      </p:sp>
      <p:sp>
        <p:nvSpPr>
          <p:cNvPr id="50" name="Shape 48"/>
          <p:cNvSpPr/>
          <p:nvPr/>
        </p:nvSpPr>
        <p:spPr>
          <a:xfrm>
            <a:off x="365760" y="3493008"/>
            <a:ext cx="45720" cy="45720"/>
          </a:xfrm>
          <a:prstGeom prst="ellipse">
            <a:avLst/>
          </a:prstGeom>
          <a:solidFill>
            <a:srgbClr val="6366F1">
              <a:alpha val="25000"/>
            </a:srgbClr>
          </a:solidFill>
          <a:ln w="12700">
            <a:solidFill>
              <a:srgbClr val="6366F1">
                <a:alpha val="25000"/>
              </a:srgbClr>
            </a:solidFill>
            <a:prstDash val="solid"/>
          </a:ln>
        </p:spPr>
        <p:txBody>
          <a:bodyPr/>
          <a:lstStyle/>
          <a:p>
            <a:endParaRPr lang="en-GB"/>
          </a:p>
        </p:txBody>
      </p:sp>
      <p:sp>
        <p:nvSpPr>
          <p:cNvPr id="51" name="Shape 49"/>
          <p:cNvSpPr/>
          <p:nvPr/>
        </p:nvSpPr>
        <p:spPr>
          <a:xfrm>
            <a:off x="1115568" y="3493008"/>
            <a:ext cx="45720" cy="45720"/>
          </a:xfrm>
          <a:prstGeom prst="ellipse">
            <a:avLst/>
          </a:prstGeom>
          <a:solidFill>
            <a:srgbClr val="6366F1">
              <a:alpha val="25000"/>
            </a:srgbClr>
          </a:solidFill>
          <a:ln w="12700">
            <a:solidFill>
              <a:srgbClr val="6366F1">
                <a:alpha val="25000"/>
              </a:srgbClr>
            </a:solidFill>
            <a:prstDash val="solid"/>
          </a:ln>
        </p:spPr>
        <p:txBody>
          <a:bodyPr/>
          <a:lstStyle/>
          <a:p>
            <a:endParaRPr lang="en-GB"/>
          </a:p>
        </p:txBody>
      </p:sp>
      <p:sp>
        <p:nvSpPr>
          <p:cNvPr id="52" name="Shape 50"/>
          <p:cNvSpPr/>
          <p:nvPr/>
        </p:nvSpPr>
        <p:spPr>
          <a:xfrm>
            <a:off x="1865376" y="3493008"/>
            <a:ext cx="45720" cy="45720"/>
          </a:xfrm>
          <a:prstGeom prst="ellipse">
            <a:avLst/>
          </a:prstGeom>
          <a:solidFill>
            <a:srgbClr val="6366F1">
              <a:alpha val="25000"/>
            </a:srgbClr>
          </a:solidFill>
          <a:ln w="12700">
            <a:solidFill>
              <a:srgbClr val="6366F1">
                <a:alpha val="25000"/>
              </a:srgbClr>
            </a:solidFill>
            <a:prstDash val="solid"/>
          </a:ln>
        </p:spPr>
        <p:txBody>
          <a:bodyPr/>
          <a:lstStyle/>
          <a:p>
            <a:endParaRPr lang="en-GB"/>
          </a:p>
        </p:txBody>
      </p:sp>
      <p:sp>
        <p:nvSpPr>
          <p:cNvPr id="53" name="Shape 51"/>
          <p:cNvSpPr/>
          <p:nvPr/>
        </p:nvSpPr>
        <p:spPr>
          <a:xfrm>
            <a:off x="2615184" y="3493008"/>
            <a:ext cx="45720" cy="45720"/>
          </a:xfrm>
          <a:prstGeom prst="ellipse">
            <a:avLst/>
          </a:prstGeom>
          <a:solidFill>
            <a:srgbClr val="6366F1">
              <a:alpha val="25000"/>
            </a:srgbClr>
          </a:solidFill>
          <a:ln w="12700">
            <a:solidFill>
              <a:srgbClr val="6366F1">
                <a:alpha val="25000"/>
              </a:srgbClr>
            </a:solidFill>
            <a:prstDash val="solid"/>
          </a:ln>
        </p:spPr>
        <p:txBody>
          <a:bodyPr/>
          <a:lstStyle/>
          <a:p>
            <a:endParaRPr lang="en-GB"/>
          </a:p>
        </p:txBody>
      </p:sp>
      <p:sp>
        <p:nvSpPr>
          <p:cNvPr id="54" name="Shape 52"/>
          <p:cNvSpPr/>
          <p:nvPr/>
        </p:nvSpPr>
        <p:spPr>
          <a:xfrm>
            <a:off x="3364992" y="3493008"/>
            <a:ext cx="45720" cy="45720"/>
          </a:xfrm>
          <a:prstGeom prst="ellipse">
            <a:avLst/>
          </a:prstGeom>
          <a:solidFill>
            <a:srgbClr val="6366F1">
              <a:alpha val="25000"/>
            </a:srgbClr>
          </a:solidFill>
          <a:ln w="12700">
            <a:solidFill>
              <a:srgbClr val="6366F1">
                <a:alpha val="25000"/>
              </a:srgbClr>
            </a:solidFill>
            <a:prstDash val="solid"/>
          </a:ln>
        </p:spPr>
        <p:txBody>
          <a:bodyPr/>
          <a:lstStyle/>
          <a:p>
            <a:endParaRPr lang="en-GB"/>
          </a:p>
        </p:txBody>
      </p:sp>
      <p:sp>
        <p:nvSpPr>
          <p:cNvPr id="55" name="Shape 53"/>
          <p:cNvSpPr/>
          <p:nvPr/>
        </p:nvSpPr>
        <p:spPr>
          <a:xfrm>
            <a:off x="4114800" y="3493008"/>
            <a:ext cx="45720" cy="45720"/>
          </a:xfrm>
          <a:prstGeom prst="ellipse">
            <a:avLst/>
          </a:prstGeom>
          <a:solidFill>
            <a:srgbClr val="6366F1">
              <a:alpha val="25000"/>
            </a:srgbClr>
          </a:solidFill>
          <a:ln w="12700">
            <a:solidFill>
              <a:srgbClr val="6366F1">
                <a:alpha val="25000"/>
              </a:srgbClr>
            </a:solidFill>
            <a:prstDash val="solid"/>
          </a:ln>
        </p:spPr>
        <p:txBody>
          <a:bodyPr/>
          <a:lstStyle/>
          <a:p>
            <a:endParaRPr lang="en-GB"/>
          </a:p>
        </p:txBody>
      </p:sp>
      <p:sp>
        <p:nvSpPr>
          <p:cNvPr id="56" name="Shape 54"/>
          <p:cNvSpPr/>
          <p:nvPr/>
        </p:nvSpPr>
        <p:spPr>
          <a:xfrm>
            <a:off x="4864608" y="3493008"/>
            <a:ext cx="45720" cy="45720"/>
          </a:xfrm>
          <a:prstGeom prst="ellipse">
            <a:avLst/>
          </a:prstGeom>
          <a:solidFill>
            <a:srgbClr val="6366F1">
              <a:alpha val="25000"/>
            </a:srgbClr>
          </a:solidFill>
          <a:ln w="12700">
            <a:solidFill>
              <a:srgbClr val="6366F1">
                <a:alpha val="25000"/>
              </a:srgbClr>
            </a:solidFill>
            <a:prstDash val="solid"/>
          </a:ln>
        </p:spPr>
        <p:txBody>
          <a:bodyPr/>
          <a:lstStyle/>
          <a:p>
            <a:endParaRPr lang="en-GB"/>
          </a:p>
        </p:txBody>
      </p:sp>
      <p:sp>
        <p:nvSpPr>
          <p:cNvPr id="57" name="Shape 55"/>
          <p:cNvSpPr/>
          <p:nvPr/>
        </p:nvSpPr>
        <p:spPr>
          <a:xfrm>
            <a:off x="5614416" y="3493008"/>
            <a:ext cx="45720" cy="45720"/>
          </a:xfrm>
          <a:prstGeom prst="ellipse">
            <a:avLst/>
          </a:prstGeom>
          <a:solidFill>
            <a:srgbClr val="6366F1">
              <a:alpha val="25000"/>
            </a:srgbClr>
          </a:solidFill>
          <a:ln w="12700">
            <a:solidFill>
              <a:srgbClr val="6366F1">
                <a:alpha val="25000"/>
              </a:srgbClr>
            </a:solidFill>
            <a:prstDash val="solid"/>
          </a:ln>
        </p:spPr>
        <p:txBody>
          <a:bodyPr/>
          <a:lstStyle/>
          <a:p>
            <a:endParaRPr lang="en-GB"/>
          </a:p>
        </p:txBody>
      </p:sp>
      <p:sp>
        <p:nvSpPr>
          <p:cNvPr id="58" name="Shape 56"/>
          <p:cNvSpPr/>
          <p:nvPr/>
        </p:nvSpPr>
        <p:spPr>
          <a:xfrm>
            <a:off x="6364224" y="3493008"/>
            <a:ext cx="45720" cy="45720"/>
          </a:xfrm>
          <a:prstGeom prst="ellipse">
            <a:avLst/>
          </a:prstGeom>
          <a:solidFill>
            <a:srgbClr val="6366F1">
              <a:alpha val="25000"/>
            </a:srgbClr>
          </a:solidFill>
          <a:ln w="12700">
            <a:solidFill>
              <a:srgbClr val="6366F1">
                <a:alpha val="25000"/>
              </a:srgbClr>
            </a:solidFill>
            <a:prstDash val="solid"/>
          </a:ln>
        </p:spPr>
        <p:txBody>
          <a:bodyPr/>
          <a:lstStyle/>
          <a:p>
            <a:endParaRPr lang="en-GB"/>
          </a:p>
        </p:txBody>
      </p:sp>
      <p:sp>
        <p:nvSpPr>
          <p:cNvPr id="59" name="Shape 57"/>
          <p:cNvSpPr/>
          <p:nvPr/>
        </p:nvSpPr>
        <p:spPr>
          <a:xfrm>
            <a:off x="7114032" y="3493008"/>
            <a:ext cx="45720" cy="45720"/>
          </a:xfrm>
          <a:prstGeom prst="ellipse">
            <a:avLst/>
          </a:prstGeom>
          <a:solidFill>
            <a:srgbClr val="6366F1">
              <a:alpha val="25000"/>
            </a:srgbClr>
          </a:solidFill>
          <a:ln w="12700">
            <a:solidFill>
              <a:srgbClr val="6366F1">
                <a:alpha val="25000"/>
              </a:srgbClr>
            </a:solidFill>
            <a:prstDash val="solid"/>
          </a:ln>
        </p:spPr>
        <p:txBody>
          <a:bodyPr/>
          <a:lstStyle/>
          <a:p>
            <a:endParaRPr lang="en-GB"/>
          </a:p>
        </p:txBody>
      </p:sp>
      <p:sp>
        <p:nvSpPr>
          <p:cNvPr id="60" name="Shape 58"/>
          <p:cNvSpPr/>
          <p:nvPr/>
        </p:nvSpPr>
        <p:spPr>
          <a:xfrm>
            <a:off x="7863840" y="3493008"/>
            <a:ext cx="45720" cy="45720"/>
          </a:xfrm>
          <a:prstGeom prst="ellipse">
            <a:avLst/>
          </a:prstGeom>
          <a:solidFill>
            <a:srgbClr val="6366F1">
              <a:alpha val="25000"/>
            </a:srgbClr>
          </a:solidFill>
          <a:ln w="12700">
            <a:solidFill>
              <a:srgbClr val="6366F1">
                <a:alpha val="25000"/>
              </a:srgbClr>
            </a:solidFill>
            <a:prstDash val="solid"/>
          </a:ln>
        </p:spPr>
        <p:txBody>
          <a:bodyPr/>
          <a:lstStyle/>
          <a:p>
            <a:endParaRPr lang="en-GB"/>
          </a:p>
        </p:txBody>
      </p:sp>
      <p:sp>
        <p:nvSpPr>
          <p:cNvPr id="61" name="Shape 59"/>
          <p:cNvSpPr/>
          <p:nvPr/>
        </p:nvSpPr>
        <p:spPr>
          <a:xfrm>
            <a:off x="8613648" y="3493008"/>
            <a:ext cx="45720" cy="45720"/>
          </a:xfrm>
          <a:prstGeom prst="ellipse">
            <a:avLst/>
          </a:prstGeom>
          <a:solidFill>
            <a:srgbClr val="6366F1">
              <a:alpha val="25000"/>
            </a:srgbClr>
          </a:solidFill>
          <a:ln w="12700">
            <a:solidFill>
              <a:srgbClr val="6366F1">
                <a:alpha val="25000"/>
              </a:srgbClr>
            </a:solidFill>
            <a:prstDash val="solid"/>
          </a:ln>
        </p:spPr>
        <p:txBody>
          <a:bodyPr/>
          <a:lstStyle/>
          <a:p>
            <a:endParaRPr lang="en-GB"/>
          </a:p>
        </p:txBody>
      </p:sp>
      <p:sp>
        <p:nvSpPr>
          <p:cNvPr id="62" name="Shape 60"/>
          <p:cNvSpPr/>
          <p:nvPr/>
        </p:nvSpPr>
        <p:spPr>
          <a:xfrm>
            <a:off x="365760" y="4297680"/>
            <a:ext cx="45720" cy="45720"/>
          </a:xfrm>
          <a:prstGeom prst="ellipse">
            <a:avLst/>
          </a:prstGeom>
          <a:solidFill>
            <a:srgbClr val="6366F1">
              <a:alpha val="25000"/>
            </a:srgbClr>
          </a:solidFill>
          <a:ln w="12700">
            <a:solidFill>
              <a:srgbClr val="6366F1">
                <a:alpha val="25000"/>
              </a:srgbClr>
            </a:solidFill>
            <a:prstDash val="solid"/>
          </a:ln>
        </p:spPr>
        <p:txBody>
          <a:bodyPr/>
          <a:lstStyle/>
          <a:p>
            <a:endParaRPr lang="en-GB"/>
          </a:p>
        </p:txBody>
      </p:sp>
      <p:sp>
        <p:nvSpPr>
          <p:cNvPr id="63" name="Shape 61"/>
          <p:cNvSpPr/>
          <p:nvPr/>
        </p:nvSpPr>
        <p:spPr>
          <a:xfrm>
            <a:off x="1115568" y="4297680"/>
            <a:ext cx="45720" cy="45720"/>
          </a:xfrm>
          <a:prstGeom prst="ellipse">
            <a:avLst/>
          </a:prstGeom>
          <a:solidFill>
            <a:srgbClr val="6366F1">
              <a:alpha val="25000"/>
            </a:srgbClr>
          </a:solidFill>
          <a:ln w="12700">
            <a:solidFill>
              <a:srgbClr val="6366F1">
                <a:alpha val="25000"/>
              </a:srgbClr>
            </a:solidFill>
            <a:prstDash val="solid"/>
          </a:ln>
        </p:spPr>
        <p:txBody>
          <a:bodyPr/>
          <a:lstStyle/>
          <a:p>
            <a:endParaRPr lang="en-GB"/>
          </a:p>
        </p:txBody>
      </p:sp>
      <p:sp>
        <p:nvSpPr>
          <p:cNvPr id="64" name="Shape 62"/>
          <p:cNvSpPr/>
          <p:nvPr/>
        </p:nvSpPr>
        <p:spPr>
          <a:xfrm>
            <a:off x="1865376" y="4297680"/>
            <a:ext cx="45720" cy="45720"/>
          </a:xfrm>
          <a:prstGeom prst="ellipse">
            <a:avLst/>
          </a:prstGeom>
          <a:solidFill>
            <a:srgbClr val="6366F1">
              <a:alpha val="25000"/>
            </a:srgbClr>
          </a:solidFill>
          <a:ln w="12700">
            <a:solidFill>
              <a:srgbClr val="6366F1">
                <a:alpha val="25000"/>
              </a:srgbClr>
            </a:solidFill>
            <a:prstDash val="solid"/>
          </a:ln>
        </p:spPr>
        <p:txBody>
          <a:bodyPr/>
          <a:lstStyle/>
          <a:p>
            <a:endParaRPr lang="en-GB"/>
          </a:p>
        </p:txBody>
      </p:sp>
      <p:sp>
        <p:nvSpPr>
          <p:cNvPr id="65" name="Shape 63"/>
          <p:cNvSpPr/>
          <p:nvPr/>
        </p:nvSpPr>
        <p:spPr>
          <a:xfrm>
            <a:off x="2615184" y="4297680"/>
            <a:ext cx="45720" cy="45720"/>
          </a:xfrm>
          <a:prstGeom prst="ellipse">
            <a:avLst/>
          </a:prstGeom>
          <a:solidFill>
            <a:srgbClr val="6366F1">
              <a:alpha val="25000"/>
            </a:srgbClr>
          </a:solidFill>
          <a:ln w="12700">
            <a:solidFill>
              <a:srgbClr val="6366F1">
                <a:alpha val="25000"/>
              </a:srgbClr>
            </a:solidFill>
            <a:prstDash val="solid"/>
          </a:ln>
        </p:spPr>
        <p:txBody>
          <a:bodyPr/>
          <a:lstStyle/>
          <a:p>
            <a:endParaRPr lang="en-GB"/>
          </a:p>
        </p:txBody>
      </p:sp>
      <p:sp>
        <p:nvSpPr>
          <p:cNvPr id="66" name="Shape 64"/>
          <p:cNvSpPr/>
          <p:nvPr/>
        </p:nvSpPr>
        <p:spPr>
          <a:xfrm>
            <a:off x="3364992" y="4297680"/>
            <a:ext cx="45720" cy="45720"/>
          </a:xfrm>
          <a:prstGeom prst="ellipse">
            <a:avLst/>
          </a:prstGeom>
          <a:solidFill>
            <a:srgbClr val="6366F1">
              <a:alpha val="25000"/>
            </a:srgbClr>
          </a:solidFill>
          <a:ln w="12700">
            <a:solidFill>
              <a:srgbClr val="6366F1">
                <a:alpha val="25000"/>
              </a:srgbClr>
            </a:solidFill>
            <a:prstDash val="solid"/>
          </a:ln>
        </p:spPr>
        <p:txBody>
          <a:bodyPr/>
          <a:lstStyle/>
          <a:p>
            <a:endParaRPr lang="en-GB"/>
          </a:p>
        </p:txBody>
      </p:sp>
      <p:sp>
        <p:nvSpPr>
          <p:cNvPr id="67" name="Shape 65"/>
          <p:cNvSpPr/>
          <p:nvPr/>
        </p:nvSpPr>
        <p:spPr>
          <a:xfrm>
            <a:off x="4114800" y="4297680"/>
            <a:ext cx="45720" cy="45720"/>
          </a:xfrm>
          <a:prstGeom prst="ellipse">
            <a:avLst/>
          </a:prstGeom>
          <a:solidFill>
            <a:srgbClr val="6366F1">
              <a:alpha val="25000"/>
            </a:srgbClr>
          </a:solidFill>
          <a:ln w="12700">
            <a:solidFill>
              <a:srgbClr val="6366F1">
                <a:alpha val="25000"/>
              </a:srgbClr>
            </a:solidFill>
            <a:prstDash val="solid"/>
          </a:ln>
        </p:spPr>
        <p:txBody>
          <a:bodyPr/>
          <a:lstStyle/>
          <a:p>
            <a:endParaRPr lang="en-GB"/>
          </a:p>
        </p:txBody>
      </p:sp>
      <p:sp>
        <p:nvSpPr>
          <p:cNvPr id="68" name="Shape 66"/>
          <p:cNvSpPr/>
          <p:nvPr/>
        </p:nvSpPr>
        <p:spPr>
          <a:xfrm>
            <a:off x="4864608" y="4297680"/>
            <a:ext cx="45720" cy="45720"/>
          </a:xfrm>
          <a:prstGeom prst="ellipse">
            <a:avLst/>
          </a:prstGeom>
          <a:solidFill>
            <a:srgbClr val="6366F1">
              <a:alpha val="25000"/>
            </a:srgbClr>
          </a:solidFill>
          <a:ln w="12700">
            <a:solidFill>
              <a:srgbClr val="6366F1">
                <a:alpha val="25000"/>
              </a:srgbClr>
            </a:solidFill>
            <a:prstDash val="solid"/>
          </a:ln>
        </p:spPr>
        <p:txBody>
          <a:bodyPr/>
          <a:lstStyle/>
          <a:p>
            <a:endParaRPr lang="en-GB"/>
          </a:p>
        </p:txBody>
      </p:sp>
      <p:sp>
        <p:nvSpPr>
          <p:cNvPr id="69" name="Shape 67"/>
          <p:cNvSpPr/>
          <p:nvPr/>
        </p:nvSpPr>
        <p:spPr>
          <a:xfrm>
            <a:off x="5614416" y="4297680"/>
            <a:ext cx="45720" cy="45720"/>
          </a:xfrm>
          <a:prstGeom prst="ellipse">
            <a:avLst/>
          </a:prstGeom>
          <a:solidFill>
            <a:srgbClr val="6366F1">
              <a:alpha val="25000"/>
            </a:srgbClr>
          </a:solidFill>
          <a:ln w="12700">
            <a:solidFill>
              <a:srgbClr val="6366F1">
                <a:alpha val="25000"/>
              </a:srgbClr>
            </a:solidFill>
            <a:prstDash val="solid"/>
          </a:ln>
        </p:spPr>
        <p:txBody>
          <a:bodyPr/>
          <a:lstStyle/>
          <a:p>
            <a:endParaRPr lang="en-GB"/>
          </a:p>
        </p:txBody>
      </p:sp>
      <p:sp>
        <p:nvSpPr>
          <p:cNvPr id="70" name="Shape 68"/>
          <p:cNvSpPr/>
          <p:nvPr/>
        </p:nvSpPr>
        <p:spPr>
          <a:xfrm>
            <a:off x="6364224" y="4297680"/>
            <a:ext cx="45720" cy="45720"/>
          </a:xfrm>
          <a:prstGeom prst="ellipse">
            <a:avLst/>
          </a:prstGeom>
          <a:solidFill>
            <a:srgbClr val="6366F1">
              <a:alpha val="25000"/>
            </a:srgbClr>
          </a:solidFill>
          <a:ln w="12700">
            <a:solidFill>
              <a:srgbClr val="6366F1">
                <a:alpha val="25000"/>
              </a:srgbClr>
            </a:solidFill>
            <a:prstDash val="solid"/>
          </a:ln>
        </p:spPr>
        <p:txBody>
          <a:bodyPr/>
          <a:lstStyle/>
          <a:p>
            <a:endParaRPr lang="en-GB"/>
          </a:p>
        </p:txBody>
      </p:sp>
      <p:sp>
        <p:nvSpPr>
          <p:cNvPr id="71" name="Shape 69"/>
          <p:cNvSpPr/>
          <p:nvPr/>
        </p:nvSpPr>
        <p:spPr>
          <a:xfrm>
            <a:off x="7114032" y="4297680"/>
            <a:ext cx="45720" cy="45720"/>
          </a:xfrm>
          <a:prstGeom prst="ellipse">
            <a:avLst/>
          </a:prstGeom>
          <a:solidFill>
            <a:srgbClr val="6366F1">
              <a:alpha val="25000"/>
            </a:srgbClr>
          </a:solidFill>
          <a:ln w="12700">
            <a:solidFill>
              <a:srgbClr val="6366F1">
                <a:alpha val="25000"/>
              </a:srgbClr>
            </a:solidFill>
            <a:prstDash val="solid"/>
          </a:ln>
        </p:spPr>
        <p:txBody>
          <a:bodyPr/>
          <a:lstStyle/>
          <a:p>
            <a:endParaRPr lang="en-GB"/>
          </a:p>
        </p:txBody>
      </p:sp>
      <p:sp>
        <p:nvSpPr>
          <p:cNvPr id="72" name="Shape 70"/>
          <p:cNvSpPr/>
          <p:nvPr/>
        </p:nvSpPr>
        <p:spPr>
          <a:xfrm>
            <a:off x="7863840" y="4297680"/>
            <a:ext cx="45720" cy="45720"/>
          </a:xfrm>
          <a:prstGeom prst="ellipse">
            <a:avLst/>
          </a:prstGeom>
          <a:solidFill>
            <a:srgbClr val="6366F1">
              <a:alpha val="25000"/>
            </a:srgbClr>
          </a:solidFill>
          <a:ln w="12700">
            <a:solidFill>
              <a:srgbClr val="6366F1">
                <a:alpha val="25000"/>
              </a:srgbClr>
            </a:solidFill>
            <a:prstDash val="solid"/>
          </a:ln>
        </p:spPr>
        <p:txBody>
          <a:bodyPr/>
          <a:lstStyle/>
          <a:p>
            <a:endParaRPr lang="en-GB"/>
          </a:p>
        </p:txBody>
      </p:sp>
      <p:sp>
        <p:nvSpPr>
          <p:cNvPr id="73" name="Shape 71"/>
          <p:cNvSpPr/>
          <p:nvPr/>
        </p:nvSpPr>
        <p:spPr>
          <a:xfrm>
            <a:off x="8613648" y="4297680"/>
            <a:ext cx="45720" cy="45720"/>
          </a:xfrm>
          <a:prstGeom prst="ellipse">
            <a:avLst/>
          </a:prstGeom>
          <a:solidFill>
            <a:srgbClr val="6366F1">
              <a:alpha val="25000"/>
            </a:srgbClr>
          </a:solidFill>
          <a:ln w="12700">
            <a:solidFill>
              <a:srgbClr val="6366F1">
                <a:alpha val="25000"/>
              </a:srgbClr>
            </a:solidFill>
            <a:prstDash val="solid"/>
          </a:ln>
        </p:spPr>
        <p:txBody>
          <a:bodyPr/>
          <a:lstStyle/>
          <a:p>
            <a:endParaRPr lang="en-GB"/>
          </a:p>
        </p:txBody>
      </p:sp>
      <p:sp>
        <p:nvSpPr>
          <p:cNvPr id="74" name="Text 72"/>
          <p:cNvSpPr/>
          <p:nvPr/>
        </p:nvSpPr>
        <p:spPr>
          <a:xfrm>
            <a:off x="457200" y="1280160"/>
            <a:ext cx="8229600" cy="1280160"/>
          </a:xfrm>
          <a:prstGeom prst="rect">
            <a:avLst/>
          </a:prstGeom>
          <a:noFill/>
          <a:ln/>
        </p:spPr>
        <p:txBody>
          <a:bodyPr wrap="square" lIns="0" tIns="0" rIns="0" bIns="0" rtlCol="0" anchor="ctr"/>
          <a:lstStyle/>
          <a:p>
            <a:pPr marL="0" indent="0" algn="ctr">
              <a:buNone/>
            </a:pPr>
            <a:r>
              <a:rPr lang="en-US" sz="9000" b="1" dirty="0">
                <a:solidFill>
                  <a:srgbClr val="FFFFFF"/>
                </a:solidFill>
                <a:latin typeface="Arial Black" pitchFamily="34" charset="0"/>
                <a:ea typeface="Arial Black" pitchFamily="34" charset="-122"/>
                <a:cs typeface="Arial Black" pitchFamily="34" charset="-120"/>
              </a:rPr>
              <a:t>Demo</a:t>
            </a:r>
            <a:endParaRPr lang="en-US" sz="9000" dirty="0"/>
          </a:p>
        </p:txBody>
      </p:sp>
      <p:sp>
        <p:nvSpPr>
          <p:cNvPr id="75" name="Text 73"/>
          <p:cNvSpPr/>
          <p:nvPr/>
        </p:nvSpPr>
        <p:spPr>
          <a:xfrm>
            <a:off x="457200" y="2743200"/>
            <a:ext cx="8229600" cy="457200"/>
          </a:xfrm>
          <a:prstGeom prst="rect">
            <a:avLst/>
          </a:prstGeom>
          <a:noFill/>
          <a:ln/>
        </p:spPr>
        <p:txBody>
          <a:bodyPr wrap="square" lIns="0" tIns="0" rIns="0" bIns="0" rtlCol="0" anchor="ctr"/>
          <a:lstStyle/>
          <a:p>
            <a:pPr marL="0" indent="0" algn="ctr">
              <a:buNone/>
            </a:pPr>
            <a:r>
              <a:rPr lang="en-US" sz="1800" i="1" dirty="0">
                <a:solidFill>
                  <a:srgbClr val="06B6D4"/>
                </a:solidFill>
                <a:latin typeface="Calibri" pitchFamily="34" charset="0"/>
                <a:ea typeface="Calibri" pitchFamily="34" charset="-122"/>
                <a:cs typeface="Calibri" pitchFamily="34" charset="-120"/>
              </a:rPr>
              <a:t>Live walkthrough of the S.I.R.A. dashboard</a:t>
            </a:r>
            <a:endParaRPr lang="en-US" sz="1800" dirty="0"/>
          </a:p>
        </p:txBody>
      </p:sp>
      <p:sp>
        <p:nvSpPr>
          <p:cNvPr id="76" name="Shape 74"/>
          <p:cNvSpPr/>
          <p:nvPr/>
        </p:nvSpPr>
        <p:spPr>
          <a:xfrm>
            <a:off x="1188720" y="3383280"/>
            <a:ext cx="2148840" cy="457200"/>
          </a:xfrm>
          <a:prstGeom prst="rect">
            <a:avLst/>
          </a:prstGeom>
          <a:solidFill>
            <a:srgbClr val="1E293B"/>
          </a:solidFill>
          <a:ln w="12700">
            <a:solidFill>
              <a:srgbClr val="6366F1"/>
            </a:solidFill>
            <a:prstDash val="solid"/>
          </a:ln>
        </p:spPr>
        <p:txBody>
          <a:bodyPr/>
          <a:lstStyle/>
          <a:p>
            <a:endParaRPr lang="en-GB"/>
          </a:p>
        </p:txBody>
      </p:sp>
      <p:sp>
        <p:nvSpPr>
          <p:cNvPr id="77" name="Text 75"/>
          <p:cNvSpPr/>
          <p:nvPr/>
        </p:nvSpPr>
        <p:spPr>
          <a:xfrm>
            <a:off x="1188720" y="3383280"/>
            <a:ext cx="2148840" cy="457200"/>
          </a:xfrm>
          <a:prstGeom prst="rect">
            <a:avLst/>
          </a:prstGeom>
          <a:noFill/>
          <a:ln/>
        </p:spPr>
        <p:txBody>
          <a:bodyPr wrap="square" rtlCol="0" anchor="ctr"/>
          <a:lstStyle/>
          <a:p>
            <a:pPr marL="0" indent="0" algn="ctr">
              <a:buNone/>
            </a:pPr>
            <a:r>
              <a:rPr lang="en-US" sz="1100" b="1" dirty="0">
                <a:solidFill>
                  <a:srgbClr val="FFFFFF"/>
                </a:solidFill>
                <a:latin typeface="Calibri" pitchFamily="34" charset="0"/>
                <a:ea typeface="Calibri" pitchFamily="34" charset="-122"/>
                <a:cs typeface="Calibri" pitchFamily="34" charset="-120"/>
              </a:rPr>
              <a:t>Incident Feed + AI Insights</a:t>
            </a:r>
            <a:endParaRPr lang="en-US" sz="1100" dirty="0"/>
          </a:p>
        </p:txBody>
      </p:sp>
      <p:sp>
        <p:nvSpPr>
          <p:cNvPr id="78" name="Shape 76"/>
          <p:cNvSpPr/>
          <p:nvPr/>
        </p:nvSpPr>
        <p:spPr>
          <a:xfrm>
            <a:off x="3657600" y="3383280"/>
            <a:ext cx="2148840" cy="457200"/>
          </a:xfrm>
          <a:prstGeom prst="rect">
            <a:avLst/>
          </a:prstGeom>
          <a:solidFill>
            <a:srgbClr val="1E293B"/>
          </a:solidFill>
          <a:ln w="12700">
            <a:solidFill>
              <a:srgbClr val="6366F1"/>
            </a:solidFill>
            <a:prstDash val="solid"/>
          </a:ln>
        </p:spPr>
        <p:txBody>
          <a:bodyPr/>
          <a:lstStyle/>
          <a:p>
            <a:endParaRPr lang="en-GB"/>
          </a:p>
        </p:txBody>
      </p:sp>
      <p:sp>
        <p:nvSpPr>
          <p:cNvPr id="79" name="Text 77"/>
          <p:cNvSpPr/>
          <p:nvPr/>
        </p:nvSpPr>
        <p:spPr>
          <a:xfrm>
            <a:off x="3657600" y="3383280"/>
            <a:ext cx="2148840" cy="457200"/>
          </a:xfrm>
          <a:prstGeom prst="rect">
            <a:avLst/>
          </a:prstGeom>
          <a:noFill/>
          <a:ln/>
        </p:spPr>
        <p:txBody>
          <a:bodyPr wrap="square" rtlCol="0" anchor="ctr"/>
          <a:lstStyle/>
          <a:p>
            <a:pPr marL="0" indent="0" algn="ctr">
              <a:buNone/>
            </a:pPr>
            <a:r>
              <a:rPr lang="en-US" sz="1100" b="1" dirty="0">
                <a:solidFill>
                  <a:srgbClr val="FFFFFF"/>
                </a:solidFill>
                <a:latin typeface="Calibri" pitchFamily="34" charset="0"/>
                <a:ea typeface="Calibri" pitchFamily="34" charset="-122"/>
                <a:cs typeface="Calibri" pitchFamily="34" charset="-120"/>
              </a:rPr>
              <a:t>Analytics Dashboard</a:t>
            </a:r>
            <a:endParaRPr lang="en-US" sz="1100" dirty="0"/>
          </a:p>
        </p:txBody>
      </p:sp>
      <p:sp>
        <p:nvSpPr>
          <p:cNvPr id="80" name="Shape 78"/>
          <p:cNvSpPr/>
          <p:nvPr/>
        </p:nvSpPr>
        <p:spPr>
          <a:xfrm>
            <a:off x="6126480" y="3383280"/>
            <a:ext cx="2148840" cy="457200"/>
          </a:xfrm>
          <a:prstGeom prst="rect">
            <a:avLst/>
          </a:prstGeom>
          <a:solidFill>
            <a:srgbClr val="1E293B"/>
          </a:solidFill>
          <a:ln w="12700">
            <a:solidFill>
              <a:srgbClr val="6366F1"/>
            </a:solidFill>
            <a:prstDash val="solid"/>
          </a:ln>
        </p:spPr>
        <p:txBody>
          <a:bodyPr/>
          <a:lstStyle/>
          <a:p>
            <a:endParaRPr lang="en-GB"/>
          </a:p>
        </p:txBody>
      </p:sp>
      <p:sp>
        <p:nvSpPr>
          <p:cNvPr id="81" name="Text 79"/>
          <p:cNvSpPr/>
          <p:nvPr/>
        </p:nvSpPr>
        <p:spPr>
          <a:xfrm>
            <a:off x="6126480" y="3383280"/>
            <a:ext cx="2148840" cy="457200"/>
          </a:xfrm>
          <a:prstGeom prst="rect">
            <a:avLst/>
          </a:prstGeom>
          <a:noFill/>
          <a:ln/>
        </p:spPr>
        <p:txBody>
          <a:bodyPr wrap="square" rtlCol="0" anchor="ctr"/>
          <a:lstStyle/>
          <a:p>
            <a:pPr marL="0" indent="0" algn="ctr">
              <a:buNone/>
            </a:pPr>
            <a:r>
              <a:rPr lang="en-US" sz="1100" b="1" dirty="0">
                <a:solidFill>
                  <a:srgbClr val="FFFFFF"/>
                </a:solidFill>
                <a:latin typeface="Calibri" pitchFamily="34" charset="0"/>
                <a:ea typeface="Calibri" pitchFamily="34" charset="-122"/>
                <a:cs typeface="Calibri" pitchFamily="34" charset="-120"/>
              </a:rPr>
              <a:t>Settings &amp; Skill Levels</a:t>
            </a:r>
            <a:endParaRPr lang="en-US" sz="1100" dirty="0"/>
          </a:p>
        </p:txBody>
      </p:sp>
      <p:sp>
        <p:nvSpPr>
          <p:cNvPr id="82" name="Text 80"/>
          <p:cNvSpPr/>
          <p:nvPr/>
        </p:nvSpPr>
        <p:spPr>
          <a:xfrm>
            <a:off x="8412480" y="4754880"/>
            <a:ext cx="548640" cy="274320"/>
          </a:xfrm>
          <a:prstGeom prst="rect">
            <a:avLst/>
          </a:prstGeom>
          <a:noFill/>
          <a:ln/>
        </p:spPr>
        <p:txBody>
          <a:bodyPr wrap="square" rtlCol="0" anchor="ctr"/>
          <a:lstStyle/>
          <a:p>
            <a:pPr marL="0" indent="0" algn="r">
              <a:buNone/>
            </a:pPr>
            <a:r>
              <a:rPr lang="en-US" sz="1000" dirty="0">
                <a:solidFill>
                  <a:srgbClr val="334155"/>
                </a:solidFill>
                <a:latin typeface="Calibri" pitchFamily="34" charset="0"/>
                <a:ea typeface="Calibri" pitchFamily="34" charset="-122"/>
                <a:cs typeface="Calibri" pitchFamily="34" charset="-120"/>
              </a:rPr>
              <a:t>08</a:t>
            </a:r>
            <a:endParaRPr lang="en-US" sz="1000" dirty="0"/>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0E2841"/>
      </a:dk2>
      <a:lt2>
        <a:srgbClr val="E8E8E8"/>
      </a:lt2>
      <a:accent1>
        <a:srgbClr val="156082"/>
      </a:accent1>
      <a:accent2>
        <a:srgbClr val="E97132"/>
      </a:accent2>
      <a:accent3>
        <a:srgbClr val="196B24"/>
      </a:accent3>
      <a:accent4>
        <a:srgbClr val="0F9ED5"/>
      </a:accent4>
      <a:accent5>
        <a:srgbClr val="A02B93"/>
      </a:accent5>
      <a:accent6>
        <a:srgbClr val="4EA72E"/>
      </a:accent6>
      <a:hlink>
        <a:srgbClr val="467886"/>
      </a:hlink>
      <a:folHlink>
        <a:srgbClr val="96607D"/>
      </a:folHlink>
    </a:clrScheme>
    <a:fontScheme name="Office">
      <a:majorFont>
        <a:latin typeface="Aptos Display" panose="0211000402020202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Aptos" panose="0211000402020202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12700" cap="flat" cmpd="sng" algn="ctr">
          <a:solidFill>
            <a:schemeClr val="phClr"/>
          </a:solidFill>
          <a:prstDash val="solid"/>
          <a:miter lim="800000"/>
        </a:ln>
        <a:ln w="19050" cap="flat" cmpd="sng" algn="ctr">
          <a:solidFill>
            <a:schemeClr val="phClr"/>
          </a:solidFill>
          <a:prstDash val="solid"/>
          <a:miter lim="800000"/>
        </a:ln>
        <a:ln w="2540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lnDef>
      <a:spPr/>
      <a:bodyPr/>
      <a:lstStyle/>
      <a:style>
        <a:lnRef idx="2">
          <a:schemeClr val="accent1"/>
        </a:lnRef>
        <a:fillRef idx="0">
          <a:schemeClr val="accent1"/>
        </a:fillRef>
        <a:effectRef idx="1">
          <a:schemeClr val="accent1"/>
        </a:effectRef>
        <a:fontRef idx="minor">
          <a:schemeClr val="tx1"/>
        </a:fontRef>
      </a:style>
    </a:lnDef>
  </a:objectDefaults>
  <a:extraClrSchemeLst/>
  <a:extLst>
    <a:ext uri="{05A4C25C-085E-4340-85A3-A5531E510DB2}">
      <thm15:themeFamily xmlns:thm15="http://schemas.microsoft.com/office/thememl/2012/main" name="Office Theme" id="{2E142A2C-CD16-42D6-873A-C26D2A0506FA}" vid="{1BDDFF52-6CD6-40A5-AB3C-68EB2F1E4D0A}"/>
    </a:ext>
  </a:extLst>
</a:theme>
</file>

<file path=docProps/app.xml><?xml version="1.0" encoding="utf-8"?>
<Properties xmlns="http://schemas.openxmlformats.org/officeDocument/2006/extended-properties" xmlns:vt="http://schemas.openxmlformats.org/officeDocument/2006/docPropsVTypes">
  <TotalTime>68</TotalTime>
  <Words>2922</Words>
  <Application>Microsoft Office PowerPoint</Application>
  <PresentationFormat>On-screen Show (16:9)</PresentationFormat>
  <Paragraphs>157</Paragraphs>
  <Slides>8</Slides>
  <Notes>8</Notes>
  <HiddenSlides>0</HiddenSlides>
  <MMClips>0</MMClips>
  <ScaleCrop>false</ScaleCrop>
  <HeadingPairs>
    <vt:vector size="6" baseType="variant">
      <vt:variant>
        <vt:lpstr>Fonts Used</vt:lpstr>
      </vt:variant>
      <vt:variant>
        <vt:i4>3</vt:i4>
      </vt:variant>
      <vt:variant>
        <vt:lpstr>Theme</vt:lpstr>
      </vt:variant>
      <vt:variant>
        <vt:i4>1</vt:i4>
      </vt:variant>
      <vt:variant>
        <vt:lpstr>Slide Titles</vt:lpstr>
      </vt:variant>
      <vt:variant>
        <vt:i4>8</vt:i4>
      </vt:variant>
    </vt:vector>
  </HeadingPairs>
  <TitlesOfParts>
    <vt:vector size="12" baseType="lpstr">
      <vt:lpstr>Arial</vt:lpstr>
      <vt:lpstr>Arial Black</vt:lpstr>
      <vt:lpstr>Calibri</vt:lpstr>
      <vt:lpstr>Office Theme</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vector>
  </TitlesOfParts>
  <Company>PptxGenJS</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S.I.R.A. – Security Incident Response Assistant</dc:title>
  <dc:subject>PptxGenJS Presentation</dc:subject>
  <dc:creator>PptxGenJS</dc:creator>
  <cp:lastModifiedBy>matthew fish</cp:lastModifiedBy>
  <cp:revision>2</cp:revision>
  <dcterms:created xsi:type="dcterms:W3CDTF">2026-05-12T11:45:31Z</dcterms:created>
  <dcterms:modified xsi:type="dcterms:W3CDTF">2026-05-12T13:06:51Z</dcterms:modified>
</cp:coreProperties>
</file>